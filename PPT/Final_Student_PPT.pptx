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handoutMasterIdLst>
    <p:handoutMasterId r:id="rId67"/>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0"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Department of information Technology</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4CF1D-66E7-4B47-81B8-348769E3D01D}" type="datetimeFigureOut">
              <a:rPr lang="en-IN" smtClean="0"/>
              <a:t>21-10-2026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970A76-D8CC-442C-BA9C-C9D7B30CE7FF}" type="slidenum">
              <a:rPr lang="en-IN" smtClean="0"/>
              <a:t>‹#›</a:t>
            </a:fld>
            <a:endParaRPr lang="en-IN"/>
          </a:p>
        </p:txBody>
      </p:sp>
    </p:spTree>
    <p:extLst>
      <p:ext uri="{BB962C8B-B14F-4D97-AF65-F5344CB8AC3E}">
        <p14:creationId xmlns:p14="http://schemas.microsoft.com/office/powerpoint/2010/main" val="2532263283"/>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Department of information Technology</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6A903A-DCEF-4232-B64F-56CC081A85E7}" type="datetimeFigureOut">
              <a:rPr lang="en-IN" smtClean="0"/>
              <a:t>21-10-2026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2A9EA9-E532-478A-9241-4B508CD9CE32}" type="slidenum">
              <a:rPr lang="en-IN" smtClean="0"/>
              <a:t>‹#›</a:t>
            </a:fld>
            <a:endParaRPr lang="en-IN"/>
          </a:p>
        </p:txBody>
      </p:sp>
    </p:spTree>
    <p:extLst>
      <p:ext uri="{BB962C8B-B14F-4D97-AF65-F5344CB8AC3E}">
        <p14:creationId xmlns:p14="http://schemas.microsoft.com/office/powerpoint/2010/main" val="456906032"/>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slide. Replace the bracketed fields (batch number, register numbers, guide name and designation) with the actual details; the source document leaves these as &lt;Name&gt;, &lt;Reg No&gt; and &lt;Project Supervisor&gt; placeholders.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Department of Information Technology</a:t>
            </a:r>
          </a:p>
          <a:p>
            <a:r>
              <a:t>Sagi Rama Krishnam Raju Engineering College (A)</a:t>
            </a:r>
          </a:p>
          <a:p>
            <a:r>
              <a:t>SRKR Marg, Bhimavaram, Pin: 534204, West Godavari, Andhra Pradesh, India</a:t>
            </a:r>
          </a:p>
          <a:p>
            <a:r>
              <a:t>Affiliated to</a:t>
            </a:r>
          </a:p>
          <a:p>
            <a:r>
              <a:t>JAWAHARLAL NEHRU TECHNOLOGICAL UNIVERSITY, KAKINADA</a:t>
            </a:r>
          </a:p>
          <a:p>
            <a:r>
              <a:t>&lt;Academic Year&gt;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INTRODUCTION</a:t>
            </a:r>
          </a:p>
          <a:p>
            <a:r>
              <a:t>1.1 PROBLEM STATEMENT</a:t>
            </a:r>
          </a:p>
          <a:p>
            <a:r>
              <a:t>Handwritten Telugu character recognition is a challenging task in Optical Character Recognition (OCR) due to the complex structure of Telugu characters, variations in handwriting styles, and visual similarities between different character forms. Telugu script contains multiple character categories, including Achulu, Hallulu, Guninthamulu, and Othulu, which involve different combinations of curves, loops, strokes, and additional symbols. These characteristics make accurate automated recognition difficult, particularly when handwritten characters contain irregular shapes, inconsistent stroke thickness, or image distortions. Conventional image classification techniques primarily depend on visual appearance features to identify handwritten characters. However, appearance-based models may struggle to distinguish characters with similar shapes but different stroke structures. Variations in image size, alignment, background noise, contrast, and writing patterns can further reduce classification accuracy. Additionally, imbalanced character datasets may cause models to perform better on frequently occurring classes while producing less reliable predictions for underrepresented characters. Therefore, an intelligent deep learning framework is required to integrate visual appearance information with meaningful structural stroke characteristics. The proposed framework introduces Stroke-Gated Feature Fusion MobileNetV3 (SGF-MobileNetV3), combining MobileNetV3-Small appearance features with skeleton, stroke-width, and edge-based representations through an adaptive gating mechanism. The framework incorporates preprocessing, data augmentation, class balancing, and feature fusion to improve handwritten Telugu character classification. Furthermore, Telugu Unicode conversion and dictionary-based correction support the generation of readable Telugu text from recognized character sequences.</a:t>
            </a:r>
          </a:p>
          <a:p>
            <a:r>
              <a:t>1.2 MOTIVATION</a:t>
            </a:r>
          </a:p>
          <a:p>
            <a:r>
              <a:t>Handwritten Telugu character recognition is an important application of artificial intelligence and computer vision for digitizing handwritten Telugu content. Telugu is a complex Indian script containing characters with curved structures, connected strokes, and visually similar patterns. Variations in individual handwriting styles, character shapes, stroke thickness, and image quality make automated recognition a challenging task. Deep learning models such as MobileNetV3-Small can extract meaningful visual features from handwritten character images. However, relying exclusively on appearance-based representations may not sufficiently capture the structural differences between similar Telugu characters. Incorporating stroke-related information provides an additional opportunity to improve classification by analyzing skeleton patterns, stroke width, and edge characteristics. The project is further motivated by the need to address class imbalance, handwriting variability, image noise, and differences in character positioning. Image preprocessing, data augmentation, and class-balanced training can improve recognition consistency across different Telugu character categories. The proposed SGF-MobileNetV3 integrates visual feature extraction, structural stroke analysis, and adaptive gated feature fusion to improve character recognition accuracy. Additionally, Unicode mapping and dictionary-based correction provide a foundation for converting recognized handwritten character sequences into meaningful Telugu text.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 SCOPE OF THE PROJECT</a:t>
            </a:r>
          </a:p>
          <a:p>
            <a:r>
              <a:t>This project focuses on developing a Telugu Handwritten Character Recognition Framework using Stroke-Gated Feature Fusion MobileNetV3 (SGF-MobileNetV3) for recognizing handwritten characters from four major Telugu categories: Achulu, Hallulu, Guninthamulu, and Othulu. The dataset contains 292,752 original image entries across 121 character folders, which are processed through Unicode-based class merging and dataset balancing to obtain 73,463 selected images representing 76 character classes. The selected dataset is divided into 51,423 training, 11,020 validation, and 11,020 testing images. Image preprocessing includes grayscale conversion, ink-region cropping, resizing to 96 × 96 pixels, noise removal, and contrast enhancement using CLAHE. Data augmentation and class-balanced sampling are incorporated to improve generalization and reduce the influence of dataset imbalance.</a:t>
            </a:r>
          </a:p>
          <a:p>
            <a:r>
              <a:t>Two deep learning models are implemented: a reduced-capacity MobileNetV3-Small baseline and the proposed SGF-MobileNetV3. The proposed architecture combines appearance-based feature extraction with a dedicated stroke branch that extracts skeleton structures, stroke-width information, and edge magnitude. An adaptive gated feature fusion mechanism integrates both representations to generate discriminative features for character classification. The framework also incorporates Telugu Unicode mapping to convert predicted character classes into their corresponding Telugu symbols. Dictionary-based correction using akshara-level edit distance supports recognition from ordered character images, although comprehensive word-level recognition remains outside the validated scope of the current experiments. Model performance is evaluated using accuracy, precision, recall, F1-score, top-3 accuracy, confusion matrices, class-wise evaluation, and inference latency. Experimental results demonstrate that SGF-MobileNetV3 achieves 95.90% classification accuracy, 95.34% macro F1-score, and 99.48% top-3 accuracy, outperforming the MobileNetV3-Small baseline with 90.74% accuracy. Under simulated image-upload variations, the proposed model achieves 90.63% recognition accuracy.</a:t>
            </a:r>
          </a:p>
          <a:p>
            <a:r>
              <a:t>The project emphasizes stroke-aware feature learning, adaptive feature fusion, balanced training, and Telugu Unicode conversion to support accurate handwritten character recognition. Further evaluation using independent handwriting samples and complete word-level datasets is required to establish broader recognition reliability.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 PROJECT INTRODUCTION</a:t>
            </a:r>
          </a:p>
          <a:p>
            <a:r>
              <a:t>Handwritten Telugu character recognition is an important research area in artificial intelligence, computer vision, and Optical Character Recognition (OCR). Telugu is a widely used Indian language with a complex writing system containing vowels, consonants, vowel-modified consonants, and conjunct forms. These character categories exhibit significant variations in curvature, stroke patterns, structural arrangements, and visual appearance. Differences in handwriting styles, character alignment, image quality, and stroke thickness make automated recognition challenging.</a:t>
            </a:r>
          </a:p>
          <a:p>
            <a:r>
              <a:t>This project proposes a Telugu Handwritten Character Recognition Framework using Stroke-Gated Feature Fusion MobileNetV3 (SGF-MobileNetV3) to improve the classification of handwritten Telugu characters. The framework processes four character categories: Achulu, Hallulu, Guninthamulu, and Othulu. A reduced-capacity MobileNetV3-Small is implemented as the baseline model to extract visual appearance features and establish reference classification performance. The proposed SGF-MobileNetV3 extends conventional visual feature extraction by incorporating a dedicated stroke-processing branch. The MobileNetV3-Small backbone extracts appearance-based representations from preprocessed character images, while the stroke branch processes skeleton information, stroke-width maps, and edge magnitude features. These complementary feature representations are integrated through an adaptive gated feature fusion mechanism, which dynamically determines the contribution of appearance and structural information during character classification.</a:t>
            </a:r>
          </a:p>
          <a:p>
            <a:r>
              <a:t>The dataset consists of 73,463 selected Telugu handwritten character images across 76 classes, obtained through Unicode-based class merging and data balancing. Preprocessing techniques include grayscale conversion, character cropping, image resizing, denoising, and CLAHE-based contrast enhancement. Data augmentation and class-balanced sampling are applied during training to improve classification consistency across different handwriting variations and character categories. The framework also incorporates Telugu Unicode conversion and dictionary-based word correction. Predicted character classes are mapped to their corresponding Unicode representations, allowing individual character predictions to be combined into Telugu text. Akshara-level edit-distance correction is applied to ordered character sequences to identify possible dictionary matches. This component supports preliminary word recognition, while the main experimental evaluation focuses on individual handwritten characters.</a:t>
            </a:r>
          </a:p>
          <a:p>
            <a:r>
              <a:t>The models are evaluated using accuracy, precision, recall, F1-score, top-3 accuracy, confusion matrices, and computational performance measurements. Experimental results demonstrate that SGF-MobileNetV3 achieves 95.90% classification accuracy, 95.33% macro precision, 95.71% macro recall, and 95.34% macro F1-score, outperforming the MobileNetV3-Small baseline, which achieves 90.74% accuracy and 90.69% macro F1-score. The proposed model also achieves 99.48% top-3 accuracy and 90.63% recognition accuracy under simulated image-upload variations, demonstrating improved recognition performance under the evaluated conditions. The proposed framework combines MobileNetV3-based visual feature extraction, structural stroke analysis, adaptive gated feature fusion, image preprocessing, data augmentation, class balancing, and Telugu Unicode mapping to enhance handwritten Telugu character recognition. Its results demonstrate the effectiveness of integrating appearance and stroke information for complex script classification. Further research can extend this approach to complete handwritten words, connected character sequences, and document-level Telugu text recognition.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LITERATURE SURVEY</a:t>
            </a:r>
          </a:p>
          <a:p>
            <a:r>
              <a:t>2.1 Related Work</a:t>
            </a:r>
          </a:p>
          <a:p>
            <a:r>
              <a:t>Handwritten character recognition has become an important research area in computer vision, pattern recognition, and Optical Character Recognition (OCR). Traditional recognition methods primarily depend on handcrafted features, statistical pattern analysis, and machine learning classifiers. However, complex writing structures, inconsistent stroke patterns, and variations in individual handwriting styles create significant challenges for accurate character classification. Sharma and Kaushik conducted a comprehensive survey of offline handwritten Indic script recognition, examining feature extraction methods, classification techniques, and challenges associated with Indian languages, including Telugu [1]. Their findings highlighted the importance of combining complementary feature extraction techniques to improve recognition performance. These investigations establish the significance of developing advanced deep learning frameworks capable of extracting both visual appearance and structural characteristics from handwritten Telugu characters.</a:t>
            </a:r>
          </a:p>
          <a:p>
            <a:r>
              <a:t>Early research on Telugu handwritten character recognition investigated combinations of Convolutional Neural Networks (CNNs), Principal Component Analysis (PCA), Support Vector Machines (SVMs), and multiclassifier architectures. Soman et al. introduced an efficient multiclassifier framework for offline handwritten Telugu character recognition by combining CNN-based feature extraction with PCA and SVM classification [2]. Their method was evaluated using Telugu consonant-vowel character images and achieved 92.26% accuracy for consonant classification and 92% accuracy for vowel modifier classification. The study demonstrated the effectiveness of combining neural network representations with conventional classification techniques. However, variations in character shapes and similarities between stroke structures continue to present challenges for handwritten character recognition. Motivated by these findings, the present study investigates a deep learning architecture that integrates visual appearance features with explicit structural stroke information. Deep learning architectures have significantly advanced Telugu handwritten character recognition by automatically learning hierarchical representations from input images. Sonthi et al. proposed an intelligent Telugu handwritten character recognition framework using Multi-Objective Mayfly Optimization with a deep learning-based DenseNet architecture [3]. Their approach employed DenseNet-169 for feature extraction, a Functional Link Neural Network for classification, and optimization techniques for improving model parameters. The investigation demonstrated the usefulness of deep feature representations and optimization-based learning for handwritten character classification. Similarly, a 2024 IEEE conference study investigated CNN-based recognition of handwritten Telugu characters and reported 96.96% classification accuracy on its evaluated dataset [4]. These studies demonstrate the effectiveness of convolutional architectures for recognizing complex Telugu symbols. However, conventional CNN-based approaches primarily learn image appearance representations and may not explicitly distinguish the structural stroke characteristics of visually similar characters.</a:t>
            </a:r>
          </a:p>
          <a:p>
            <a:r>
              <a:t>Hybrid deep learning architectures have also been investigated to improve recognition of handwritten Telugu text. A comparative study published in 2026 evaluated CNN, ResNet-101, and a hybrid CNN-LSTM architecture using a writer-independent Telugu handwriting dataset [5]. The hybrid CNN-LSTM model achieved 96.87% classification accuracy, outperforming the other evaluated architectures. The study demonstrated that combining spatial feature extraction with sequential representation learning can improve handwritten text recognition. Nevertheless, sequence-based models and character-level classifiers address different recognition settings, and their reported results cannot be directly compared without common datasets and evaluation protocols. The proposed SGF-MobileNetV3 investigates an alternative approach focused on individual character classification by integrating appearance and stroke-based structural representations through adaptive feature fusion. Lightweight convolutional neural networks have received considerable attention because they provide effective visual feature extraction with reduced computational complexity. Sandler et al. introduced MobileNetV2, which employs inverted residual structures and linear bottlenecks to improve computational efficiency while preserving discriminative feature representations [6]. Subsequently, Howard et al. introduced MobileNetV3, combining hardware-aware neural architecture search, NetAdapt, and architectural improvements to develop computationally efficient MobileNetV3-Large and MobileNetV3-Small models [7]. MobileNetV3-Small was specifically designed for resource-constrained image classification applications. These investigations establish the suitability of MobileNet architectures for efficient handwritten character recognition. Accordingly, the present framework implements a reduced-capacity MobileNetV3-Small as the baseline model and employs a full MobileNetV3-Small backbone in the proposed SGF-MobileNetV3 architecture for extracting appearance-based features from Telugu handwritten character images.</a:t>
            </a:r>
          </a:p>
          <a:p>
            <a:r>
              <a:t>Structural stroke information plays an important role in handwritten character recognition because visually similar symbols may differ in stroke arrangement, connectivity, thickness, and boundary characteristics. Zhang and Suen introduced a parallel thinning algorithm for extracting skeleton representations from digital patterns while preserving important structural properties [8]. Skeletonization provides a simplified representation of character geometry and can help identify differences in stroke connectivity and shape. Similarly, distance-transform-based stroke-width measurements and gradient-based edge analysis provide additional information about character structure. These techniques motivate the dedicated stroke feature extraction branch incorporated into the proposed SGF-MobileNetV3. The stroke branch processes three complementary representations: character skeleton, normalized stroke width, and edge magnitude. A convolutional feature extractor transforms these descriptors into structural representations that complement the appearance features learned by MobileNetV3-Small. Image preprocessing is another essential component of handwritten character recognition because variations in image quality, illumination, character positioning, and background noise can influence classification accuracy. Otsu introduced an automatic threshold selection technique based on gray-level histograms, providing an effective foundation for separating foreground patterns from image backgrounds [9]. Zuiderveld subsequently introduced Contrast Limited Adaptive Histogram Equalization (CLAHE), which improves local image contrast while limiting excessive amplification [10]. Such preprocessing methods support the extraction of more consistent character representations from images containing uneven contrast and varying stroke visibility. The present framework incorporates grayscale conversion, polarity correction, ink-region cropping, square padding, resizing to 96 × 96 pixels, noise removal, and CLAHE-based contrast enhancement. Thresholding also supports stroke descriptor generation, while data augmentation is applied during training to improve robustness against handwriting variations.</a:t>
            </a:r>
          </a:p>
          <a:p>
            <a:r>
              <a:t>Feature fusion mechanisms have become increasingly important in deep learning because complementary representations can provide information that may not be available from a single feature extraction branch. Arevalo et al. introduced Gated Multimodal Units (GMUs), which employ learned gating mechanisms to determine how different feature representations contribute to a combined representation [11]. Their investigation demonstrated that multiplicative gating can support adaptive information fusion rather than relying exclusively on fixed feature combinations. Although the original GMU framework was developed for multimodal information, its general principle of adaptive gating is relevant to combining different representations extracted from the same image. Inspired by this concept, the proposed SGF-MobileNetV3 incorporates an adaptive gated feature fusion mechanism that combines MobileNetV3 appearance features with stroke-based structural features. A learnable sigmoid gating function dynamically controls the relative contributions of both branches, allowing the classifier to utilize complementary information for recognizing handwritten Telugu characters. Class imbalance and handwriting variability remain important challenges in deep learning-based OCR systems. Different character categories may contain unequal numbers of training samples, causing classification models to favor frequently represented classes. Ahmed and Wahid conducted a comprehensive review of handwritten OCR techniques for Indic scripts, examining conventional machine learning, deep neural networks, feature extraction, preprocessing, and segmentation methods [12]. Their review emphasized the importance of dataset preparation and suitable recognition strategies for handling complex Indian scripts. Motivated by these observations, the present framework applies Unicode-based class merging and dataset balancing before training. The selected dataset contains 73,463 handwritten character images representing 76 classes, organized into training, validation, and testing partitions. Stratified data splitting, augmentation, and class-balanced sampling are employed to improve representation across different Telugu character categories.</a:t>
            </a:r>
          </a:p>
          <a:p>
            <a:r>
              <a:t>Post-recognition processing is another important aspect of OCR because visually similar handwritten characters may produce incorrect predictions even when the classification model performs well. Research on handwritten text recognition and post-OCR correction has investigated techniques for identifying and correcting recognition errors through linguistic information and contextual constraints [13]. Such approaches demonstrate that recognition accuracy at the character level does not necessarily guarantee accurate reconstruction of complete words. The proposed framework incorporates a Telugu Unicode mapping mechanism that converts predicted character classes into corresponding Unicode symbols. It also uses akshara-level dictionary matching based on edit distance to identify possible corrections for ordered character sequences. This mechanism supports preliminary word recognition from individually supplied character images. However, complete handwritten word segmentation and large-scale word recognition accuracy require additional experimental validation. Recognition robustness is also an important consideration because handwritten character images may contain differences in resolution, scale, margins, compression, and blur. Even well-performing classification models can produce incorrect predictions when image characteristics differ from those encountered during training. Existing research on efficient handwriting recognition has investigated the relationship between recognition accuracy, computational complexity, and model size. Xiao et al. developed compact convolutional networks for offline handwritten Chinese character recognition, demonstrating that recognition architectures can be optimized to reduce computational and storage requirements while maintaining competitive classification performance [14]. These findings highlight the importance of evaluating not only predictive accuracy but also efficiency and robustness. Accordingly, the proposed framework evaluates MobileNetV3-Small and SGF-MobileNetV3 using classification metrics, model parameters, inference latency, and simulated image-upload variations involving additional margins, resizing, compression, and blur.</a:t>
            </a:r>
          </a:p>
          <a:p>
            <a:r>
              <a:t>Existing studies collectively demonstrate the effectiveness of convolutional neural networks, hybrid classification techniques, lightweight architectures, image preprocessing, structural feature extraction, adaptive gating, and linguistic postprocessing for handwritten character recognition. However, several challenges remain, including visually similar Telugu characters, variations in handwriting styles, inconsistent stroke thickness, class imbalance, and reduced recognition performance under image distortions. To investigate these limitations, the proposed Stroke-Gated Feature Fusion MobileNetV3 (SGF-MobileNetV3) combines a MobileNetV3-Small appearance feature extractor with a dedicated structural stroke branch. Skeleton patterns, stroke-width representations, and edge magnitude features are integrated using an adaptive gated fusion mechanism before character classification. The framework also incorporates preprocessing, data augmentation, class-balanced training, Telugu Unicode conversion, and dictionary-based correction. The proposed architecture is evaluated against the reduced-capacity MobileNetV3-Small baseline using accuracy, precision, recall, F1-score, top-3 accuracy, confusion matrices, and robustness testing. Experimental results demonstrate that SGF-MobileNetV3 achieves 95.90% test accuracy, 95.34% macro F1-score, and 99.48% top-3 accuracy, compared with 90.74% test accuracy for the baseline model. Additionally, the proposed architecture achieves 90.63% accuracy under simulated image-upload variations, demonstrating improved robustness over the baseline under the evaluated conditions. Although the results indicate the effectiveness of combining appearance and structural stroke representations, further validation using independent handwriting datasets and complete word-level samples remains necessary to establish broader recognition reliability.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LITERATURE SURVEY</a:t>
            </a:r>
          </a:p>
          <a:p>
            <a:r>
              <a:t>2.1 Related Work</a:t>
            </a:r>
          </a:p>
          <a:p>
            <a:r>
              <a:t>Handwritten character recognition has become an important research area in computer vision, pattern recognition, and Optical Character Recognition (OCR). Traditional recognition methods primarily depend on handcrafted features, statistical pattern analysis, and machine learning classifiers. However, complex writing structures, inconsistent stroke patterns, and variations in individual handwriting styles create significant challenges for accurate character classification. Sharma and Kaushik conducted a comprehensive survey of offline handwritten Indic script recognition, examining feature extraction methods, classification techniques, and challenges associated with Indian languages, including Telugu [1]. Their findings highlighted the importance of combining complementary feature extraction techniques to improve recognition performance. These investigations establish the significance of developing advanced deep learning frameworks capable of extracting both visual appearance and structural characteristics from handwritten Telugu characters.</a:t>
            </a:r>
          </a:p>
          <a:p>
            <a:r>
              <a:t>Early research on Telugu handwritten character recognition investigated combinations of Convolutional Neural Networks (CNNs), Principal Component Analysis (PCA), Support Vector Machines (SVMs), and multiclassifier architectures. Soman et al. introduced an efficient multiclassifier framework for offline handwritten Telugu character recognition by combining CNN-based feature extraction with PCA and SVM classification [2]. Their method was evaluated using Telugu consonant-vowel character images and achieved 92.26% accuracy for consonant classification and 92% accuracy for vowel modifier classification. The study demonstrated the effectiveness of combining neural network representations with conventional classification techniques. However, variations in character shapes and similarities between stroke structures continue to present challenges for handwritten character recognition. Motivated by these findings, the present study investigates a deep learning architecture that integrates visual appearance features with explicit structural stroke information. Deep learning architectures have significantly advanced Telugu handwritten character recognition by automatically learning hierarchical representations from input images. Sonthi et al. proposed an intelligent Telugu handwritten character recognition framework using Multi-Objective Mayfly Optimization with a deep learning-based DenseNet architecture [3]. Their approach employed DenseNet-169 for feature extraction, a Functional Link Neural Network for classification, and optimization techniques for improving model parameters. The investigation demonstrated the usefulness of deep feature representations and optimization-based learning for handwritten character classification. Similarly, a 2024 IEEE conference study investigated CNN-based recognition of handwritten Telugu characters and reported 96.96% classification accuracy on its evaluated dataset [4]. These studies demonstrate the effectiveness of convolutional architectures for recognizing complex Telugu symbols. However, conventional CNN-based approaches primarily learn image appearance representations and may not explicitly distinguish the structural stroke characteristics of visually similar characters.</a:t>
            </a:r>
          </a:p>
          <a:p>
            <a:r>
              <a:t>Hybrid deep learning architectures have also been investigated to improve recognition of handwritten Telugu text. A comparative study published in 2026 evaluated CNN, ResNet-101, and a hybrid CNN-LSTM architecture using a writer-independent Telugu handwriting dataset [5]. The hybrid CNN-LSTM model achieved 96.87% classification accuracy, outperforming the other evaluated architectures. The study demonstrated that combining spatial feature extraction with sequential representation learning can improve handwritten text recognition. Nevertheless, sequence-based models and character-level classifiers address different recognition settings, and their reported results cannot be directly compared without common datasets and evaluation protocols. The proposed SGF-MobileNetV3 investigates an alternative approach focused on individual character classification by integrating appearance and stroke-based structural representations through adaptive feature fusion. Lightweight convolutional neural networks have received considerable attention because they provide effective visual feature extraction with reduced computational complexity. Sandler et al. introduced MobileNetV2, which employs inverted residual structures and linear bottlenecks to improve computational efficiency while preserving discriminative feature representations [6]. Subsequently, Howard et al. introduced MobileNetV3, combining hardware-aware neural architecture search, NetAdapt, and architectural improvements to develop computationally efficient MobileNetV3-Large and MobileNetV3-Small models [7]. MobileNetV3-Small was specifically designed for resource-constrained image classification applications. These investigations establish the suitability of MobileNet architectures for efficient handwritten character recognition. Accordingly, the present framework implements a reduced-capacity MobileNetV3-Small as the baseline model and employs a full MobileNetV3-Small backbone in the proposed SGF-MobileNetV3 architecture for extracting appearance-based features from Telugu handwritten character images.</a:t>
            </a:r>
          </a:p>
          <a:p>
            <a:r>
              <a:t>Structural stroke information plays an important role in handwritten character recognition because visually similar symbols may differ in stroke arrangement, connectivity, thickness, and boundary characteristics. Zhang and Suen introduced a parallel thinning algorithm for extracting skeleton representations from digital patterns while preserving important structural properties [8]. Skeletonization provides a simplified representation of character geometry and can help identify differences in stroke connectivity and shape. Similarly, distance-transform-based stroke-width measurements and gradient-based edge analysis provide additional information about character structure. These techniques motivate the dedicated stroke feature extraction branch incorporated into the proposed SGF-MobileNetV3. The stroke branch processes three complementary representations: character skeleton, normalized stroke width, and edge magnitude. A convolutional feature extractor transforms these descriptors into structural representations that complement the appearance features learned by MobileNetV3-Small. Image preprocessing is another essential component of handwritten character recognition because variations in image quality, illumination, character positioning, and background noise can influence classification accuracy. Otsu introduced an automatic threshold selection technique based on gray-level histograms, providing an effective foundation for separating foreground patterns from image backgrounds [9]. Zuiderveld subsequently introduced Contrast Limited Adaptive Histogram Equalization (CLAHE), which improves local image contrast while limiting excessive amplification [10]. Such preprocessing methods support the extraction of more consistent character representations from images containing uneven contrast and varying stroke visibility. The present framework incorporates grayscale conversion, polarity correction, ink-region cropping, square padding, resizing to 96 × 96 pixels, noise removal, and CLAHE-based contrast enhancement. Thresholding also supports stroke descriptor generation, while data augmentation is applied during training to improve robustness against handwriting variations.</a:t>
            </a:r>
          </a:p>
          <a:p>
            <a:r>
              <a:t>Feature fusion mechanisms have become increasingly important in deep learning because complementary representations can provide information that may not be available from a single feature extraction branch. Arevalo et al. introduced Gated Multimodal Units (GMUs), which employ learned gating mechanisms to determine how different feature representations contribute to a combined representation [11]. Their investigation demonstrated that multiplicative gating can support adaptive information fusion rather than relying exclusively on fixed feature combinations. Although the original GMU framework was developed for multimodal information, its general principle of adaptive gating is relevant to combining different representations extracted from the same image. Inspired by this concept, the proposed SGF-MobileNetV3 incorporates an adaptive gated feature fusion mechanism that combines MobileNetV3 appearance features with stroke-based structural features. A learnable sigmoid gating function dynamically controls the relative contributions of both branches, allowing the classifier to utilize complementary information for recognizing handwritten Telugu characters. Class imbalance and handwriting variability remain important challenges in deep learning-based OCR systems. Different character categories may contain unequal numbers of training samples, causing classification models to favor frequently represented classes. Ahmed and Wahid conducted a comprehensive review of handwritten OCR techniques for Indic scripts, examining conventional machine learning, deep neural networks, feature extraction, preprocessing, and segmentation methods [12]. Their review emphasized the importance of dataset preparation and suitable recognition strategies for handling complex Indian scripts. Motivated by these observations, the present framework applies Unicode-based class merging and dataset balancing before training. The selected dataset contains 73,463 handwritten character images representing 76 classes, organized into training, validation, and testing partitions. Stratified data splitting, augmentation, and class-balanced sampling are employed to improve representation across different Telugu character categories.</a:t>
            </a:r>
          </a:p>
          <a:p>
            <a:r>
              <a:t>Post-recognition processing is another important aspect of OCR because visually similar handwritten characters may produce incorrect predictions even when the classification model performs well. Research on handwritten text recognition and post-OCR correction has investigated techniques for identifying and correcting recognition errors through linguistic information and contextual constraints [13]. Such approaches demonstrate that recognition accuracy at the character level does not necessarily guarantee accurate reconstruction of complete words. The proposed framework incorporates a Telugu Unicode mapping mechanism that converts predicted character classes into corresponding Unicode symbols. It also uses akshara-level dictionary matching based on edit distance to identify possible corrections for ordered character sequences. This mechanism supports preliminary word recognition from individually supplied character images. However, complete handwritten word segmentation and large-scale word recognition accuracy require additional experimental validation. Recognition robustness is also an important consideration because handwritten character images may contain differences in resolution, scale, margins, compression, and blur. Even well-performing classification models can produce incorrect predictions when image characteristics differ from those encountered during training. Existing research on efficient handwriting recognition has investigated the relationship between recognition accuracy, computational complexity, and model size. Xiao et al. developed compact convolutional networks for offline handwritten Chinese character recognition, demonstrating that recognition architectures can be optimized to reduce computational and storage requirements while maintaining competitive classification performance [14]. These findings highlight the importance of evaluating not only predictive accuracy but also efficiency and robustness. Accordingly, the proposed framework evaluates MobileNetV3-Small and SGF-MobileNetV3 using classification metrics, model parameters, inference latency, and simulated image-upload variations involving additional margins, resizing, compression, and blur.</a:t>
            </a:r>
          </a:p>
          <a:p>
            <a:r>
              <a:t>Existing studies collectively demonstrate the effectiveness of convolutional neural networks, hybrid classification techniques, lightweight architectures, image preprocessing, structural feature extraction, adaptive gating, and linguistic postprocessing for handwritten character recognition. However, several challenges remain, including visually similar Telugu characters, variations in handwriting styles, inconsistent stroke thickness, class imbalance, and reduced recognition performance under image distortions. To investigate these limitations, the proposed Stroke-Gated Feature Fusion MobileNetV3 (SGF-MobileNetV3) combines a MobileNetV3-Small appearance feature extractor with a dedicated structural stroke branch. Skeleton patterns, stroke-width representations, and edge magnitude features are integrated using an adaptive gated fusion mechanism before character classification. The framework also incorporates preprocessing, data augmentation, class-balanced training, Telugu Unicode conversion, and dictionary-based correction. The proposed architecture is evaluated against the reduced-capacity MobileNetV3-Small baseline using accuracy, precision, recall, F1-score, top-3 accuracy, confusion matrices, and robustness testing. Experimental results demonstrate that SGF-MobileNetV3 achieves 95.90% test accuracy, 95.34% macro F1-score, and 99.48% top-3 accuracy, compared with 90.74% test accuracy for the baseline model. Additionally, the proposed architecture achieves 90.63% accuracy under simulated image-upload variations, demonstrating improved robustness over the baseline under the evaluated conditions. Although the results indicate the effectiveness of combining appearance and structural stroke representations, further validation using independent handwriting datasets and complete word-level samples remains necessary to establish broader recognition reliability.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LITERATURE SURVEY</a:t>
            </a:r>
          </a:p>
          <a:p>
            <a:r>
              <a:t>2.1 Related Work</a:t>
            </a:r>
          </a:p>
          <a:p>
            <a:r>
              <a:t>Handwritten character recognition has become an important research area in computer vision, pattern recognition, and Optical Character Recognition (OCR). Traditional recognition methods primarily depend on handcrafted features, statistical pattern analysis, and machine learning classifiers. However, complex writing structures, inconsistent stroke patterns, and variations in individual handwriting styles create significant challenges for accurate character classification. Sharma and Kaushik conducted a comprehensive survey of offline handwritten Indic script recognition, examining feature extraction methods, classification techniques, and challenges associated with Indian languages, including Telugu [1]. Their findings highlighted the importance of combining complementary feature extraction techniques to improve recognition performance. These investigations establish the significance of developing advanced deep learning frameworks capable of extracting both visual appearance and structural characteristics from handwritten Telugu characters.</a:t>
            </a:r>
          </a:p>
          <a:p>
            <a:r>
              <a:t>Early research on Telugu handwritten character recognition investigated combinations of Convolutional Neural Networks (CNNs), Principal Component Analysis (PCA), Support Vector Machines (SVMs), and multiclassifier architectures. Soman et al. introduced an efficient multiclassifier framework for offline handwritten Telugu character recognition by combining CNN-based feature extraction with PCA and SVM classification [2]. Their method was evaluated using Telugu consonant-vowel character images and achieved 92.26% accuracy for consonant classification and 92% accuracy for vowel modifier classification. The study demonstrated the effectiveness of combining neural network representations with conventional classification techniques. However, variations in character shapes and similarities between stroke structures continue to present challenges for handwritten character recognition. Motivated by these findings, the present study investigates a deep learning architecture that integrates visual appearance features with explicit structural stroke information. Deep learning architectures have significantly advanced Telugu handwritten character recognition by automatically learning hierarchical representations from input images. Sonthi et al. proposed an intelligent Telugu handwritten character recognition framework using Multi-Objective Mayfly Optimization with a deep learning-based DenseNet architecture [3]. Their approach employed DenseNet-169 for feature extraction, a Functional Link Neural Network for classification, and optimization techniques for improving model parameters. The investigation demonstrated the usefulness of deep feature representations and optimization-based learning for handwritten character classification. Similarly, a 2024 IEEE conference study investigated CNN-based recognition of handwritten Telugu characters and reported 96.96% classification accuracy on its evaluated dataset [4]. These studies demonstrate the effectiveness of convolutional architectures for recognizing complex Telugu symbols. However, conventional CNN-based approaches primarily learn image appearance representations and may not explicitly distinguish the structural stroke characteristics of visually similar characters.</a:t>
            </a:r>
          </a:p>
          <a:p>
            <a:r>
              <a:t>Hybrid deep learning architectures have also been investigated to improve recognition of handwritten Telugu text. A comparative study published in 2026 evaluated CNN, ResNet-101, and a hybrid CNN-LSTM architecture using a writer-independent Telugu handwriting dataset [5]. The hybrid CNN-LSTM model achieved 96.87% classification accuracy, outperforming the other evaluated architectures. The study demonstrated that combining spatial feature extraction with sequential representation learning can improve handwritten text recognition. Nevertheless, sequence-based models and character-level classifiers address different recognition settings, and their reported results cannot be directly compared without common datasets and evaluation protocols. The proposed SGF-MobileNetV3 investigates an alternative approach focused on individual character classification by integrating appearance and stroke-based structural representations through adaptive feature fusion. Lightweight convolutional neural networks have received considerable attention because they provide effective visual feature extraction with reduced computational complexity. Sandler et al. introduced MobileNetV2, which employs inverted residual structures and linear bottlenecks to improve computational efficiency while preserving discriminative feature representations [6]. Subsequently, Howard et al. introduced MobileNetV3, combining hardware-aware neural architecture search, NetAdapt, and architectural improvements to develop computationally efficient MobileNetV3-Large and MobileNetV3-Small models [7]. MobileNetV3-Small was specifically designed for resource-constrained image classification applications. These investigations establish the suitability of MobileNet architectures for efficient handwritten character recognition. Accordingly, the present framework implements a reduced-capacity MobileNetV3-Small as the baseline model and employs a full MobileNetV3-Small backbone in the proposed SGF-MobileNetV3 architecture for extracting appearance-based features from Telugu handwritten character images.</a:t>
            </a:r>
          </a:p>
          <a:p>
            <a:r>
              <a:t>Structural stroke information plays an important role in handwritten character recognition because visually similar symbols may differ in stroke arrangement, connectivity, thickness, and boundary characteristics. Zhang and Suen introduced a parallel thinning algorithm for extracting skeleton representations from digital patterns while preserving important structural properties [8]. Skeletonization provides a simplified representation of character geometry and can help identify differences in stroke connectivity and shape. Similarly, distance-transform-based stroke-width measurements and gradient-based edge analysis provide additional information about character structure. These techniques motivate the dedicated stroke feature extraction branch incorporated into the proposed SGF-MobileNetV3. The stroke branch processes three complementary representations: character skeleton, normalized stroke width, and edge magnitude. A convolutional feature extractor transforms these descriptors into structural representations that complement the appearance features learned by MobileNetV3-Small. Image preprocessing is another essential component of handwritten character recognition because variations in image quality, illumination, character positioning, and background noise can influence classification accuracy. Otsu introduced an automatic threshold selection technique based on gray-level histograms, providing an effective foundation for separating foreground patterns from image backgrounds [9]. Zuiderveld subsequently introduced Contrast Limited Adaptive Histogram Equalization (CLAHE), which improves local image contrast while limiting excessive amplification [10]. Such preprocessing methods support the extraction of more consistent character representations from images containing uneven contrast and varying stroke visibility. The present framework incorporates grayscale conversion, polarity correction, ink-region cropping, square padding, resizing to 96 × 96 pixels, noise removal, and CLAHE-based contrast enhancement. Thresholding also supports stroke descriptor generation, while data augmentation is applied during training to improve robustness against handwriting variations.</a:t>
            </a:r>
          </a:p>
          <a:p>
            <a:r>
              <a:t>Feature fusion mechanisms have become increasingly important in deep learning because complementary representations can provide information that may not be available from a single feature extraction branch. Arevalo et al. introduced Gated Multimodal Units (GMUs), which employ learned gating mechanisms to determine how different feature representations contribute to a combined representation [11]. Their investigation demonstrated that multiplicative gating can support adaptive information fusion rather than relying exclusively on fixed feature combinations. Although the original GMU framework was developed for multimodal information, its general principle of adaptive gating is relevant to combining different representations extracted from the same image. Inspired by this concept, the proposed SGF-MobileNetV3 incorporates an adaptive gated feature fusion mechanism that combines MobileNetV3 appearance features with stroke-based structural features. A learnable sigmoid gating function dynamically controls the relative contributions of both branches, allowing the classifier to utilize complementary information for recognizing handwritten Telugu characters. Class imbalance and handwriting variability remain important challenges in deep learning-based OCR systems. Different character categories may contain unequal numbers of training samples, causing classification models to favor frequently represented classes. Ahmed and Wahid conducted a comprehensive review of handwritten OCR techniques for Indic scripts, examining conventional machine learning, deep neural networks, feature extraction, preprocessing, and segmentation methods [12]. Their review emphasized the importance of dataset preparation and suitable recognition strategies for handling complex Indian scripts. Motivated by these observations, the present framework applies Unicode-based class merging and dataset balancing before training. The selected dataset contains 73,463 handwritten character images representing 76 classes, organized into training, validation, and testing partitions. Stratified data splitting, augmentation, and class-balanced sampling are employed to improve representation across different Telugu character categories.</a:t>
            </a:r>
          </a:p>
          <a:p>
            <a:r>
              <a:t>Post-recognition processing is another important aspect of OCR because visually similar handwritten characters may produce incorrect predictions even when the classification model performs well. Research on handwritten text recognition and post-OCR correction has investigated techniques for identifying and correcting recognition errors through linguistic information and contextual constraints [13]. Such approaches demonstrate that recognition accuracy at the character level does not necessarily guarantee accurate reconstruction of complete words. The proposed framework incorporates a Telugu Unicode mapping mechanism that converts predicted character classes into corresponding Unicode symbols. It also uses akshara-level dictionary matching based on edit distance to identify possible corrections for ordered character sequences. This mechanism supports preliminary word recognition from individually supplied character images. However, complete handwritten word segmentation and large-scale word recognition accuracy require additional experimental validation. Recognition robustness is also an important consideration because handwritten character images may contain differences in resolution, scale, margins, compression, and blur. Even well-performing classification models can produce incorrect predictions when image characteristics differ from those encountered during training. Existing research on efficient handwriting recognition has investigated the relationship between recognition accuracy, computational complexity, and model size. Xiao et al. developed compact convolutional networks for offline handwritten Chinese character recognition, demonstrating that recognition architectures can be optimized to reduce computational and storage requirements while maintaining competitive classification performance [14]. These findings highlight the importance of evaluating not only predictive accuracy but also efficiency and robustness. Accordingly, the proposed framework evaluates MobileNetV3-Small and SGF-MobileNetV3 using classification metrics, model parameters, inference latency, and simulated image-upload variations involving additional margins, resizing, compression, and blur.</a:t>
            </a:r>
          </a:p>
          <a:p>
            <a:r>
              <a:t>Existing studies collectively demonstrate the effectiveness of convolutional neural networks, hybrid classification techniques, lightweight architectures, image preprocessing, structural feature extraction, adaptive gating, and linguistic postprocessing for handwritten character recognition. However, several challenges remain, including visually similar Telugu characters, variations in handwriting styles, inconsistent stroke thickness, class imbalance, and reduced recognition performance under image distortions. To investigate these limitations, the proposed Stroke-Gated Feature Fusion MobileNetV3 (SGF-MobileNetV3) combines a MobileNetV3-Small appearance feature extractor with a dedicated structural stroke branch. Skeleton patterns, stroke-width representations, and edge magnitude features are integrated using an adaptive gated fusion mechanism before character classification. The framework also incorporates preprocessing, data augmentation, class-balanced training, Telugu Unicode conversion, and dictionary-based correction. The proposed architecture is evaluated against the reduced-capacity MobileNetV3-Small baseline using accuracy, precision, recall, F1-score, top-3 accuracy, confusion matrices, and robustness testing. Experimental results demonstrate that SGF-MobileNetV3 achieves 95.90% test accuracy, 95.34% macro F1-score, and 99.48% top-3 accuracy, compared with 90.74% test accuracy for the baseline model. Additionally, the proposed architecture achieves 90.63% accuracy under simulated image-upload variations, demonstrating improved robustness over the baseline under the evaluated conditions. Although the results indicate the effectiveness of combining appearance and structural stroke representations, further validation using independent handwriting datasets and complete word-level samples remains necessary to establish broader recognition reliability.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LITERATURE SURVEY</a:t>
            </a:r>
          </a:p>
          <a:p>
            <a:r>
              <a:t>2.1 Related Work</a:t>
            </a:r>
          </a:p>
          <a:p>
            <a:r>
              <a:t>Handwritten character recognition has become an important research area in computer vision, pattern recognition, and Optical Character Recognition (OCR). Traditional recognition methods primarily depend on handcrafted features, statistical pattern analysis, and machine learning classifiers. However, complex writing structures, inconsistent stroke patterns, and variations in individual handwriting styles create significant challenges for accurate character classification. Sharma and Kaushik conducted a comprehensive survey of offline handwritten Indic script recognition, examining feature extraction methods, classification techniques, and challenges associated with Indian languages, including Telugu [1]. Their findings highlighted the importance of combining complementary feature extraction techniques to improve recognition performance. These investigations establish the significance of developing advanced deep learning frameworks capable of extracting both visual appearance and structural characteristics from handwritten Telugu characters.</a:t>
            </a:r>
          </a:p>
          <a:p>
            <a:r>
              <a:t>Early research on Telugu handwritten character recognition investigated combinations of Convolutional Neural Networks (CNNs), Principal Component Analysis (PCA), Support Vector Machines (SVMs), and multiclassifier architectures. Soman et al. introduced an efficient multiclassifier framework for offline handwritten Telugu character recognition by combining CNN-based feature extraction with PCA and SVM classification [2]. Their method was evaluated using Telugu consonant-vowel character images and achieved 92.26% accuracy for consonant classification and 92% accuracy for vowel modifier classification. The study demonstrated the effectiveness of combining neural network representations with conventional classification techniques. However, variations in character shapes and similarities between stroke structures continue to present challenges for handwritten character recognition. Motivated by these findings, the present study investigates a deep learning architecture that integrates visual appearance features with explicit structural stroke information. Deep learning architectures have significantly advanced Telugu handwritten character recognition by automatically learning hierarchical representations from input images. Sonthi et al. proposed an intelligent Telugu handwritten character recognition framework using Multi-Objective Mayfly Optimization with a deep learning-based DenseNet architecture [3]. Their approach employed DenseNet-169 for feature extraction, a Functional Link Neural Network for classification, and optimization techniques for improving model parameters. The investigation demonstrated the usefulness of deep feature representations and optimization-based learning for handwritten character classification. Similarly, a 2024 IEEE conference study investigated CNN-based recognition of handwritten Telugu characters and reported 96.96% classification accuracy on its evaluated dataset [4]. These studies demonstrate the effectiveness of convolutional architectures for recognizing complex Telugu symbols. However, conventional CNN-based approaches primarily learn image appearance representations and may not explicitly distinguish the structural stroke characteristics of visually similar characters.</a:t>
            </a:r>
          </a:p>
          <a:p>
            <a:r>
              <a:t>Hybrid deep learning architectures have also been investigated to improve recognition of handwritten Telugu text. A comparative study published in 2026 evaluated CNN, ResNet-101, and a hybrid CNN-LSTM architecture using a writer-independent Telugu handwriting dataset [5]. The hybrid CNN-LSTM model achieved 96.87% classification accuracy, outperforming the other evaluated architectures. The study demonstrated that combining spatial feature extraction with sequential representation learning can improve handwritten text recognition. Nevertheless, sequence-based models and character-level classifiers address different recognition settings, and their reported results cannot be directly compared without common datasets and evaluation protocols. The proposed SGF-MobileNetV3 investigates an alternative approach focused on individual character classification by integrating appearance and stroke-based structural representations through adaptive feature fusion. Lightweight convolutional neural networks have received considerable attention because they provide effective visual feature extraction with reduced computational complexity. Sandler et al. introduced MobileNetV2, which employs inverted residual structures and linear bottlenecks to improve computational efficiency while preserving discriminative feature representations [6]. Subsequently, Howard et al. introduced MobileNetV3, combining hardware-aware neural architecture search, NetAdapt, and architectural improvements to develop computationally efficient MobileNetV3-Large and MobileNetV3-Small models [7]. MobileNetV3-Small was specifically designed for resource-constrained image classification applications. These investigations establish the suitability of MobileNet architectures for efficient handwritten character recognition. Accordingly, the present framework implements a reduced-capacity MobileNetV3-Small as the baseline model and employs a full MobileNetV3-Small backbone in the proposed SGF-MobileNetV3 architecture for extracting appearance-based features from Telugu handwritten character images.</a:t>
            </a:r>
          </a:p>
          <a:p>
            <a:r>
              <a:t>Structural stroke information plays an important role in handwritten character recognition because visually similar symbols may differ in stroke arrangement, connectivity, thickness, and boundary characteristics. Zhang and Suen introduced a parallel thinning algorithm for extracting skeleton representations from digital patterns while preserving important structural properties [8]. Skeletonization provides a simplified representation of character geometry and can help identify differences in stroke connectivity and shape. Similarly, distance-transform-based stroke-width measurements and gradient-based edge analysis provide additional information about character structure. These techniques motivate the dedicated stroke feature extraction branch incorporated into the proposed SGF-MobileNetV3. The stroke branch processes three complementary representations: character skeleton, normalized stroke width, and edge magnitude. A convolutional feature extractor transforms these descriptors into structural representations that complement the appearance features learned by MobileNetV3-Small. Image preprocessing is another essential component of handwritten character recognition because variations in image quality, illumination, character positioning, and background noise can influence classification accuracy. Otsu introduced an automatic threshold selection technique based on gray-level histograms, providing an effective foundation for separating foreground patterns from image backgrounds [9]. Zuiderveld subsequently introduced Contrast Limited Adaptive Histogram Equalization (CLAHE), which improves local image contrast while limiting excessive amplification [10]. Such preprocessing methods support the extraction of more consistent character representations from images containing uneven contrast and varying stroke visibility. The present framework incorporates grayscale conversion, polarity correction, ink-region cropping, square padding, resizing to 96 × 96 pixels, noise removal, and CLAHE-based contrast enhancement. Thresholding also supports stroke descriptor generation, while data augmentation is applied during training to improve robustness against handwriting variations.</a:t>
            </a:r>
          </a:p>
          <a:p>
            <a:r>
              <a:t>Feature fusion mechanisms have become increasingly important in deep learning because complementary representations can provide information that may not be available from a single feature extraction branch. Arevalo et al. introduced Gated Multimodal Units (GMUs), which employ learned gating mechanisms to determine how different feature representations contribute to a combined representation [11]. Their investigation demonstrated that multiplicative gating can support adaptive information fusion rather than relying exclusively on fixed feature combinations. Although the original GMU framework was developed for multimodal information, its general principle of adaptive gating is relevant to combining different representations extracted from the same image. Inspired by this concept, the proposed SGF-MobileNetV3 incorporates an adaptive gated feature fusion mechanism that combines MobileNetV3 appearance features with stroke-based structural features. A learnable sigmoid gating function dynamically controls the relative contributions of both branches, allowing the classifier to utilize complementary information for recognizing handwritten Telugu characters. Class imbalance and handwriting variability remain important challenges in deep learning-based OCR systems. Different character categories may contain unequal numbers of training samples, causing classification models to favor frequently represented classes. Ahmed and Wahid conducted a comprehensive review of handwritten OCR techniques for Indic scripts, examining conventional machine learning, deep neural networks, feature extraction, preprocessing, and segmentation methods [12]. Their review emphasized the importance of dataset preparation and suitable recognition strategies for handling complex Indian scripts. Motivated by these observations, the present framework applies Unicode-based class merging and dataset balancing before training. The selected dataset contains 73,463 handwritten character images representing 76 classes, organized into training, validation, and testing partitions. Stratified data splitting, augmentation, and class-balanced sampling are employed to improve representation across different Telugu character categories.</a:t>
            </a:r>
          </a:p>
          <a:p>
            <a:r>
              <a:t>Post-recognition processing is another important aspect of OCR because visually similar handwritten characters may produce incorrect predictions even when the classification model performs well. Research on handwritten text recognition and post-OCR correction has investigated techniques for identifying and correcting recognition errors through linguistic information and contextual constraints [13]. Such approaches demonstrate that recognition accuracy at the character level does not necessarily guarantee accurate reconstruction of complete words. The proposed framework incorporates a Telugu Unicode mapping mechanism that converts predicted character classes into corresponding Unicode symbols. It also uses akshara-level dictionary matching based on edit distance to identify possible corrections for ordered character sequences. This mechanism supports preliminary word recognition from individually supplied character images. However, complete handwritten word segmentation and large-scale word recognition accuracy require additional experimental validation. Recognition robustness is also an important consideration because handwritten character images may contain differences in resolution, scale, margins, compression, and blur. Even well-performing classification models can produce incorrect predictions when image characteristics differ from those encountered during training. Existing research on efficient handwriting recognition has investigated the relationship between recognition accuracy, computational complexity, and model size. Xiao et al. developed compact convolutional networks for offline handwritten Chinese character recognition, demonstrating that recognition architectures can be optimized to reduce computational and storage requirements while maintaining competitive classification performance [14]. These findings highlight the importance of evaluating not only predictive accuracy but also efficiency and robustness. Accordingly, the proposed framework evaluates MobileNetV3-Small and SGF-MobileNetV3 using classification metrics, model parameters, inference latency, and simulated image-upload variations involving additional margins, resizing, compression, and blur.</a:t>
            </a:r>
          </a:p>
          <a:p>
            <a:r>
              <a:t>Existing studies collectively demonstrate the effectiveness of convolutional neural networks, hybrid classification techniques, lightweight architectures, image preprocessing, structural feature extraction, adaptive gating, and linguistic postprocessing for handwritten character recognition. However, several challenges remain, including visually similar Telugu characters, variations in handwriting styles, inconsistent stroke thickness, class imbalance, and reduced recognition performance under image distortions. To investigate these limitations, the proposed Stroke-Gated Feature Fusion MobileNetV3 (SGF-MobileNetV3) combines a MobileNetV3-Small appearance feature extractor with a dedicated structural stroke branch. Skeleton patterns, stroke-width representations, and edge magnitude features are integrated using an adaptive gated fusion mechanism before character classification. The framework also incorporates preprocessing, data augmentation, class-balanced training, Telugu Unicode conversion, and dictionary-based correction. The proposed architecture is evaluated against the reduced-capacity MobileNetV3-Small baseline using accuracy, precision, recall, F1-score, top-3 accuracy, confusion matrices, and robustness testing. Experimental results demonstrate that SGF-MobileNetV3 achieves 95.90% test accuracy, 95.34% macro F1-score, and 99.48% top-3 accuracy, compared with 90.74% test accuracy for the baseline model. Additionally, the proposed architecture achieves 90.63% accuracy under simulated image-upload variations, demonstrating improved robustness over the baseline under the evaluated conditions. Although the results indicate the effectiveness of combining appearance and structural stroke representations, further validation using independent handwriting datasets and complete word-level samples remains necessary to establish broader recognition reliability.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RESEARCH GAPS</a:t>
            </a:r>
          </a:p>
          <a:p>
            <a:r>
              <a:t>3.1 Existing System</a:t>
            </a:r>
          </a:p>
          <a:p>
            <a:r>
              <a:t>The existing system for Telugu handwritten character recognition primarily relies on traditional image processing techniques, machine learning classifiers, and Convolutional Neural Networks (CNNs) to identify handwritten Telugu characters. Conventional approaches utilize handcrafted features, Principal Component Analysis (PCA), Support Vector Machines (SVMs), and CNN-based architectures to recognize vowels, consonants, and other Telugu character forms.</a:t>
            </a:r>
          </a:p>
          <a:p>
            <a:r>
              <a:t>Deep learning approaches, including CNN, DenseNet, and MobileNet architectures, extract visual features such as edges, curves, textures, and character shapes through convolutional layers and classification networks. A reduced-capacity MobileNetV3-Small model serves as the baseline in this project, processing grayscale character images through convolutional feature extraction, global average pooling, and classification layers. However, appearance-based classification models may struggle to distinguish visually similar Telugu characters containing subtle differences in stroke structure, connectivity, and thickness. Variations in handwriting styles, image resolution, alignment, and background noise can further affect recognition performance. Conventional character classifiers also do not necessarily incorporate dedicated structural stroke analysis or adaptive feature fusion. These limitations highlight the need for an improved recognition framework combining visual appearance extraction, structural stroke analysis, adaptive feature fusion, and Telugu Unicode conversion.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3.2 Disadvantages of existing system</a:t>
            </a:r>
          </a:p>
          <a:p>
            <a:r>
              <a:t>-   Limited Structural Feature Extraction: Conventional CNN models primarily extract appearance features without explicitly analyzing character skeletons and stroke thickness.</a:t>
            </a:r>
          </a:p>
          <a:p>
            <a:r>
              <a:t>-   Visually Similar Characters: Telugu characters containing similar curves and patterns may be incorrectly classified.</a:t>
            </a:r>
          </a:p>
          <a:p>
            <a:r>
              <a:t>-   Lack of Adaptive Feature Fusion: Conventional baseline models do not dynamically integrate visual appearance and structural stroke representations.</a:t>
            </a:r>
          </a:p>
          <a:p>
            <a:r>
              <a:t>-   Handwriting Variations: Differences in individual writing styles, character shapes, and stroke patterns may reduce recognition accuracy.</a:t>
            </a:r>
          </a:p>
          <a:p>
            <a:r>
              <a:t>-   Image Quality Sensitivity: Background noise, low contrast, image distortion, and improper character alignment can affect classification performance.</a:t>
            </a:r>
          </a:p>
          <a:p>
            <a:r>
              <a:t>-   Class Imbalance: Unequal character sample distributions may result in inconsistent recognition across different Telugu character categories.</a:t>
            </a:r>
          </a:p>
          <a:p>
            <a:r>
              <a:t>-   Limited Word Recognition: Character-level classification alone does not provide reliable recognition of complete handwritten words without additional processing.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 OBJECTIVES</a:t>
            </a:r>
          </a:p>
          <a:p>
            <a:r>
              <a:t>4.1 OBJECTIVE OF THE PROJECT</a:t>
            </a:r>
          </a:p>
          <a:p>
            <a:r>
              <a:t>The primary objectives of this project are:</a:t>
            </a:r>
          </a:p>
          <a:p>
            <a:r>
              <a:t>-   Develop a Telugu Handwritten Character Recognition Framework: Design an intelligent deep learning framework capable of recognizing handwritten Telugu characters belonging to four categories: Achulu, Hallulu, Guninthamulu, and Othulu.</a:t>
            </a:r>
          </a:p>
          <a:p>
            <a:r>
              <a:t>-   Implement the Baseline Classification Model: Develop a reduced-capacity MobileNetV3-Small model to extract visual features from handwritten Telugu character images and establish baseline classification performance.</a:t>
            </a:r>
          </a:p>
          <a:p>
            <a:r>
              <a:t>-   Develop SGF-MobileNetV3: Design a proposed Stroke-Gated Feature Fusion MobileNetV3 architecture integrating MobileNetV3-Small, stroke feature extraction, adaptive gated feature fusion, and character classification.</a:t>
            </a:r>
          </a:p>
          <a:p>
            <a:r>
              <a:t>-   Implement Stroke-Based Feature Extraction: Extract structural features, including character skeletons, stroke width, and edge magnitude, to improve the recognition of visually similar Telugu handwritten characters.</a:t>
            </a:r>
          </a:p>
          <a:p>
            <a:r>
              <a:t>-   Apply Image Preprocessing and Data Augmentation: Perform grayscale conversion, ink-region cropping, resizing, noise removal, CLAHE-based contrast enhancement, and augmentation to improve image quality and model generalization.</a:t>
            </a:r>
          </a:p>
          <a:p>
            <a:r>
              <a:t>-   Implement Adaptive Feature Fusion: Combine appearance-based and stroke-based representations using a learnable gating mechanism that dynamically balances the contributions of both feature extraction branches.</a:t>
            </a:r>
          </a:p>
          <a:p>
            <a:r>
              <a:t>-   Implement Telugu Unicode Conversion and Word Correction: Convert predicted character classes into Telugu Unicode and apply dictionary-based correction using akshara-level edit distance to support text recognition from ordered character images.</a:t>
            </a:r>
          </a:p>
          <a:p>
            <a:r>
              <a:t>-   Evaluate Model Performance: Compare MobileNetV3-Small and the proposed SGF-MobileNetV3 using accuracy, precision, recall, F1-score, top-3 accuracy, confusion matrices, inference latency, and robustness testing.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5.1 Function and non-functional requirements</a:t>
            </a:r>
          </a:p>
          <a:p>
            <a:r>
              <a:t>Functional Requirements</a:t>
            </a:r>
          </a:p>
          <a:p>
            <a:r>
              <a:t>The proposed Telugu Handwritten Character Recognition System provides essential functionalities for automated character classification, image preprocessing, structural stroke extraction, adaptive feature fusion, Unicode conversion, and confidence-based prediction. The framework recognizes Telugu handwritten characters belonging to four categories: Achulu, Hallulu, Guninthamulu, and Othulu. The system processes input character images through grayscale conversion, polarity correction, ink-region cropping, resizing to 96 × 96 pixels, noise removal, and CLAHE-based contrast enhancement. The preprocessed images are analyzed using the proposed Stroke-Gated Feature Fusion MobileNetV3 (SGF-MobileNetV3), which integrates MobileNetV3-Small appearance feature extraction with a dedicated structural stroke branch. The stroke branch extracts character skeletons, stroke-width maps, and edge magnitude information. An adaptive gated feature fusion mechanism combines appearance and stroke representations to improve classification across 76 Telugu character classes. The system generates the predicted character, classification confidence score, and top-three alternative predictions. Predictions with confidence below 50% are identified as uncertain. The framework also supports Telugu Unicode conversion to transform predicted character classes into readable Telugu symbols. Dictionary-based correction using akshara-level edit distance supports word recognition from ordered character images. Additionally, the framework evaluates model performance using accuracy, precision, recall, F1-score, top-3 accuracy, classification reports, confusion matrices, and robustness testing. Trained model weights, Unicode mappings, and classification metadata are preserved to support future predictions without retraining.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Non-Functional Requirements</a:t>
            </a:r>
          </a:p>
          <a:p>
            <a:r>
              <a:t>The proposed system must satisfy performance, reliability, accuracy, usability, scalability, maintainability, and reproducibility requirements to support effective Telugu handwritten character recognition. The framework is implemented using Python, PyTorch, Torchvision, OpenCV, Scikit-learn, NumPy, and Scikit-image for image processing, deep learning, structural feature extraction, and model evaluation. The recognition models process standardized character images of 96 × 96 pixels, while the proposed SGF-MobileNetV3 incorporates efficient MobileNetV3-based feature extraction and adaptive gated fusion. Performance is supported through pretrained model weights, optimized training, data augmentation, class-balanced sampling, learning-rate scheduling, early stopping, and GPU acceleration when available. CPU-based execution is also supported, although processing time may vary depending on hardware specifications. Reliability requirements include handling invalid images, unsupported image formats, missing model files, poor image quality, and prediction failures. The system should provide understandable recognition outputs, including predicted Telugu characters, Unicode representations, confidence percentages, alternative predictions, and uncertainty indicators. Input validation and safe image processing are necessary to prevent corrupted or unsupported files from affecting the recognition pipeline. Scalability and maintainability are supported through reusable preprocessing functions, modular appearance and stroke extraction branches, and saved model checkpoints. Reproducibility is improved through fixed random seeds, consistent dataset splitting, and standardized evaluation procedures. The framework achieves 95.90% character classification accuracy, demonstrating improved performance compared with the baseline model. However, recognition accuracy may decrease for unclear handwriting, distorted characters, and complete handwritten word sequences that have not undergone comprehensive validation.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5.2 HARDWARE REQUIREMENTS</a:t>
            </a:r>
          </a:p>
          <a:p>
            <a:r>
              <a:t>Processor - I3/Intel Processor</a:t>
            </a:r>
          </a:p>
          <a:p>
            <a:r>
              <a:t>Hard Disk - 160GB</a:t>
            </a:r>
          </a:p>
          <a:p>
            <a:r>
              <a:t>Key Board - Standard Windows Keyboard</a:t>
            </a:r>
          </a:p>
          <a:p>
            <a:r>
              <a:t>Mouse - Two or Three Button Mouse</a:t>
            </a:r>
          </a:p>
          <a:p>
            <a:r>
              <a:t>Monitor - SVGA</a:t>
            </a:r>
          </a:p>
          <a:p>
            <a:r>
              <a:t>RAM - 8GB</a:t>
            </a:r>
          </a:p>
          <a:p>
            <a:r>
              <a:t>5.3 SOFTWARE REQUIREMENTS:</a:t>
            </a:r>
          </a:p>
          <a:p>
            <a:r>
              <a:t>&gt; Operating System : Windows 7/8/10</a:t>
            </a:r>
          </a:p>
          <a:p>
            <a:r>
              <a:t>&gt;</a:t>
            </a:r>
          </a:p>
          <a:p>
            <a:r>
              <a:t>&gt; Server side Script : HTML, CSS</a:t>
            </a:r>
          </a:p>
          <a:p>
            <a:r>
              <a:t>&gt;</a:t>
            </a:r>
          </a:p>
          <a:p>
            <a:r>
              <a:t>&gt; Programming Language : Python</a:t>
            </a:r>
          </a:p>
          <a:p>
            <a:r>
              <a:t>&gt;</a:t>
            </a:r>
          </a:p>
          <a:p>
            <a:r>
              <a:t>&gt; Libraries : Flask, Pandas, sqllite, NumPy, Computer Vision</a:t>
            </a:r>
          </a:p>
          <a:p>
            <a:r>
              <a:t>&gt;</a:t>
            </a:r>
          </a:p>
          <a:p>
            <a:r>
              <a:t>&gt; IDE/Workbench : VsCode</a:t>
            </a:r>
          </a:p>
          <a:p>
            <a:r>
              <a:t>&gt;</a:t>
            </a:r>
          </a:p>
          <a:p>
            <a:r>
              <a:t>&gt; Technology : Python 3.10+</a:t>
            </a:r>
          </a:p>
          <a:p>
            <a:r>
              <a:t>&gt;</a:t>
            </a:r>
          </a:p>
          <a:p>
            <a:r>
              <a:t>&gt; Database : sqllite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METHODOLOGY</a:t>
            </a:r>
          </a:p>
          <a:p>
            <a:r>
              <a:t>6.1 Proposed System</a:t>
            </a:r>
          </a:p>
          <a:p>
            <a:r>
              <a:t>The proposed system introduces a Telugu Handwritten Character Recognition Framework using Stroke-Gated Feature Fusion MobileNetV3 (SGF-MobileNetV3). The framework integrates deep learning-based appearance feature extraction, structural stroke analysis, and adaptive gated feature fusion to improve Telugu handwritten character classification. It recognizes characters belonging to four categories: Achulu, Hallulu, Guninthamulu, and Othulu. The dataset initially contains 292,752 handwritten character images across 121 folders. Unicode-based class merging and dataset balancing are performed to obtain 73,463 selected images representing 76 character classes. The dataset is divided into 51,423 training, 11,020 validation, and 11,020 testing images.</a:t>
            </a:r>
          </a:p>
          <a:p>
            <a:r>
              <a:t>Image preprocessing includes grayscale conversion, polarity correction, ink-region cropping, square padding, resizing to 96 × 96 pixels, noise removal, and contrast enhancement using Contrast Limited Adaptive Histogram Equalization (CLAHE). Data augmentation incorporates rotation, scaling, translation, shear, blur, and stroke variations to improve model generalization. Class-balanced sampling is applied during training to address unequal character distributions.</a:t>
            </a:r>
          </a:p>
          <a:p>
            <a:r>
              <a:t>The framework implements two deep learning models: a reduced-capacity MobileNetV3-Small baseline and the proposed SGF-MobileNetV3. The baseline extracts visual appearance features through convolutional layers and performs character classification. The proposed SGF-MobileNetV3 consists of two complementary feature extraction branches. The appearance branch utilizes MobileNetV3-Small to extract visual representations from handwritten character images. The stroke branch extracts structural information using character skeletons, normalized stroke-width maps, and edge magnitude. These features are processed using convolutional layers to generate discriminative stroke representations. An Adaptive Gated Feature Fusion Mechanism combines the appearance and stroke representations through learnable gating weights. This mechanism dynamically determines the contribution of each feature branch before passing the fused representation to the final classification layer. The architecture enables the model to utilize both visual and structural characteristics for recognizing complex Telugu characters.</a:t>
            </a:r>
          </a:p>
          <a:p>
            <a:r>
              <a:t>Additionally, the framework incorporates Telugu Unicode mapping and dictionary-based correction. Predicted character classes are converted into Telugu Unicode symbols, while akshara-level edit distance supports correction of ordered character sequences. This component provides preliminary word-recognition functionality, although comprehensive word-level validation remains incomplete. The models are evaluated using accuracy, precision, recall, F1-score, top-3 accuracy, classification reports, confusion matrices, and inference latency. Experimental results demonstrate that SGF-MobileNetV3 achieves 95.90% classification accuracy, 95.34% macro F1-score, and 99.48% top-3 accuracy, outperforming the MobileNetV3-Small baseline, which achieves 90.74% accuracy. Under simulated image-upload variations, the proposed model achieves 90.63% accuracy. The proposed framework provides an effective approach for Telugu handwritten character recognition by combining MobileNetV3-based appearance learning, stroke-aware structural feature extraction, adaptive gated fusion, and Unicode-based text conversion.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6.2 Advantages of Proposed System</a:t>
            </a:r>
          </a:p>
          <a:p>
            <a:r>
              <a:t>-   Enhanced Character Recognition: Utilizes the proposed SGF-MobileNetV3 architecture to improve handwritten Telugu character classification.</a:t>
            </a:r>
          </a:p>
          <a:p>
            <a:r>
              <a:t>-   Dual-Branch Feature Extraction: Combines MobileNetV3-Small appearance features with dedicated structural stroke representations.</a:t>
            </a:r>
          </a:p>
          <a:p>
            <a:r>
              <a:t>-   Stroke-Aware Recognition: Extracts character skeletons, stroke-width information, and edge magnitude to distinguish visually similar Telugu characters.</a:t>
            </a:r>
          </a:p>
          <a:p>
            <a:r>
              <a:t>-   Adaptive Gated Feature Fusion: Dynamically combines appearance and stroke features using learnable gating weights for improved classification.</a:t>
            </a:r>
          </a:p>
          <a:p>
            <a:r>
              <a:t>-   Improved Image Preprocessing: Incorporates grayscale conversion, ink-region cropping, denoising, resizing, and CLAHE-based contrast enhancement.</a:t>
            </a:r>
          </a:p>
          <a:p>
            <a:r>
              <a:t>-   Balanced Character Learning: Employs Unicode-based class merging, dataset balancing, and class-balanced sampling to reduce the influence of unequal class distributions.</a:t>
            </a:r>
          </a:p>
          <a:p>
            <a:r>
              <a:t>-   Handwriting Variation Handling: Applies data augmentation to improve recognition under different character orientations, shapes, stroke thicknesses, and image conditions.</a:t>
            </a:r>
          </a:p>
          <a:p>
            <a:r>
              <a:t>-   Improved Classification Performance: Achieves 95.90% accuracy and 95.34% macro F1-score, outperforming the MobileNetV3-Small baseline with 90.74% accuracy.</a:t>
            </a:r>
          </a:p>
          <a:p>
            <a:r>
              <a:t>-   Robustness Against Image Variations: Achieves 90.63% recognition accuracy under simulated image-upload variations involving resizing, blur, compression, and additional margins.</a:t>
            </a:r>
          </a:p>
          <a:p>
            <a:r>
              <a:t>-   Telugu Unicode Conversion: Converts predicted character classes into their corresponding Telugu Unicode symbols for readable text generation.</a:t>
            </a:r>
          </a:p>
          <a:p>
            <a:r>
              <a:t>-   Dictionary-Based Correction: Uses akshara-level edit-distance matching to support preliminary correction of recognized Telugu character sequences.</a:t>
            </a:r>
          </a:p>
          <a:p>
            <a:r>
              <a:t>-   Comprehensive Model Evaluation: Evaluates classification performance using accuracy, precision, recall, F1-score, top-3 accuracy, confusion matrices, and inference latency.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6.3 PROJECT FLOW</a:t>
            </a:r>
          </a:p>
          <a:p>
            <a:r>
              <a:t>Figure 1 project flow</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6.4 ARCHITECTURE:</a:t>
            </a:r>
          </a:p>
          <a:p>
            <a:r>
              <a:t>Figure 2 Architecture</a:t>
            </a:r>
          </a:p>
          <a:p>
            <a:r>
              <a:t>The proposed methodology presents a deep learning-based framework for automated Telugu handwritten character recognition using visual appearance features and structural stroke information. The framework implements two classification models: a reduced-capacity MobileNetV3-Small baseline and the proposed Stroke-Gated Feature Fusion MobileNetV3 (SGF-MobileNetV3). It recognizes Telugu handwritten characters belonging to four categories: Achulu, Hallulu, Guninthamulu, and Othulu. The proposed SGF-MobileNetV3 integrates a MobileNetV3-Small appearance feature extraction branch with a dedicated stroke feature extraction branch. The appearance branch learns visual characteristics from handwritten character images, while the stroke branch extracts skeleton structures, stroke-width information, and edge magnitude. An adaptive gated feature fusion mechanism combines these complementary representations to improve character classification. The methodology includes dataset preparation, exploratory data analysis, image preprocessing, Unicode-based class merging, data augmentation, class-balanced sampling, model development, training, performance evaluation, robustness testing, and prediction. Telugu Unicode mapping and dictionary-based correction additionally support text generation from recognized character sequences.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6.5 Overview of Model Architectures</a:t>
            </a:r>
          </a:p>
          <a:p>
            <a:r>
              <a:t>The proposed framework implements two deep learning architectures for Telugu handwritten character classification. The baseline model extracts appearance-based features, while the proposed SGF-MobileNetV3 incorporates both appearance and structural stroke representations.</a:t>
            </a:r>
          </a:p>
          <a:p>
            <a:r>
              <a:t>MobileNetV3-Small Architecture</a:t>
            </a:r>
          </a:p>
          <a:p>
            <a:r>
              <a:t>MobileNetV3-Small is implemented as the baseline model using ImageNet-pretrained weights. The architecture employs efficient convolutional operations, inverted residual blocks, and lightweight feature extraction to recognize handwritten Telugu characters.</a:t>
            </a:r>
          </a:p>
          <a:p>
            <a:r>
              <a:t>The baseline utilizes the first nine feature-extraction stages of MobileNetV3-Small to generate a 96-dimensional visual representation from the input image. Adaptive Average Pooling converts the resulting feature map into a fixed-length feature vector.</a:t>
            </a:r>
          </a:p>
          <a:p>
            <a:r>
              <a:t>The classification head consists of a Dropout layer with a probability of 0.35 and a fully connected layer containing 76 output neurons, corresponding to the Telugu character classes.</a:t>
            </a:r>
          </a:p>
          <a:p>
            <a:r>
              <a:t>The baseline processes preprocessed grayscale character images of size 96 × 96 pixels, converted into normalized three-channel representations for compatibility with the pretrained backbone. It serves as the reference model for evaluating the proposed architecture.</a:t>
            </a:r>
          </a:p>
          <a:p>
            <a:r>
              <a:t>SGF-MobileNetV3 Architecture</a:t>
            </a:r>
          </a:p>
          <a:p>
            <a:r>
              <a:t>The proposed Stroke-Gated Feature Fusion MobileNetV3 (SGF-MobileNetV3) integrates two complementary feature extraction branches followed by adaptive gated fusion and character classification.</a:t>
            </a:r>
          </a:p>
          <a:p>
            <a:r>
              <a:t>The appearance branch utilizes the full MobileNetV3-Small feature extraction backbone. It processes normalized character images and generates a 576-dimensional appearance feature vector through Adaptive Average Pooling.</a:t>
            </a:r>
          </a:p>
          <a:p>
            <a:r>
              <a:t>The stroke branch receives three structural feature maps:</a:t>
            </a:r>
          </a:p>
          <a:p>
            <a:r>
              <a:t>-   Character skeleton representation.</a:t>
            </a:r>
          </a:p>
          <a:p>
            <a:r>
              <a:t>-   Normalized stroke-width representation.</a:t>
            </a:r>
          </a:p>
          <a:p>
            <a:r>
              <a:t>-   Edge magnitude representation.</a:t>
            </a:r>
          </a:p>
          <a:p>
            <a:r>
              <a:t>These feature maps are processed through four convolutional blocks with output channels of 16, 32, 64, and 128. Each block contains a 3 × 3 convolution, Batch Normalization, and ReLU activation. Adaptive Average Pooling generates a 128-dimensional stroke feature vector.</a:t>
            </a:r>
          </a:p>
          <a:p>
            <a:r>
              <a:t>The appearance and stroke representations are independently projected into a common 256-dimensional feature space using fully connected layers, Batch Normalization, and ReLU activation.</a:t>
            </a:r>
          </a:p>
          <a:p>
            <a:r>
              <a:t>The feature extraction operations can be represented as:</a:t>
            </a:r>
          </a:p>
          <a:p>
            <a:r>
              <a:t>Fₐ = MobileNetV3(X) --- (1)</a:t>
            </a:r>
          </a:p>
          <a:p>
            <a:r>
              <a:t>Fₛ = StrokeBranch(S) --- (2)</a:t>
            </a:r>
          </a:p>
          <a:p>
            <a:r>
              <a:t>where Fₐ denotes the 576-dimensional appearance representation, Fₛ represents the 128-dimensional stroke representation, X is the input character image, and S contains the three stroke descriptor maps.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appearance and stroke representations are independently projected into a common 256-dimensional feature space using fully connected layers, Batch Normalization, and ReLU activation.</a:t>
            </a:r>
          </a:p>
          <a:p>
            <a:r>
              <a:t>The feature extraction operations can be represented as:</a:t>
            </a:r>
          </a:p>
          <a:p>
            <a:r>
              <a:t>Fₐ = MobileNetV3(X) --- (1)</a:t>
            </a:r>
          </a:p>
          <a:p>
            <a:r>
              <a:t>Fₛ = StrokeBranch(S) --- (2)</a:t>
            </a:r>
          </a:p>
          <a:p>
            <a:r>
              <a:t>where Fₐ denotes the 576-dimensional appearance representation, Fₛ represents the 128-dimensional stroke representation, X is the input character image, and S contains the three stroke descriptor maps.</a:t>
            </a:r>
          </a:p>
          <a:p>
            <a:r>
              <a:t>Adaptive Gated Feature Fusion</a:t>
            </a:r>
          </a:p>
          <a:p>
            <a:r>
              <a:t>The proposed architecture employs an adaptive gating mechanism to combine appearance and stroke representations. The original feature vectors are concatenated and passed through a fully connected layer followed by sigmoid activation to generate 256 gating weights.</a:t>
            </a:r>
          </a:p>
          <a:p>
            <a:r>
              <a:t>The gating operation is expressed as:</a:t>
            </a:r>
          </a:p>
          <a:p>
            <a:r>
              <a:t>G = sigmaleft( Wglbrack Fₐ,Fₛrbrack + bg right) --- (3)</a:t>
            </a:r>
          </a:p>
          <a:p>
            <a:r>
              <a:t>where G represents the learned gating vector, Wg and bg denote trainable parameters, and σ is the sigmoid activation function.</a:t>
            </a:r>
          </a:p>
          <a:p>
            <a:r>
              <a:t>The fused representation is calculated as:</a:t>
            </a:r>
          </a:p>
          <a:p>
            <a:r>
              <a:t>Ffusion = G odot Pₐ(Fₐ) + (1 - G) odot Pₛ(Fₛ) --- (4)</a:t>
            </a:r>
          </a:p>
          <a:p>
            <a:r>
              <a:t>where Pₐ and Pₛ represent the appearance and stroke projection functions, respectively, and ⊙ denotes element-wise multiplication.</a:t>
            </a:r>
          </a:p>
          <a:p>
            <a:r>
              <a:t>This mechanism dynamically combines the two representations before classification.</a:t>
            </a:r>
          </a:p>
          <a:p>
            <a:r>
              <a:t>Classification Module</a:t>
            </a:r>
          </a:p>
          <a:p>
            <a:r>
              <a:t>The fused 256-dimensional feature vector is passed through a Dropout layer with a probability of 0.2 and a fully connected classification layer containing 76 output neurons.</a:t>
            </a:r>
          </a:p>
          <a:p>
            <a:r>
              <a:t>The classification probabilities are obtained using Softmax:</a:t>
            </a:r>
          </a:p>
          <a:p>
            <a:r>
              <a:t>P(i) = exp(zi)text{/}Sigma ⱼexp(zj) --- (5)</a:t>
            </a:r>
          </a:p>
          <a:p>
            <a:r>
              <a:t>where zi represents the classification logit of the ith Telugu character class.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6.6 Dataset Preparation</a:t>
            </a:r>
          </a:p>
          <a:p>
            <a:r>
              <a:t>The framework utilizes a Telugu handwritten character image dataset containing four major character groups: Guninthamulu, Achulu, Hallulu, and Othulu.</a:t>
            </a:r>
          </a:p>
          <a:p>
            <a:r>
              <a:t>The initial dataset contains 292,752 image files distributed across 121 character folders. The folder names are resolved into Telugu Unicode characters, and duplicate folders representing identical Unicode symbols are merged into common character classes.</a:t>
            </a:r>
          </a:p>
          <a:p>
            <a:r>
              <a:t>A total of 33 Telugu characters are identified as appearing in multiple folders. After Unicode-based class merging, the dataset contains 76 distinct character classes.</a:t>
            </a:r>
          </a:p>
          <a:p>
            <a:r>
              <a:t>To reduce class imbalance, the number of images is limited to 1,000 per character and source-group combination. This balancing process produces 73,463 selected handwritten character images.</a:t>
            </a:r>
          </a:p>
          <a:p>
            <a:r>
              <a:t>Table 6.1. Telugu Handwritten Character Dataset Distribution</a:t>
            </a:r>
          </a:p>
          <a:p>
            <a:r>
              <a:t>Dataset              Images          Percentage</a:t>
            </a:r>
          </a:p>
          <a:p>
            <a:r>
              <a:t>Training                 51,423              70%</a:t>
            </a:r>
          </a:p>
          <a:p>
            <a:r>
              <a:t>Validation               11,020              15%</a:t>
            </a:r>
          </a:p>
          <a:p>
            <a:r>
              <a:t>Testing                  11,020              15%</a:t>
            </a:r>
          </a:p>
          <a:p>
            <a:r>
              <a:t>Total                73,463          100%</a:t>
            </a:r>
          </a:p>
          <a:p>
            <a:r>
              <a:t>The dataset is divided using stratified sampling to preserve the class distribution across the training, validation, and testing partitions.</a:t>
            </a:r>
          </a:p>
          <a:p>
            <a:r>
              <a:t>The four source character groups include:</a:t>
            </a:r>
          </a:p>
          <a:p>
            <a:r>
              <a:t>-   Achulu: Telugu vowel characters.</a:t>
            </a:r>
          </a:p>
          <a:p>
            <a:r>
              <a:t>-   Hallulu: Telugu consonant characters.</a:t>
            </a:r>
          </a:p>
          <a:p>
            <a:r>
              <a:t>-   Guninthamulu: Consonant-related characters, including vowel-modified forms.</a:t>
            </a:r>
          </a:p>
          <a:p>
            <a:r>
              <a:t>-   Othulu: Telugu conjunct and subscript consonant forms.</a:t>
            </a:r>
          </a:p>
          <a:p>
            <a:r>
              <a:t>Each character class is assigned a numerical label ranging from 0 to 75. The corresponding Unicode representation is preserved for converting classification results into Telugu characters.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6.7 Exploratory Data Analysis (EDA)</a:t>
            </a:r>
          </a:p>
          <a:p>
            <a:r>
              <a:t>Exploratory Data Analysis is performed to examine the Telugu handwritten character dataset before model training. The analysis begins by identifying the number of images and character folders in each source group. Class-distribution plots are generated to examine differences in sample availability and identify highly represented and underrepresented character categories. The initial dataset contains a considerable imbalance, particularly because Guninthamulu contributes a larger proportion of images. Unicode-based merging and image-count limiting are performed to reduce this imbalance.</a:t>
            </a:r>
          </a:p>
          <a:p>
            <a:r>
              <a:t>Representative character images are visualized to examine variations in handwriting styles, stroke thickness, image quality, character alignment, and structural patterns. Additional visualizations compare character samples before and after preprocessing. Skeleton images, stroke-width maps, and edge magnitude representations are also examined to understand the structural features supplied to the proposed stroke branch. These analyses support the selection of appropriate preprocessing, class balancing, augmentation, and structural feature extraction techniques.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6.8 Preprocessing</a:t>
            </a:r>
          </a:p>
          <a:p>
            <a:r>
              <a:t>Image Preprocessing</a:t>
            </a:r>
          </a:p>
          <a:p>
            <a:r>
              <a:t>The image preprocessing pipeline standardizes Telugu handwritten character images before model training and prediction.</a:t>
            </a:r>
          </a:p>
          <a:p>
            <a:r>
              <a:t>Each image is converted into grayscale format, and polarity correction ensures that characters appear as dark strokes against a lighter background. The character region is identified using thresholding and connected-component analysis. Unnecessary margins are removed, and the detected character is centered on a square canvas before resizing to 96 × 96 pixels.</a:t>
            </a:r>
          </a:p>
          <a:p>
            <a:r>
              <a:t>Noise reduction is performed using Non-Local Means Denoising, followed by Contrast Limited Adaptive Histogram Equalization (CLAHE) to improve local contrast. Pixel values are converted into the range [0, 1]. For the MobileNetV3 appearance branch, normalized grayscale images are expanded into three channels.</a:t>
            </a:r>
          </a:p>
          <a:p>
            <a:r>
              <a:t>The normalization operation is:</a:t>
            </a:r>
          </a:p>
          <a:p>
            <a:r>
              <a:t>Xnorm = (X - mu)text{/}sigma --- (6)</a:t>
            </a:r>
          </a:p>
          <a:p>
            <a:r>
              <a:t>where X represents the normalized input image, μ = 0.449, and σ = 0.226.</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Structural Stroke Feature Extraction</a:t>
            </a:r>
          </a:p>
          <a:p>
            <a:r>
              <a:t>The proposed SGF-MobileNetV3 extracts three structural representations from each preprocessed character image.</a:t>
            </a:r>
          </a:p>
          <a:p>
            <a:r>
              <a:t>Skeleton Extraction: Binary thresholding and skeletonization reduce the handwritten character strokes into thin structural representations while preserving their principal shapes.</a:t>
            </a:r>
          </a:p>
          <a:p>
            <a:r>
              <a:t>Stroke-Width Extraction: A distance transform is applied to the foreground character regions to generate normalized stroke-width information.</a:t>
            </a:r>
          </a:p>
          <a:p>
            <a:r>
              <a:t>Edge Magnitude Extraction: Sobel operators calculate horizontal and vertical gradients to identify stroke boundaries.</a:t>
            </a:r>
          </a:p>
          <a:p>
            <a:r>
              <a:t>The edge magnitude is calculated as:</a:t>
            </a:r>
          </a:p>
          <a:p>
            <a:r>
              <a:t>M = sqrt{left( Gx^{2} + Gy^{2} right)} --- (7)</a:t>
            </a:r>
          </a:p>
          <a:p>
            <a:r>
              <a:t>where Gx and Gy represent horizontal and vertical image gradients.</a:t>
            </a:r>
          </a:p>
          <a:p>
            <a:r>
              <a:t>The three structural representations are stacked to form a three-channel stroke feature input.</a:t>
            </a:r>
          </a:p>
          <a:p>
            <a:r>
              <a:t>Image Data Augmentation</a:t>
            </a:r>
          </a:p>
          <a:p>
            <a:r>
              <a:t>Data augmentation is applied to training images to improve model generalization across different handwriting styles and image variations.</a:t>
            </a:r>
          </a:p>
          <a:p>
            <a:r>
              <a:t>The implemented transformations include random rotation within ±10°, scaling between 0.80 and 1.10, translation, shear, morphological erosion and dilation, Gaussian blur, resolution variation, and brightness and contrast adjustment.</a:t>
            </a:r>
          </a:p>
          <a:p>
            <a:r>
              <a:t>These transformations are applied only during training. Validation and testing images undergo deterministic preprocessing without stochastic augmentation.</a:t>
            </a:r>
          </a:p>
          <a:p>
            <a:r>
              <a:t>Class-Balanced Sampling</a:t>
            </a:r>
          </a:p>
          <a:p>
            <a:r>
              <a:t>A Weighted Random Sampler is incorporated to reduce the influence of unequal class distributions during training.</a:t>
            </a:r>
          </a:p>
          <a:p>
            <a:r>
              <a:t>Each training sample receives a sampling weight based on the frequency of its corresponding character class:</a:t>
            </a:r>
          </a:p>
          <a:p>
            <a:r>
              <a:t>wi  =  1 text{/} ni --- (8)</a:t>
            </a:r>
          </a:p>
          <a:p>
            <a:r>
              <a:t>where ni represents the number of training samples belonging to class i.</a:t>
            </a:r>
          </a:p>
          <a:p>
            <a:r>
              <a:t>The sampler increases the probability of selecting examples from less frequent classes, producing approximately balanced training batches.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6.9 Model Training</a:t>
            </a:r>
          </a:p>
          <a:p>
            <a:r>
              <a:t>Both models are trained using PyTorch with the AdamW optimizer. A fixed random seed of 42 is used to improve experimental reproducibility.</a:t>
            </a:r>
          </a:p>
          <a:p>
            <a:r>
              <a:t>The following configurations are applied during training:</a:t>
            </a:r>
          </a:p>
          <a:p>
            <a:r>
              <a:t>Training Parameter                      Configuration</a:t>
            </a:r>
          </a:p>
          <a:p>
            <a:r>
              <a:t>Input Image Size                            96 × 96</a:t>
            </a:r>
          </a:p>
          <a:p>
            <a:r>
              <a:t>Batch Size                                  64</a:t>
            </a:r>
          </a:p>
          <a:p>
            <a:r>
              <a:t>Maximum Epochs                              30</a:t>
            </a:r>
          </a:p>
          <a:p>
            <a:r>
              <a:t>Initial Learning Rate                       0.001</a:t>
            </a:r>
          </a:p>
          <a:p>
            <a:r>
              <a:t>Weight Decay                                0.0001</a:t>
            </a:r>
          </a:p>
          <a:p>
            <a:r>
              <a:t>Optimizer                                   AdamW</a:t>
            </a:r>
          </a:p>
          <a:p>
            <a:r>
              <a:t>Learning Rate Scheduler                     OneCycleLR</a:t>
            </a:r>
          </a:p>
          <a:p>
            <a:r>
              <a:t>Loss Function                               Cross-Entropy</a:t>
            </a:r>
          </a:p>
          <a:p>
            <a:r>
              <a:t>Label Smoothing                             0.1</a:t>
            </a:r>
          </a:p>
          <a:p>
            <a:r>
              <a:t>Early Stopping Patience                     7</a:t>
            </a:r>
          </a:p>
          <a:p>
            <a:r>
              <a:t>MobileNetV3-Small Baseline Training</a:t>
            </a:r>
          </a:p>
          <a:p>
            <a:r>
              <a:t>The baseline model is initialized using ImageNet-pretrained MobileNetV3-Small weights. Its reduced-capacity feature extractor processes the preprocessed character images.</a:t>
            </a:r>
          </a:p>
          <a:p>
            <a:r>
              <a:t>The extracted appearance features are passed through global average pooling and the classification head to predict one of the 76 Telugu character classes.</a:t>
            </a:r>
          </a:p>
          <a:p>
            <a:r>
              <a:t>The model is optimized using AdamW with label-smoothed Cross-Entropy Loss. Training and validation accuracy are monitored after each epoch, and the parameters producing the best validation accuracy are retained.</a:t>
            </a:r>
          </a:p>
          <a:p>
            <a:r>
              <a:t>SGF-MobileNetV3 Training</a:t>
            </a:r>
          </a:p>
          <a:p>
            <a:r>
              <a:t>The proposed SGF-MobileNetV3 is trained using both appearance images and their corresponding structural stroke representations.</a:t>
            </a:r>
          </a:p>
          <a:p>
            <a:r>
              <a:t>The appearance branch extracts visual features using the full MobileNetV3-Small backbone. Simultaneously, the stroke branch processes skeleton, stroke-width, and edge magnitude maps.</a:t>
            </a:r>
          </a:p>
          <a:p>
            <a:r>
              <a:t>The extracted representations are projected into a common feature space and combined using the adaptive gated fusion mechanism.</a:t>
            </a:r>
          </a:p>
          <a:p>
            <a:r>
              <a:t>The fused features are passed through the classification head to generate predictions across the 76 Telugu character classes.</a:t>
            </a:r>
          </a:p>
          <a:p>
            <a:r>
              <a:t>The label-smoothed Cross-Entropy Loss is expressed as:</a:t>
            </a:r>
          </a:p>
          <a:p>
            <a:r>
              <a:t>L = - Sigma ᵢyi(LS)log(Pi) --- (9)</a:t>
            </a:r>
          </a:p>
          <a:p>
            <a:r>
              <a:t>where yi(LS) represents the label-smoothed target distribution and Pi denotes the predicted probability of character class i.</a:t>
            </a:r>
          </a:p>
          <a:p>
            <a:r>
              <a:t>The One Cycle learning-rate scheduler adjusts the learning rate throughout training. Early stopping monitors validation accuracy, using validation loss to resolve equal-accuracy results.</a:t>
            </a:r>
          </a:p>
          <a:p>
            <a:r>
              <a:t>Automatic mixed-precision training is enabled when compatible GPU hardware is available.</a:t>
            </a:r>
          </a:p>
          <a:p>
            <a:r>
              <a:t>The best model parameters are retained for subsequent evaluation and inference.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6.11 Model Evaluation and Inference</a:t>
            </a:r>
          </a:p>
          <a:p>
            <a:r>
              <a:t>The developed models are evaluated using the independent testing partition containing 11,020 Telugu handwritten character images.</a:t>
            </a:r>
          </a:p>
          <a:p>
            <a:r>
              <a:t>The implemented evaluation metrics include accuracy, precision, recall, F1-score, weighted F1-score, top-3 accuracy, classification reports, and confusion matrices.</a:t>
            </a:r>
          </a:p>
          <a:p>
            <a:r>
              <a:t>The evaluation measures are defined as follows:</a:t>
            </a:r>
          </a:p>
          <a:p>
            <a:r>
              <a:t>Accuracy = Number of Correct Predictions / Total Predictions --- (10)</a:t>
            </a:r>
          </a:p>
          <a:p>
            <a:r>
              <a:t>Precision = TP / (TP + FP) --- (11)</a:t>
            </a:r>
          </a:p>
          <a:p>
            <a:r>
              <a:t>Recall = TP / (TP + FN) --- (12)</a:t>
            </a:r>
          </a:p>
          <a:p>
            <a:r>
              <a:t>F1 = 2 × Precision × Recall / (Precision + Recall) --- (13)</a:t>
            </a:r>
          </a:p>
          <a:p>
            <a:r>
              <a:t>where TP, FP, and FN represent true positives, false positives, and false negatives, respectively.</a:t>
            </a:r>
          </a:p>
          <a:p>
            <a:r>
              <a:t>For multiclass evaluation, macro-averaged metrics are calculated by averaging the corresponding values across the 76 character classes.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7.1.1 Introduction of Input design</a:t>
            </a:r>
          </a:p>
          <a:p>
            <a:r>
              <a:t>Input design is an essential component of the proposed Telugu Handwritten Character Recognition System, defining how user credentials, handwritten Telugu character images, and character sequences are collected, validated, and processed for automated recognition. The system provides an application interface that allows users to register, log in, and access two recognition modes: Single Character Recognition and Word Recognition. The character recognition module accepts one handwritten Telugu character image, while the word recognition module accepts multiple individual character images arranged in their intended reading order. The application supports JPG, JPEG, PNG, BMP, WEBP, TIF, and TIFF image formats, with a maximum combined upload request size of 32 MB and a limit of 40 character images per prediction. Uploaded images undergo grayscale conversion, polarity correction, ink-region cropping, square padding, resizing to 96 × 96 pixels, noise removal, and contrast enhancement using Contrast Limited Adaptive Histogram Equalization (CLAHE). The preprocessed images are processed using the proposed Stroke-Gated Feature Fusion MobileNetV3 (SGF-MobileNetV3). The appearance branch extracts visual features through MobileNetV3-Small, while the structural stroke branch generates skeleton, stroke-width, and edge magnitude representations. These features are combined through an adaptive gated fusion mechanism to support classification across 76 Telugu character classes. The input design also incorporates automatic recognition mode selection, optional filename-based ordering for multiple images, image readability verification, supported file extension validation, and trained model availability checks. User authentication is managed through MySQL-based credential verification and session handling. Uploaded files are temporarily stored using unique filenames and removed after prediction processing. The input design ensures consistent image preparation, reliable input validation, and compatibility with the trained recognition model.</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Objectives for Input Design:</a:t>
            </a:r>
          </a:p>
          <a:p>
            <a:r>
              <a:t>-   User-Friendly Recognition Interface: Provide an application interface that allows registered users to upload handwritten Telugu character images for automated recognition.</a:t>
            </a:r>
          </a:p>
          <a:p>
            <a:r>
              <a:t>-   User Registration and Authentication: Collect email addresses, passwords, and password confirmation during registration and verify registered credentials using the MySQL database.</a:t>
            </a:r>
          </a:p>
          <a:p>
            <a:r>
              <a:t>-   Multiple Recognition Modes: Allow users to select Single Character Recognition, Word Recognition, or automatic mode selection based on the number of uploaded images.</a:t>
            </a:r>
          </a:p>
          <a:p>
            <a:r>
              <a:t>-   Single Character Image Upload: Enable users to upload one handwritten Telugu character image for classification using the proposed SGF-MobileNetV3.</a:t>
            </a:r>
          </a:p>
          <a:p>
            <a:r>
              <a:t>-   Word Recognition Input: Accept multiple separately cropped Telugu character images arranged in their intended reading order to generate a recognized character sequence.</a:t>
            </a:r>
          </a:p>
          <a:p>
            <a:r>
              <a:t>-   Supported Image Formats: Accept JPG, JPEG, PNG, BMP, WEBP, TIF, and TIFF image files for recognition.</a:t>
            </a:r>
          </a:p>
          <a:p>
            <a:r>
              <a:t>-   Grayscale Conversion: Convert uploaded character images into grayscale format to standardize the input representation.</a:t>
            </a:r>
          </a:p>
          <a:p>
            <a:r>
              <a:t>-   Ink-Region Cropping: Identify the handwritten character region and remove unnecessary background margins while preserving important character strokes.</a:t>
            </a:r>
          </a:p>
          <a:p>
            <a:r>
              <a:t>-   Image Resizing and Normalization: Resize character images to 96 × 96 pixels and normalize pixel values for compatibility with the trained MobileNetV3 architecture.</a:t>
            </a:r>
          </a:p>
          <a:p>
            <a:r>
              <a:t>-   Noise Removal and Contrast Enhancement: Apply Non-Local Means Denoising and CLAHE to improve character visibility and reduce image-quality variations.</a:t>
            </a:r>
          </a:p>
          <a:p>
            <a:r>
              <a:t>-   Structural Stroke Extraction: Generate skeleton, stroke-width, and edge magnitude maps to capture the structural characteristics of handwritten Telugu characters.</a:t>
            </a:r>
          </a:p>
          <a:p>
            <a:r>
              <a:t>-   Adaptive Feature Fusion: Process appearance and structural stroke inputs through the corresponding branches of SGF-MobileNetV3 for gated feature fusion.</a:t>
            </a:r>
          </a:p>
          <a:p>
            <a:r>
              <a:t>-   Character Image Ordering: Maintain the selected image sequence or optionally arrange uploaded files using natural filename sorting before word recognition.</a:t>
            </a:r>
          </a:p>
          <a:p>
            <a:r>
              <a:t>-   Input Validation: Verify mandatory image inputs, supported file extensions, valid recognition modes, readable images, and the availability of trained model artifacts.</a:t>
            </a:r>
          </a:p>
          <a:p>
            <a:r>
              <a:t>-   Input Size Restrictions: Restrict the combined upload request size to 32 MB and limit each recognition request to a maximum of 40 character images.</a:t>
            </a:r>
          </a:p>
          <a:p>
            <a:r>
              <a:t>-   Temporary Image Storage: Store uploaded images using securely processed, uniquely generated filenames and automatically remove temporary input files after recognition.</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7.1.2 Output Design:</a:t>
            </a:r>
          </a:p>
          <a:p>
            <a:r>
              <a:t>Output design defines how the proposed Telugu Handwritten Character Recognition System presents recognized Telugu characters, Unicode representations, prediction confidence scores, alternative predictions, structural stroke visualizations, corrected word outputs, model performance comparisons, and downloadable recognition reports. The system generates recognition results according to the selected prediction mode. In Single Character Recognition, the proposed SGF-MobileNetV3 processes the uploaded handwritten character image and classifies it into one of 76 Telugu character classes. The output displays the recognized Telugu Unicode character, corresponding character group, class identifier, Unicode code points, prediction confidence percentage, and top-three alternative predictions. A confidence-based uncertainty mechanism identifies predictions below the predefined 50% threshold and displays a warning when character recognition is uncertain. The system also generates a structural feature visualization containing the preprocessed character image, skeleton representation, stroke-width map, and edge magnitude map. Additionally, the adaptive gated fusion mechanism provides information about the relative contribution of appearance and structural stroke features during classification. These outputs support interpretation of the model's recognition behavior.</a:t>
            </a:r>
          </a:p>
          <a:p>
            <a:r>
              <a:t>In Word Recognition, the system processes multiple uploaded character images in sequence and combines their predicted Unicode characters to generate Telugu text. A dictionary-based correction mechanism compares the recognized sequence with stored Telugu dictionary words using akshara-level edit distance. The system displays both the original recognized sequence and the final corrected text when a suitable dictionary match is identified. Character-wise confidence scores, mean confidence, minimum confidence, uncertain character positions, and correction information are also provided. The model performance module presents evaluation metrics for the MobileNetV3-Small baseline and proposed SGF-MobileNetV3, including accuracy, precision, recall, F1-score, top-3 accuracy, model size, inference latency, class-wise performance, and robustness evaluation results. The proposed model achieves 95.90% classification accuracy and 95.34% macro F1-score, compared with 90.74% accuracy for the baseline model. Additionally, the system supports downloadable PDF recognition reports containing recognized Telugu text, Unicode information, prediction confidence, character-wise classification results, alternative predictions, and correction details. The output design emphasizes readability, interpretation of recognition results, confidence-based uncertainty identification, and accessible presentation of Telugu handwritten character predictions.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Objectives of Output Design:</a:t>
            </a:r>
          </a:p>
          <a:p>
            <a:r>
              <a:t>-   Clear Telugu Character Recognition: Display the recognized handwritten Telugu character in its corresponding Unicode representation.</a:t>
            </a:r>
          </a:p>
          <a:p>
            <a:r>
              <a:t>-   Single Character Prediction Results: Present character classification results generated by the proposed SGF-MobileNetV3 using appearance feature extraction, structural stroke extraction, and adaptive gated feature fusion.</a:t>
            </a:r>
          </a:p>
          <a:p>
            <a:r>
              <a:t>-   Word Recognition Results: Combine the predictions generated from multiple ordered character images into a readable Telugu character sequence.</a:t>
            </a:r>
          </a:p>
          <a:p>
            <a:r>
              <a:t>-   Telugu Unicode Display: Convert predicted character classes into Telugu Unicode symbols and display their corresponding Unicode code points.</a:t>
            </a:r>
          </a:p>
          <a:p>
            <a:r>
              <a:t>-   Character Category Identification: Display the recognized character's classification group, such as Vowel, Consonant, or Conjunct, based on the stored class mapping.</a:t>
            </a:r>
          </a:p>
          <a:p>
            <a:r>
              <a:t>-   Prediction Confidence Score: Display the highest predicted Softmax probability as a confidence percentage for each recognized character.</a:t>
            </a:r>
          </a:p>
          <a:p>
            <a:r>
              <a:t>-   Top-Three Alternative Predictions: Present the three most probable Telugu character predictions with their corresponding confidence percentages.</a:t>
            </a:r>
          </a:p>
          <a:p>
            <a:r>
              <a:t>-   Prediction Uncertainty Indication: Mark character predictions with confidence below 50% as uncertain and provide a message recommending verification or clearer image input.</a:t>
            </a:r>
          </a:p>
          <a:p>
            <a:r>
              <a:t>-   Structural Stroke Visualization: Generate visual representations of the character skeleton, stroke-width distribution, and edge magnitude to illustrate the structural information extracted from handwritten images.</a:t>
            </a:r>
          </a:p>
          <a:p>
            <a:r>
              <a:t>-   Preprocessed Image Display: Present the standardized character image used during classification for comparison with its structural feature maps.</a:t>
            </a:r>
          </a:p>
          <a:p>
            <a:r>
              <a:t>-   Adaptive Gated Feature Analysis: Display the estimated relative contribution of appearance features and structural stroke features to the final character representation.</a:t>
            </a:r>
          </a:p>
          <a:p>
            <a:r>
              <a:t>-   Raw Telugu Text Recognition: Display the original Telugu text sequence obtained by combining the predicted Unicode characters in the supplied order.</a:t>
            </a:r>
          </a:p>
          <a:p>
            <a:r>
              <a:t>-   Dictionary-Based Word Correction: Apply akshara-level edit-distance matching to identify possible corrections and display the final corrected Telugu word when a suitable match is available.</a:t>
            </a:r>
          </a:p>
          <a:p>
            <a:r>
              <a:t>-   Correction Information Display: Indicate whether dictionary correction was applied, whether a matching word was found, and the corresponding edit distance.</a:t>
            </a:r>
          </a:p>
          <a:p>
            <a:r>
              <a:t>-   Character-Wise Prediction Details: Display the sequence position, uploaded filename, predicted character, Unicode information, confidence percentage, and alternative predictions for every character image.</a:t>
            </a:r>
          </a:p>
          <a:p>
            <a:r>
              <a:t>-   Overall Recognition Confidence: Calculate and display the mean and minimum confidence percentages across all recognized characters.</a:t>
            </a:r>
          </a:p>
          <a:p>
            <a:r>
              <a:t>-   Uncertain Character Identification: Identify the positions of low-confidence characters within a word sequence to assist users in reviewing potentially incorrect predictions.</a:t>
            </a:r>
          </a:p>
          <a:p>
            <a:r>
              <a:t>-   Prediction Processing Time: Display the inference time required to process the submitted character image or character sequence.</a:t>
            </a:r>
          </a:p>
          <a:p>
            <a:r>
              <a:t>-   Model Performance Comparison: Present accuracy, precision, recall, macro F1-score, weighted F1-score, top-3 accuracy, model size, and inference latency for MobileNetV3-Small and SGF-MobileNetV3.</a:t>
            </a:r>
          </a:p>
          <a:p>
            <a:r>
              <a:t>-   Character Group Performance Analysis: Display available recognition accuracy results for Achulu, Hallulu, Guninthamulu, and Othulu to illustrate differences in classification performance.</a:t>
            </a:r>
          </a:p>
          <a:p>
            <a:r>
              <a:t>-   Robustness Evaluation Results: Present model accuracy under clean and simulated image-upload conditions involving resizing, additional margins, compression, and blur.</a:t>
            </a:r>
          </a:p>
          <a:p>
            <a:r>
              <a:t>-   Class-Wise Evaluation Results: Display available classification reports and identify character classes with comparatively lower precision, recall, or F1-scores.</a:t>
            </a:r>
          </a:p>
          <a:p>
            <a:r>
              <a:t>-   Downloadable PDF Recognition Report: Generate a Telugu handwritten OCR report containing recognized text, Unicode code points, character-wise predictions, confidence scores, alternative predictions, and dictionary correction information.</a:t>
            </a:r>
          </a:p>
          <a:p>
            <a:r>
              <a:t>-   User-Friendly Error Messages: Provide informative messages for unsupported image formats, unreadable character images, invalid recognition modes, missing inputs, unavailable trained models, and prediction failures.</a:t>
            </a:r>
          </a:p>
          <a:p>
            <a:r>
              <a:t>-   Generated Result Management: Store recognition visualization images and PDF reports using unique filenames and periodically remove older generated files to manage storage resources.</a:t>
            </a:r>
          </a:p>
          <a:p>
            <a:r>
              <a:t>-   Prediction Reliability Information: Display appropriate warnings indicating that handwritten character predictions may contain recognition errors, particularly for unclear handwriting, visually similar characters, and character sequences requiring dictionary correction.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7.1.3 UML diagrams</a:t>
            </a:r>
          </a:p>
          <a:p>
            <a:r>
              <a:t>UML stands for Unified Modelling Language. UML is a standardized general-purpose modelling language in the field of object-oriented software engineering. The standard is managed, and was created by, the Object Management Group.</a:t>
            </a:r>
          </a:p>
          <a:p>
            <a:r>
              <a:t>The goal is for UML to become a common language for creating models of object-oriented computer software. In its current form UML is comprised of two major components: a Meta-model and a notation. In the future, some form of method or process may also be added to; or associated with, UML.</a:t>
            </a:r>
          </a:p>
          <a:p>
            <a:r>
              <a:t>The Unified Modelling Language is a standard language for specifying, Visualization, Constructing and documenting the artefacts of software system, as well as for business modelling and other non-software systems.</a:t>
            </a:r>
          </a:p>
          <a:p>
            <a:r>
              <a:t>The UML represents a collection of best engineering practices that have proven successful in the modelling of large and complex systems.</a:t>
            </a:r>
          </a:p>
          <a:p>
            <a:r>
              <a:t>The UML is a very important part of developing objects-oriented software and the software development process. The UML uses mostly graphical notations to express the design of software projects.</a:t>
            </a:r>
          </a:p>
          <a:p>
            <a:r>
              <a:t>GOALS:</a:t>
            </a:r>
          </a:p>
          <a:p>
            <a:r>
              <a:t>The Primary goals in the design of the UML are as follows:</a:t>
            </a:r>
          </a:p>
          <a:p>
            <a:r>
              <a:t>1.  Provide users a ready-to-use, expressive visual modelling Language so that they can develop and exchange meaningful models.</a:t>
            </a:r>
          </a:p>
          <a:p>
            <a:r>
              <a:t>2.  Provide extendibility and specialization mechanisms to extend the core concepts.</a:t>
            </a:r>
          </a:p>
          <a:p>
            <a:r>
              <a:t>3.  Be independent of particular programming languages and development process.</a:t>
            </a:r>
          </a:p>
          <a:p>
            <a:r>
              <a:t>4.  Provide a formal basis for understanding the modelling language.</a:t>
            </a:r>
          </a:p>
          <a:p>
            <a:r>
              <a:t>5.  Encourage the growth of OO tools market.</a:t>
            </a:r>
          </a:p>
          <a:p>
            <a:r>
              <a:t>6.  Support higher level development concepts such as collaborations, frameworks, patterns and components.</a:t>
            </a:r>
          </a:p>
          <a:p>
            <a:r>
              <a:t>7.  Integrate best practices.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7.1.3.1 USE CASE DIAGRAM</a:t>
            </a:r>
          </a:p>
          <a:p>
            <a:r>
              <a:t>The use case diagram illustrates how a user interacts with the Telugu handwritten character recognition system. It includes registration, login, character recognition, word recognition, model performance viewing, report downloading, and logout.</a:t>
            </a:r>
          </a:p>
          <a:p>
            <a:r>
              <a:t>Figure 3 USECASE DIAGRAM</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7.1.3.2 CLASS DIAGRAM</a:t>
            </a:r>
          </a:p>
          <a:p>
            <a:r>
              <a:t>The class diagram represents the main deep learning model classes implemented in the project.It shows the baseline MobileNetV3 model and the proposed SGF-MobileNetV3, which incorporates a dedicated StrokeBranch.</a:t>
            </a:r>
          </a:p>
          <a:p>
            <a:r>
              <a:t>Figure 4 class diagram</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7.1.3.3 SEQUENCE DIAGRAM</a:t>
            </a:r>
          </a:p>
          <a:p>
            <a:r>
              <a:t>The sequence diagram illustrates the order of interactions between the user, Flask application, preprocessing utilities, and recognition model. It shows how uploaded character images are processed and converted into Telugu text with confidence scores.</a:t>
            </a:r>
          </a:p>
          <a:p>
            <a:r>
              <a:t>Figure 5 sequence diagram</a:t>
            </a:r>
          </a:p>
          <a:p>
            <a:r>
              <a:t>Collaboration Diagram</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7.1.3.3 SEQUENCE DIAGRAM</a:t>
            </a:r>
          </a:p>
          <a:p>
            <a:r>
              <a:t>The sequence diagram illustrates the order of interactions between the user, Flask application, preprocessing utilities, and recognition model. It shows how uploaded character images are processed and converted into Telugu text with confidence scores.</a:t>
            </a:r>
          </a:p>
          <a:p>
            <a:r>
              <a:t>Figure 5 sequence diagram</a:t>
            </a:r>
          </a:p>
          <a:p>
            <a:r>
              <a:t>Collaboration Diagram</a:t>
            </a:r>
          </a:p>
          <a:p>
            <a:r>
              <a:t>The collaboration diagram represents communication among the main components involved in Telugu character recognition. It illustrates how the user request travels through preprocessing, classification, and Unicode conversion before returning the result.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7.1.3.4 DEPLOYMENT DIAGRAM</a:t>
            </a:r>
          </a:p>
          <a:p>
            <a:r>
              <a:t>The deployment diagram shows how the user's browser communicates with the Flask application and its supporting resources. It includes the PyTorch recognition model, saved model files, PDF reports, and MySQL database.</a:t>
            </a:r>
          </a:p>
          <a:p>
            <a:r>
              <a:t>Figure 6 deployment diagram</a:t>
            </a:r>
          </a:p>
          <a:p>
            <a:r>
              <a:t>7.1.3.5 ACTIVITY DIAGRAM:</a:t>
            </a:r>
          </a:p>
          <a:p>
            <a:r>
              <a:t>The activity diagram represents the step-by-step process of recognizing handwritten Telugu characters and word sequences. It includes image validation, preprocessing, stroke extraction, classification, Unicode conversion, and result generation.</a:t>
            </a:r>
          </a:p>
          <a:p>
            <a:r>
              <a:t>Figure 7 activity diagram</a:t>
            </a:r>
          </a:p>
          <a:p>
            <a:r>
              <a:t>7.1.3.7 ER DIAGRAM:</a:t>
            </a:r>
          </a:p>
          <a:p>
            <a:r>
              <a:t>The ER diagram represents the database structure used for user registration and authentication. The current Flask application uses a MySQL users table containing email and password fields; predictions and reports are not stored as relational database records.</a:t>
            </a:r>
          </a:p>
          <a:p>
            <a:r>
              <a:t>Figure 9 er diagram</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7.1.3.5 ACTIVITY DIAGRAM:</a:t>
            </a:r>
          </a:p>
          <a:p>
            <a:r>
              <a:t>The activity diagram represents the step-by-step process of recognizing handwritten Telugu characters and word sequences. It includes image validation, preprocessing, stroke extraction, classification, Unicode conversion, and result generation.</a:t>
            </a:r>
          </a:p>
          <a:p>
            <a:r>
              <a:t>Figure 7 activity diagram</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7.1.4 DATA FLOW DIAGRAMS</a:t>
            </a:r>
          </a:p>
          <a:p>
            <a:r>
              <a:t>Level 1 Diagram: The Level 1 Data Flow Diagram shows the major processes of the Telugu handwritten recognition system. It illustrates user authentication, image recognition, result generation, and interactions with model files and the database.</a:t>
            </a:r>
          </a:p>
          <a:p>
            <a:r>
              <a:t>Figure 10 DFD LEVEL1</a:t>
            </a:r>
          </a:p>
          <a:p>
            <a:r>
              <a:t>Level 2 Diagram: The Level 2 Data Flow Diagram explains the internal processing steps of the character recognition module. It shows image validation, preprocessing, parallel appearance and stroke extraction, gated classification, Unicode conversion, and output generation.</a:t>
            </a:r>
          </a:p>
          <a:p>
            <a:r>
              <a:t>Figure 11 DFD LEVEL 2</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7.2.1 SYSTEM WORKFLOW</a:t>
            </a:r>
          </a:p>
          <a:p>
            <a:r>
              <a:t>1. SYSTEM WORKFLOW</a:t>
            </a:r>
          </a:p>
          <a:p>
            <a:r>
              <a:t>The system workflow encompasses the complete process of Telugu Handwritten Character Recognition using Stroke-Gated Feature Fusion MobileNetV3 (SGF-MobileNetV3). The proposed framework integrates deep learning, image preprocessing, structural stroke feature extraction, adaptive gated feature fusion, Telugu Unicode conversion, and dictionary-based word correction. The implementation incorporates two deep learning architectures: the reduced-capacity MobileNetV3-Small baseline and the proposed SGF-MobileNetV3. The trained model is integrated into a Flask-based web application supporting Single Character Recognition and Word Recognition. The system also incorporates confidence analysis, top-three alternative predictions, structural stroke visualization, model performance comparison, and downloadable PDF recognition reports. The implementation is organized into five sequential phases: Data Collection, Data Preprocessing, Model Training, Model Evaluation, and Deployment.</a:t>
            </a:r>
          </a:p>
          <a:p>
            <a:r>
              <a:t>1. Data Collection</a:t>
            </a:r>
          </a:p>
          <a:p>
            <a:r>
              <a:t>Telugu Handwritten Character Dataset:</a:t>
            </a:r>
          </a:p>
          <a:p>
            <a:r>
              <a:t>-   The Telugu Handwritten Character Dataset obtained from Kaggle serves as the primary data source for developing the recognition models. The original dataset contains 292,752 images distributed across 121 character folders.</a:t>
            </a:r>
          </a:p>
          <a:p>
            <a:r>
              <a:t>-   The dataset includes four major Telugu character groups: Achulu, Hallulu, Guninthamulu, and Othulu. These groups represent vowels, consonants, vowel-modified consonant forms, and conjunct-related character structures.</a:t>
            </a:r>
          </a:p>
          <a:p>
            <a:r>
              <a:t>-   Unicode-based class merging is performed to combine folders representing identical Telugu characters. Dataset balancing is subsequently applied to reduce excessive representation of frequently occurring character classes.</a:t>
            </a:r>
          </a:p>
          <a:p>
            <a:r>
              <a:t>-   After class merging and balancing, the selected dataset contains 73,463 images representing 76 distinct Telugu character classes.</a:t>
            </a:r>
          </a:p>
          <a:p>
            <a:r>
              <a:t>-   The dataset is divided using stratified sampling into 51,423 training images (70%), 11,020 validation images (15%), and 11,020 testing images (15%).</a:t>
            </a:r>
          </a:p>
          <a:p>
            <a:r>
              <a:t>-   The handwritten samples contain variations in character shape, stroke thickness, writing style, alignment, and image quality. These characteristics are utilized to train and evaluate the recognition models.</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Data Collection</a:t>
            </a:r>
          </a:p>
          <a:p>
            <a:r>
              <a:t>Telugu Handwritten Character Dataset:</a:t>
            </a:r>
          </a:p>
          <a:p>
            <a:r>
              <a:t>-   The Telugu Handwritten Character Dataset obtained from Kaggle serves as the primary data source for developing the recognition models. The original dataset contains 292,752 images distributed across 121 character folders.</a:t>
            </a:r>
          </a:p>
          <a:p>
            <a:r>
              <a:t>-   The dataset includes four major Telugu character groups: Achulu, Hallulu, Guninthamulu, and Othulu. These groups represent vowels, consonants, vowel-modified consonant forms, and conjunct-related character structures.</a:t>
            </a:r>
          </a:p>
          <a:p>
            <a:r>
              <a:t>-   Unicode-based class merging is performed to combine folders representing identical Telugu characters. Dataset balancing is subsequently applied to reduce excessive representation of frequently occurring character classes.</a:t>
            </a:r>
          </a:p>
          <a:p>
            <a:r>
              <a:t>-   After class merging and balancing, the selected dataset contains 73,463 images representing 76 distinct Telugu character classes.</a:t>
            </a:r>
          </a:p>
          <a:p>
            <a:r>
              <a:t>-   The dataset is divided using stratified sampling into 51,423 training images (70%), 11,020 validation images (15%), and 11,020 testing images (15%).</a:t>
            </a:r>
          </a:p>
          <a:p>
            <a:r>
              <a:t>-   The handwritten samples contain variations in character shape, stroke thickness, writing style, alignment, and image quality. These characteristics are utilized to train and evaluate the recognition models.</a:t>
            </a:r>
          </a:p>
          <a:p>
            <a:r>
              <a:t>2. Data Preprocessing</a:t>
            </a:r>
          </a:p>
          <a:p>
            <a:r>
              <a:t>Image Data Preprocessing:</a:t>
            </a:r>
          </a:p>
          <a:p>
            <a:r>
              <a:t>-   The preprocessing pipeline converts raw Telugu handwritten character images into standardized representations suitable for MobileNetV3-Small and SGF-MobileNetV3.</a:t>
            </a:r>
          </a:p>
          <a:p>
            <a:r>
              <a:t>-   Grayscale Conversion: Input images are converted into grayscale format to simplify processing and emphasize handwritten character structures.</a:t>
            </a:r>
          </a:p>
          <a:p>
            <a:r>
              <a:t>-   Polarity Correction: Character images are standardized to maintain dark handwritten strokes against a lighter background.</a:t>
            </a:r>
          </a:p>
          <a:p>
            <a:r>
              <a:t>-   Ink-Region Cropping: Thresholding and connected-component analysis identify the handwritten character region and remove unnecessary background margins.</a:t>
            </a:r>
          </a:p>
          <a:p>
            <a:r>
              <a:t>-   Image Resizing: Cropped character images are centered on a square canvas and resized to 96 × 96 pixels.</a:t>
            </a:r>
          </a:p>
          <a:p>
            <a:r>
              <a:t>-   Noise Removal: Non-Local Means Denoising is applied to reduce unwanted background noise while preserving important character strokes.</a:t>
            </a:r>
          </a:p>
          <a:p>
            <a:r>
              <a:t>-   Contrast Enhancement: Contrast Limited Adaptive Histogram Equalization (CLAHE) improves local contrast and character visibility.</a:t>
            </a:r>
          </a:p>
          <a:p>
            <a:r>
              <a:t>-   Image Normalization: Pixel intensities are converted into normalized representations compatible with the trained MobileNetV3 backbone.</a:t>
            </a:r>
          </a:p>
          <a:p>
            <a:r>
              <a:t>Structural Stroke Feature Extraction:</a:t>
            </a:r>
          </a:p>
          <a:p>
            <a:r>
              <a:t>-   The proposed SGF-MobileNetV3 incorporates a dedicated stroke feature extraction process to capture structural characteristics of handwritten Telugu characters.</a:t>
            </a:r>
          </a:p>
          <a:p>
            <a:r>
              <a:t>-   Skeleton Extraction: Skeletonization generates thin representations of character strokes while preserving their principal structural patterns.</a:t>
            </a:r>
          </a:p>
          <a:p>
            <a:r>
              <a:t>-   Stroke-Width Extraction: Distance-transform operations produce normalized stroke-width maps to represent variations in handwritten stroke thickness.</a:t>
            </a:r>
          </a:p>
          <a:p>
            <a:r>
              <a:t>-   Edge Magnitude Extraction: Sobel gradient operators identify character boundaries and generate normalized edge magnitude maps.</a:t>
            </a:r>
          </a:p>
          <a:p>
            <a:r>
              <a:t>-   The three structural representations are combined into a three-channel stroke descriptor and supplied to the proposed model's stroke extraction branch.</a:t>
            </a:r>
          </a:p>
          <a:p>
            <a:r>
              <a:t>Training Data Augmentation:</a:t>
            </a:r>
          </a:p>
          <a:p>
            <a:r>
              <a:t>-   Training images undergo random rotation, scaling, translation, shear, morphological transformations, blur, resolution variation, and brightness and contrast adjustments.</a:t>
            </a:r>
          </a:p>
          <a:p>
            <a:r>
              <a:t>-   Augmentation introduces controlled handwriting variations to improve model generalization.</a:t>
            </a:r>
          </a:p>
          <a:p>
            <a:r>
              <a:t>-   Validation and testing images undergo deterministic preprocessing without random augmentation.</a:t>
            </a:r>
          </a:p>
          <a:p>
            <a:r>
              <a:t>-   A Weighted Random Sampler is utilized during training to reduce the effect of unequal character class distributions.</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Model Training</a:t>
            </a:r>
          </a:p>
          <a:p>
            <a:r>
              <a:t>MobileNetV3-Small Baseline Training Process:</a:t>
            </a:r>
          </a:p>
          <a:p>
            <a:r>
              <a:t>-   The baseline architecture utilizes a reduced-capacity MobileNetV3-Small backbone containing the initial feature extraction stages of the pretrained network.</a:t>
            </a:r>
          </a:p>
          <a:p>
            <a:r>
              <a:t>-   Input character images are processed through convolutional feature extraction layers to generate a 96-dimensional appearance representation.</a:t>
            </a:r>
          </a:p>
          <a:p>
            <a:r>
              <a:t>-   Adaptive Average Pooling converts the extracted feature maps into fixed-length feature vectors.</a:t>
            </a:r>
          </a:p>
          <a:p>
            <a:r>
              <a:t>-   The classification head contains a Dropout layer with a probability of 0.35 and a fully connected layer generating predictions across 76 Telugu character classes.</a:t>
            </a:r>
          </a:p>
          <a:p>
            <a:r>
              <a:t>-   The baseline model is trained using the AdamW optimizer with an initial learning rate of 0.001, weight decay of 0.0001, and batch size of 64.</a:t>
            </a:r>
          </a:p>
          <a:p>
            <a:r>
              <a:t>-   Label-smoothed Cross-Entropy Loss, OneCycle learning-rate scheduling, and validation-based early stopping are used during training.</a:t>
            </a:r>
          </a:p>
          <a:p>
            <a:r>
              <a:t>SGF-MobileNetV3 Training Process:</a:t>
            </a:r>
          </a:p>
          <a:p>
            <a:r>
              <a:t>-   The proposed Stroke-Gated Feature Fusion MobileNetV3 (SGF-MobileNetV3) integrates visual appearance feature extraction with a dedicated structural stroke branch.</a:t>
            </a:r>
          </a:p>
          <a:p>
            <a:r>
              <a:t>-   The appearance branch employs the full MobileNetV3-Small feature extraction backbone to generate a 576-dimensional appearance feature vector.</a:t>
            </a:r>
          </a:p>
          <a:p>
            <a:r>
              <a:t>-   The stroke branch processes skeleton maps, stroke-width representations, and edge magnitude information using convolutional layers.</a:t>
            </a:r>
          </a:p>
          <a:p>
            <a:r>
              <a:t>-   The stroke extraction network contains four convolutional blocks producing 16, 32, 64, and 128 feature channels, followed by Adaptive Average Pooling.</a:t>
            </a:r>
          </a:p>
          <a:p>
            <a:r>
              <a:t>-   The appearance and stroke representations are independently projected into a common 256-dimensional feature space using fully connected layers, Batch Normalization, and ReLU activation.</a:t>
            </a:r>
          </a:p>
          <a:p>
            <a:r>
              <a:t>-   An Adaptive Gated Feature Fusion Mechanism generates learnable gating weights through a sigmoid-activated neural layer.</a:t>
            </a:r>
          </a:p>
          <a:p>
            <a:r>
              <a:t>-   The gating mechanism dynamically combines the projected appearance and stroke features before classification.</a:t>
            </a:r>
          </a:p>
          <a:p>
            <a:r>
              <a:t>-   The fused representation is passed through a Dropout layer with a probability of 0.2 and a final classification layer containing 76 output neurons.</a:t>
            </a:r>
          </a:p>
          <a:p>
            <a:r>
              <a:t>-   SGF-MobileNetV3 is trained using AdamW with a learning rate of 0.001, weight decay of 0.0001, a batch size of 64, and label-smoothed Cross-Entropy Loss.</a:t>
            </a:r>
          </a:p>
          <a:p>
            <a:r>
              <a:t>-   Training is configured for a maximum of 30 epochs, with early stopping patience of seven epochs.</a:t>
            </a:r>
          </a:p>
          <a:p>
            <a:r>
              <a:t>-   Automatic mixed-precision training is enabled when compatible CUDA acceleration is available.</a:t>
            </a:r>
          </a:p>
          <a:p>
            <a:r>
              <a:t>-   The best-performing model parameters are retained based on validation accuracy, with validation loss used to resolve ties.</a:t>
            </a:r>
          </a:p>
          <a:p>
            <a:r>
              <a:t>4. Model Evaluation</a:t>
            </a:r>
          </a:p>
          <a:p>
            <a:r>
              <a:t>MobileNetV3-Small Baseline Evaluation:</a:t>
            </a:r>
          </a:p>
          <a:p>
            <a:r>
              <a:t>-   The baseline model is evaluated using the independent testing dataset containing 11,020 handwritten Telugu character images.</a:t>
            </a:r>
          </a:p>
          <a:p>
            <a:r>
              <a:t>-   Performance is measured using accuracy, macro precision, macro recall, macro F1-score, weighted F1-score, top-three accuracy, classification reports, and confusion matrices.</a:t>
            </a:r>
          </a:p>
          <a:p>
            <a:r>
              <a:t>-   MobileNetV3-Small achieves 90.74% classification accuracy, 89.97% macro precision, 92.31% macro recall, and 90.69% macro F1-score.</a:t>
            </a:r>
          </a:p>
          <a:p>
            <a:r>
              <a:t>-   The model also achieves 98.61% top-three accuracy, providing a reference for comparison with the proposed architecture.</a:t>
            </a:r>
          </a:p>
          <a:p>
            <a:r>
              <a:t>SGF-MobileNetV3 Evaluation:</a:t>
            </a:r>
          </a:p>
          <a:p>
            <a:r>
              <a:t>-   The proposed SGF-MobileNetV3 is evaluated using the same independent testing partition.</a:t>
            </a:r>
          </a:p>
          <a:p>
            <a:r>
              <a:t>-   The evaluation examines the effectiveness of combining appearance features and structural stroke representations through adaptive gated fusion.</a:t>
            </a:r>
          </a:p>
          <a:p>
            <a:r>
              <a:t>-   SGF-MobileNetV3 achieves 95.90% classification accuracy, 95.33% macro precision, 95.71% macro recall, and 95.34% macro F1-score.</a:t>
            </a:r>
          </a:p>
          <a:p>
            <a:r>
              <a:t>-   The proposed model also achieves 95.89% weighted F1-score and 99.48% top-three accuracy.</a:t>
            </a:r>
          </a:p>
          <a:p>
            <a:r>
              <a:t>-   Compared with the baseline model, SGF-MobileNetV3 improves classification accuracy by 5.16 percentage points.</a:t>
            </a:r>
          </a:p>
          <a:p>
            <a:r>
              <a:t>-   Class-wise evaluation and confusion matrices are generated to examine recognition performance across the Telugu character categories.</a:t>
            </a:r>
          </a:p>
          <a:p>
            <a:r>
              <a:t>Robustness Evaluation:</a:t>
            </a:r>
          </a:p>
          <a:p>
            <a:r>
              <a:t>-   Robustness testing is conducted using 3,000 selected test images, which are modified to simulate common image-upload variations.</a:t>
            </a:r>
          </a:p>
          <a:p>
            <a:r>
              <a:t>-   The simulated variations include additional image margins, random resizing, JPEG compression, and Gaussian blur.</a:t>
            </a:r>
          </a:p>
          <a:p>
            <a:r>
              <a:t>-   Under these conditions, the proposed SGF-MobileNetV3 achieves 90.63% recognition accuracy, compared with 85.10% accuracy for the baseline model.</a:t>
            </a:r>
          </a:p>
          <a:p>
            <a:r>
              <a:t>-   The evaluation demonstrates improved recognition performance for the proposed architecture under the tested image variations.</a:t>
            </a:r>
          </a:p>
          <a:p>
            <a:r>
              <a:t>Model Efficiency Evaluation:</a:t>
            </a:r>
          </a:p>
          <a:p>
            <a:r>
              <a:t>-   Computational efficiency is evaluated using model parameter count, stored model size, and CPU inference latency.</a:t>
            </a:r>
          </a:p>
          <a:p>
            <a:r>
              <a:t>-   The MobileNetV3-Small baseline contains approximately 0.1942 million parameters, with a model size of 0.859 MB and average CPU end-to-end latency of 14.78 milliseconds.</a:t>
            </a:r>
          </a:p>
          <a:p>
            <a:r>
              <a:t>-   The proposed SGF-MobileNetV3 contains approximately 1.4065 million parameters, with a model size of 5.7855 MB and CPU end-to-end latency of 18.22 milliseconds.</a:t>
            </a:r>
          </a:p>
          <a:p>
            <a:r>
              <a:t>-   The results demonstrate improved recognition accuracy with a moderate increase in computational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Deployment</a:t>
            </a:r>
          </a:p>
          <a:p>
            <a:r>
              <a:t>The selected SGF-MobileNetV3 model is integrated into a Flask-based web application named the Telugu Handwritten OCR System to support automated Telugu character recognition, character sequence processing, Unicode conversion, confidence analysis, structural stroke visualization, and downloadable recognition reports.</a:t>
            </a:r>
          </a:p>
          <a:p>
            <a:r>
              <a:t>-   Model Serialization: The trained model parameters are saved in PyTorch checkpoint format. The application loads best_model.pth and best_model_meta.json, or the supported checkpoint alternative, from the saved_models directory.</a:t>
            </a:r>
          </a:p>
          <a:p>
            <a:r>
              <a:t>-   Model Metadata: The saved metadata contains the model architecture name, image dimensions, class labels, stroke-feature configuration, and Telugu Unicode mappings required for prediction.</a:t>
            </a:r>
          </a:p>
          <a:p>
            <a:r>
              <a:t>-   Flask Application Integration: The application provides Registration, Login, Home, Prediction, Model Performance, About, and Logout pages.</a:t>
            </a:r>
          </a:p>
          <a:p>
            <a:r>
              <a:t>-   Multiple Recognition Modes: The prediction module supports Single Character Recognition, Word Recognition, and automatic recognition mode selection based on the submitted images.</a:t>
            </a:r>
          </a:p>
          <a:p>
            <a:r>
              <a:t>-   Character Recognition Module: Uploaded images undergo grayscale conversion, cropping, resizing, denoising, contrast enhancement, and stroke descriptor extraction before being passed to SGF-MobileNetV3.</a:t>
            </a:r>
          </a:p>
          <a:p>
            <a:r>
              <a:t>-   Word Recognition Module: Multiple individually cropped character images are processed in sequence, and their predicted Unicode symbols are combined into Telugu text. Dictionary-based correction is optionally applied.</a:t>
            </a:r>
          </a:p>
          <a:p>
            <a:r>
              <a:t>-   Unicode Conversion Module: Numerical classification outputs are mapped to Telugu Unicode symbols using the saved character mapping information.</a:t>
            </a:r>
          </a:p>
          <a:p>
            <a:r>
              <a:t>-   Confidence Analysis: The application generates character-wise confidence percentages, top-three alternative predictions, and uncertainty indicators.</a:t>
            </a:r>
          </a:p>
          <a:p>
            <a:r>
              <a:t>-   Stroke Visualization: Preprocessed character images, skeleton representations, stroke-width maps, and edge magnitude maps are generated for visualization.</a:t>
            </a:r>
          </a:p>
          <a:p>
            <a:r>
              <a:t>-   MySQL Database Integration: The Flask application connects to the MySQL BBR database for user registration and login. User credentials are stored in the users table, and Flask sessions control access to protected pages. The current implementation compares passwords directly; secure password hashing is required before production deployment.</a:t>
            </a:r>
          </a:p>
          <a:p>
            <a:r>
              <a:t>-   Model Performance Module: The application displays accuracy, precision, recall, F1-score, top-three accuracy, class-wise evaluation, robustness comparisons, model parameters, and inference latency using exported evaluation reports when available.</a:t>
            </a:r>
          </a:p>
          <a:p>
            <a:r>
              <a:t>-   Downloadable PDF Report: The ReportLab library is used to generate Telugu handwritten OCR reports containing recognition results, confidence scores, Unicode information, and character-wise prediction details.</a:t>
            </a:r>
          </a:p>
          <a:p>
            <a:r>
              <a:t>-   Temporary File Management: Uploaded character images are temporarily stored using unique filenames and deleted after processing. Generated visualization files and cached reports are periodically cleaned up.</a:t>
            </a:r>
          </a:p>
          <a:p>
            <a:r>
              <a:t>-   Hardware Compatibility: The application automatically selects CUDA execution when a compatible GPU is available and otherwise performs inference using the CPU.</a:t>
            </a:r>
          </a:p>
          <a:p>
            <a:r>
              <a:t>-   Error Handling: The application handles unsupported image formats, missing images, unreadable files, invalid recognition modes, missing model checkpoints, and prediction failures through informative messages.</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USER WORKFLOW</a:t>
            </a:r>
          </a:p>
          <a:p>
            <a:r>
              <a:t>The user workflow describes the complete interaction process, beginning with user registration and login and continuing through recognition mode selection, handwritten Telugu image upload, automated character classification, Unicode conversion, confidence analysis, word correction, model performance viewing, PDF report generation, and logout. The workflow provides a straightforward interface for accessing the proposed Telugu Handwritten Character Recognition System.</a:t>
            </a:r>
          </a:p>
          <a:p>
            <a:r>
              <a:t>1. User Registration</a:t>
            </a:r>
          </a:p>
          <a:p>
            <a:r>
              <a:t>New users access the registration page and provide their email address, password, and password confirmation. The Flask application verifies whether the required fields are completed and checks whether the password and confirmation password match. The application also queries the MySQL database to determine whether the submitted email address is already registered. If the registration information is valid, the user details are inserted into the database, and the user is redirected to the login page. Appropriate messages are displayed for missing information, password mismatches, and duplicate email registration. The current implementation uses direct password storage and comparison; password hashing and additional authentication security measures are necessary before production deployment.</a:t>
            </a:r>
          </a:p>
          <a:p>
            <a:r>
              <a:t>2. User Login</a:t>
            </a:r>
          </a:p>
          <a:p>
            <a:r>
              <a:t>Registered users access the login page and enter their email address and password.</a:t>
            </a:r>
          </a:p>
          <a:p>
            <a:r>
              <a:t>The Flask application validates the submitted credentials against the records stored in the MySQL database. If the credentials match, a Flask session is created, and the user is redirected to the home page.</a:t>
            </a:r>
          </a:p>
          <a:p>
            <a:r>
              <a:t>If incorrect credentials are submitted, the system displays an invalid credentials message. Session verification restricts access to the home and prediction pages. Users without an active session are redirected to the login page.</a:t>
            </a:r>
          </a:p>
          <a:p>
            <a:r>
              <a:t>3. Home Page and Recognition Mode Selection</a:t>
            </a:r>
          </a:p>
          <a:p>
            <a:r>
              <a:t>After successful authentication, users are redirected to the home page, which provides navigation to the application functionalities.</a:t>
            </a:r>
          </a:p>
          <a:p>
            <a:r>
              <a:t>The application supports three recognition mode options:</a:t>
            </a:r>
          </a:p>
          <a:p>
            <a:r>
              <a:t>-   Single Character Recognition: Allows users to upload one handwritten Telugu character image for classification using SGF-MobileNetV3.</a:t>
            </a:r>
          </a:p>
          <a:p>
            <a:r>
              <a:t>-   Word Recognition: Allows users to upload multiple individual character images in their intended reading order to construct a Telugu character sequence.</a:t>
            </a:r>
          </a:p>
          <a:p>
            <a:r>
              <a:t>-   Automatic Mode Selection: Automatically selects character recognition when one image is provided and word recognition when multiple images are submitted.</a:t>
            </a:r>
          </a:p>
          <a:p>
            <a:r>
              <a:t>The application also provides access to model performance information and project details.</a:t>
            </a:r>
          </a:p>
          <a:p>
            <a:r>
              <a:t>4. Telugu Handwritten Character Image Upload</a:t>
            </a:r>
          </a:p>
          <a:p>
            <a:r>
              <a:t>In Single Character Recognition mode, authenticated users upload an image containing an individual handwritten Telugu character. The application supports JPG, JPEG, PNG, BMP, WEBP, TIF, and TIFF file formats, with a maximum combined request size of 32 MB. The Flask backend validates the selected image extension and verifies that the uploaded file can be read.</a:t>
            </a:r>
          </a:p>
          <a:p>
            <a:r>
              <a:t>Valid images are temporarily stored using securely processed filenames combined with unique identifiers to avoid naming conflicts. The uploaded image undergoes grayscale conversion, polarity correction, ink-region cropping, square padding, resizing to 96 × 96 pixels, denoising, and CLAHE-based contrast enhancement. The preprocessed image is then supplied to the SGF-MobileNetV3 architecture for character classification.</a:t>
            </a:r>
          </a:p>
          <a:p>
            <a:r>
              <a:t>5. Multiple Character Upload for Word Recognition</a:t>
            </a:r>
          </a:p>
          <a:p>
            <a:r>
              <a:t>In Word Recognition mode, users upload multiple images representing individual Telugu handwritten characters.</a:t>
            </a:r>
          </a:p>
          <a:p>
            <a:r>
              <a:t>The application accepts a maximum of 40 character images for one recognition request. The selected images are processed in their submitted order. Users can also enable filename-based sorting to arrange the images in natural numerical order.</a:t>
            </a:r>
          </a:p>
          <a:p>
            <a:r>
              <a:t>Each image undergoes the same preprocessing and feature extraction operations used for single-character recognition. The trained SGF-MobileNetV3 model independently classifies each character image. The predicted Unicode characters are combined sequentially to generate the recognized Telugu text. This mode expects separate character images and does not automatically segment an entire handwritten word image into individual characters.</a:t>
            </a:r>
          </a:p>
          <a:p>
            <a:r>
              <a:t>6. SGF-MobileNetV3 Character Recognition</a:t>
            </a:r>
          </a:p>
          <a:p>
            <a:r>
              <a:t>After image preprocessing, the proposed SGF-MobileNetV3 processes the submitted character image using two complementary feature extraction branches.</a:t>
            </a:r>
          </a:p>
          <a:p>
            <a:r>
              <a:t>The MobileNetV3-Small appearance branch generates a 576-dimensional visual feature representation, while the structural stroke branch processes skeleton, stroke-width, and edge magnitude maps. The extracted features are projected into a shared representation space and combined through adaptive gated feature fusion. The final classification layer generates 76 character classification logits, which are converted into probabilities using Softmax activation.</a:t>
            </a:r>
          </a:p>
          <a:p>
            <a:r>
              <a:t>The prediction results include:</a:t>
            </a:r>
          </a:p>
          <a:p>
            <a:r>
              <a:t>-   Predicted Character: Displays the Telugu handwritten character identified by the model.</a:t>
            </a:r>
          </a:p>
          <a:p>
            <a:r>
              <a:t>-   Character Class: Displays the corresponding predicted class identifier.</a:t>
            </a:r>
          </a:p>
          <a:p>
            <a:r>
              <a:t>-   Character Group: Identifies the character as a vowel, consonant, or conjunct-related symbol.</a:t>
            </a:r>
          </a:p>
          <a:p>
            <a:r>
              <a:t>-   Telugu Unicode: Displays the recognized Telugu character in Unicode format.</a:t>
            </a:r>
          </a:p>
          <a:p>
            <a:r>
              <a:t>-   Unicode Code Points: Provides the corresponding Unicode representation.</a:t>
            </a:r>
          </a:p>
          <a:p>
            <a:r>
              <a:t>-   Prediction Confidence: Displays the highest classification probability as a percentage.</a:t>
            </a:r>
          </a:p>
          <a:p>
            <a:r>
              <a:t>-   Top-Three Predictions: Displays three possible character predictions with their associated probabilities.</a:t>
            </a:r>
          </a:p>
          <a:p>
            <a:r>
              <a:t>-   Prediction Status: Indicates whether the character is detected or uncertain based on the predefined 50% confidence threshold.</a:t>
            </a:r>
          </a:p>
          <a:p>
            <a:r>
              <a:t>7. Structural Stroke Visualization</a:t>
            </a:r>
          </a:p>
          <a:p>
            <a:r>
              <a:t>The proposed recognition system generates visual representations of the structural information used by SGF-MobileNetV3.</a:t>
            </a:r>
          </a:p>
          <a:p>
            <a:r>
              <a:t>The visualization module presents:</a:t>
            </a:r>
          </a:p>
          <a:p>
            <a:r>
              <a:t>-   Preprocessed Image: Displays the standardized handwritten character image supplied to the model.</a:t>
            </a:r>
          </a:p>
          <a:p>
            <a:r>
              <a:t>-   Skeleton Map: Illustrates the simplified structural arrangement of the handwritten strokes.</a:t>
            </a:r>
          </a:p>
          <a:p>
            <a:r>
              <a:t>-   Stroke-Width Map: Displays variations in character stroke thickness.</a:t>
            </a:r>
          </a:p>
          <a:p>
            <a:r>
              <a:t>-   Edge Magnitude Map: Highlights the boundaries and edges of the handwritten character.</a:t>
            </a:r>
          </a:p>
          <a:p>
            <a:r>
              <a:t>-   Gated Feature Information: Presents the relative contribution of appearance and structural stroke representations during character classification.</a:t>
            </a:r>
          </a:p>
          <a:p>
            <a:r>
              <a:t>These visualizations help users understand the structural characteristics considered during the recognition process. The gating values represent internal feature-fusion weights rather than independently validated explanations of model decisions.</a:t>
            </a:r>
          </a:p>
          <a:p>
            <a:r>
              <a:t>8. Telugu Unicode Conversion and Word Correction</a:t>
            </a:r>
          </a:p>
          <a:p>
            <a:r>
              <a:t>After character classification, the system converts predicted numerical class identifiers into their corresponding Telugu Unicode characters. For Single Character Recognition, the predicted Unicode symbol is directly displayed.</a:t>
            </a:r>
          </a:p>
          <a:p>
            <a:r>
              <a:t>The system then applies dictionary-based correction using akshara-level edit distance.</a:t>
            </a:r>
          </a:p>
          <a:p>
            <a:r>
              <a:t>The correction process includes:</a:t>
            </a:r>
          </a:p>
          <a:p>
            <a:r>
              <a:t>-   Raw Text Generation: Combines the recognized Unicode characters into a Telugu sequence.</a:t>
            </a:r>
          </a:p>
          <a:p>
            <a:r>
              <a:t>-   Akshara Splitting: Divides the recognized text into Telugu akshara units.</a:t>
            </a:r>
          </a:p>
          <a:p>
            <a:r>
              <a:t>-   Dictionary Comparison: Compares the recognized sequence with stored dictionary words.</a:t>
            </a:r>
          </a:p>
          <a:p>
            <a:r>
              <a:t>-   Edit-Distance Calculation: Measures the differences between recognized and dictionary sequences.</a:t>
            </a:r>
          </a:p>
          <a:p>
            <a:r>
              <a:t>-   Word Correction: Selects a matching dictionary word when the calculated distance falls within the permitted threshold.</a:t>
            </a:r>
          </a:p>
          <a:p>
            <a:r>
              <a:t>-   Final Text Generation: Displays the corrected Telugu word or retains the original prediction when no suitable match is identified.</a:t>
            </a:r>
          </a:p>
          <a:p>
            <a:r>
              <a:t>The system also displays whether dictionary correction was applied and the corresponding edit distance.</a:t>
            </a:r>
          </a:p>
          <a:p>
            <a:r>
              <a:t>9. Recognition Result Display</a:t>
            </a:r>
          </a:p>
          <a:p>
            <a:r>
              <a:t>After completing prediction, the application displays the character recognition results along with confidence and processing information. For Single Character Recognition, the output includes the predicted Telugu character, confidence percentage, character class, Unicode representation, alternative predictions, and structural stroke visualization.</a:t>
            </a:r>
          </a:p>
          <a:p>
            <a:r>
              <a:t>Additional recognition details include:</a:t>
            </a:r>
          </a:p>
          <a:p>
            <a:r>
              <a:t>-   Number of Characters: Displays the total number of processed character images.</a:t>
            </a:r>
          </a:p>
          <a:p>
            <a:r>
              <a:t>-   Mean Confidence: Presents the average confidence percentage across all recognized characters.</a:t>
            </a:r>
          </a:p>
          <a:p>
            <a:r>
              <a:t>-   Minimum Confidence: Displays the lowest character prediction confidence.</a:t>
            </a:r>
          </a:p>
          <a:p>
            <a:r>
              <a:t>-   Uncertain Positions: Identifies characters having confidence below the predefined threshold.</a:t>
            </a:r>
          </a:p>
          <a:p>
            <a:r>
              <a:t>-   Dictionary Correction Details: Indicates whether a dictionary match was identified and correction was performed.</a:t>
            </a:r>
          </a:p>
          <a:p>
            <a:r>
              <a:t>-   Inference Time: Displays the processing duration of the recognition request.</a:t>
            </a:r>
          </a:p>
          <a:p>
            <a:r>
              <a:t>-   Recognition Warning: Advises users to verify important Telugu text because machine-generated predictions may contain errors.</a:t>
            </a:r>
          </a:p>
          <a:p>
            <a:r>
              <a:t>The application presents these outputs to support interpretation and verification of recognition results.</a:t>
            </a:r>
          </a:p>
          <a:p>
            <a:r>
              <a:t>10. Home Page and Model Performance</a:t>
            </a:r>
          </a:p>
          <a:p>
            <a:r>
              <a:t>The home page provides navigation to the available Telugu handwritten character recognition functionalities.</a:t>
            </a:r>
          </a:p>
          <a:p>
            <a:r>
              <a:t>The Model Performance page presents the experimental evaluation results of the MobileNetV3-Small baseline and proposed SGF-MobileNetV3.</a:t>
            </a:r>
          </a:p>
          <a:p>
            <a:r>
              <a:t>The displayed performance information includes:</a:t>
            </a:r>
          </a:p>
          <a:p>
            <a:r>
              <a:t>-   Classification accuracy.</a:t>
            </a:r>
          </a:p>
          <a:p>
            <a:r>
              <a:t>-   Macro precision and macro recall.</a:t>
            </a:r>
          </a:p>
          <a:p>
            <a:r>
              <a:t>-   Macro F1-score and weighted F1-score.</a:t>
            </a:r>
          </a:p>
          <a:p>
            <a:r>
              <a:t>-   Top-three classification accuracy.</a:t>
            </a:r>
          </a:p>
          <a:p>
            <a:r>
              <a:t>-   Character-group recognition accuracy.</a:t>
            </a:r>
          </a:p>
          <a:p>
            <a:r>
              <a:t>-   Available class-wise classification reports.</a:t>
            </a:r>
          </a:p>
          <a:p>
            <a:r>
              <a:t>-   Model parameter count and stored model size.</a:t>
            </a:r>
          </a:p>
          <a:p>
            <a:r>
              <a:t>-   CPU inference latency.</a:t>
            </a:r>
          </a:p>
          <a:p>
            <a:r>
              <a:t>-   Clean-image and simulated-upload robustness comparison.</a:t>
            </a:r>
          </a:p>
          <a:p>
            <a:r>
              <a:t>-   Training and testing dataset information.</a:t>
            </a:r>
          </a:p>
          <a:p>
            <a:r>
              <a:t>The proposed SGF-MobileNetV3 achieves 95.90% classification accuracy and 95.34% macro F1-score, outperforming the MobileNetV3-Small baseline, which achieves 90.74% accuracy and 90.69% macro F1-score.</a:t>
            </a:r>
          </a:p>
          <a:p>
            <a:r>
              <a:t>The application retrieves evaluation results from exported CSV and JSON reports when available. Built-in performance values are used as fallbacks if the corresponding reports cannot be loaded.</a:t>
            </a:r>
          </a:p>
          <a:p>
            <a:r>
              <a:t>The application also provides an About page containing project information.</a:t>
            </a:r>
          </a:p>
          <a:p>
            <a:r>
              <a:t>11. Downloadable Telugu OCR Recognition Report</a:t>
            </a:r>
          </a:p>
          <a:p>
            <a:r>
              <a:t>After successful character or word recognition, the application can generate a downloadable PDF report using the ReportLab library. The generated report contains the recognized Telugu character or text sequence, confidence scores, character classification information, and recognition details.</a:t>
            </a:r>
          </a:p>
          <a:p>
            <a:r>
              <a:t>The PDF report includes:</a:t>
            </a:r>
          </a:p>
          <a:p>
            <a:r>
              <a:t>-   Recognition Summary: Displays the recognition mode, model name, recognized text, and prediction status.</a:t>
            </a:r>
          </a:p>
          <a:p>
            <a:r>
              <a:t>-   Telugu Unicode Information: Presents the predicted Unicode symbols or corresponding Unicode code points.</a:t>
            </a:r>
          </a:p>
          <a:p>
            <a:r>
              <a:t>-   Confidence Information: Displays mean and minimum confidence percentages.</a:t>
            </a:r>
          </a:p>
          <a:p>
            <a:r>
              <a:t>-   Character Images: Includes the preprocessed character images used for recognition.</a:t>
            </a:r>
          </a:p>
          <a:p>
            <a:r>
              <a:t>-   Character-Wise Results: Displays individual character predictions, classification groups, Unicode information, and confidence scores.</a:t>
            </a:r>
          </a:p>
          <a:p>
            <a:r>
              <a:t>-   Alternative Predictions: Lists the next most probable character classes and their confidence percentages.</a:t>
            </a:r>
          </a:p>
          <a:p>
            <a:r>
              <a:t>-   Dictionary Correction: Provides raw and corrected text information when word recognition is performed.</a:t>
            </a:r>
          </a:p>
          <a:p>
            <a:r>
              <a:t>-   Inference Time: Displays the recognition processing duration.</a:t>
            </a:r>
          </a:p>
          <a:p>
            <a:r>
              <a:t>-   Recognition Warning: Indicates that generated Telugu text should be verified before important use.</a:t>
            </a:r>
          </a:p>
          <a:p>
            <a:r>
              <a:t>Generated reports are stored using unique identifiers in a dedicated report directory. Authenticated users can download available reports through the application's report download functionality. The system periodically removes older generated reports to manage storage utilization. PDF generation depends on the availability of the ReportLab library and successful report processing.</a:t>
            </a:r>
          </a:p>
          <a:p>
            <a:r>
              <a:t>12. User Logout</a:t>
            </a:r>
          </a:p>
          <a:p>
            <a:r>
              <a:t>Users can terminate their authenticated session by selecting the Logout option from the application interface. The Flask application clears the stored session information and redirects the user to the login page. After logout, users must authenticate again before accessing protected pages such as the home and prediction modules. The overall user workflow provides an integrated interface for Telugu handwritten image upload, SGF-MobileNetV3 character classification, structural stroke visualization, Unicode-based text generation, dictionary correction, model performance analysis, and downloadable recognition reports.</a:t>
            </a:r>
          </a:p>
          <a:p>
            <a:r>
              <a:t>OUTPUT SCREENS</a:t>
            </a:r>
          </a:p>
          <a:p>
            <a:r>
              <a:t>Home Page: Home Page introduces the Telugu Handwritten Character Recognition System using SGF-MobileNetV3, highlighting its stroke-aware deep learning approach. It displays project statistics, model accuracy, and the process of converting handwritten Telugu characters into digital Unicode text.</a:t>
            </a:r>
          </a:p>
          <a:p>
            <a:r>
              <a:t>Figure 12 home page</a:t>
            </a:r>
          </a:p>
          <a:p>
            <a:r>
              <a:t>About page: The About Page provides an overview of the Telugu Handwritten OCR System, including dataset preparation, preprocessing, model architectures, Unicode conversion, and dictionary-based correction. It explains the working process and highlights the MobileNetV3-Small baseline and proposed SGF-MobileNetV3 models.</a:t>
            </a:r>
          </a:p>
          <a:p>
            <a:r>
              <a:t>Register Page: The Registration Page allows new users to create an account by entering their email address, password, and password confirmation. It validates the entered details and stores user information in the MySQL database for future authentication.</a:t>
            </a:r>
          </a:p>
          <a:p>
            <a:r>
              <a:t>Figure 13 registration page</a:t>
            </a:r>
          </a:p>
          <a:p>
            <a:r>
              <a:t>Login Page: Login Page allows registered users to securely access the Telugu Handwritten Character Recognition System by entering their email address and password.</a:t>
            </a:r>
          </a:p>
          <a:p>
            <a:r>
              <a:t>Figure 14 login page</a:t>
            </a:r>
          </a:p>
          <a:p>
            <a:r>
              <a:t>Dashboard Page:</a:t>
            </a:r>
          </a:p>
          <a:p>
            <a:r>
              <a:t>Dashboard Page displays the user's welcome message, dataset statistics, character classes, model accuracy, and navigation options for handwriting recognition, model performance, and project information.</a:t>
            </a:r>
          </a:p>
          <a:p>
            <a:r>
              <a:t>Figure 15 Dashboard SECTION</a:t>
            </a:r>
          </a:p>
          <a:p>
            <a:r>
              <a:t>Model Page:</a:t>
            </a:r>
          </a:p>
          <a:p>
            <a:r>
              <a:t>Model Performance Page displays the evaluation results of the proposed SGF-MobileNetV3, achieving 95.90% accuracy, 99.48% top-3 accuracy, and 95.34% macro F1-score. It also provides a comparative analysis of SGF-MobileNetV3 and the MobileNetV3-Small baseline, including accuracy, precision, recall, F1-score, model size, and inference time.</a:t>
            </a:r>
          </a:p>
          <a:p>
            <a:r>
              <a:t>Prediction Page:</a:t>
            </a:r>
          </a:p>
          <a:p>
            <a:r>
              <a:t>Prediction Page allows users to upload handwritten Telugu character images for recognition using the proposed SGF-MobileNetV3 model. The system displays the recognized Telugu character, confidence percentage, character category, and inference time after processing the uploaded image. It also provides prediction details, structural stroke visualizations, and a downloadable PDF report containing the recognition results.</a:t>
            </a:r>
          </a:p>
          <a:p>
            <a:r>
              <a:t>Figure 16 Image Detection page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OUTPUT SCREENS</a:t>
            </a:r>
          </a:p>
          <a:p>
            <a:r>
              <a:t>Home Page: Home Page introduces the Telugu Handwritten Character Recognition System using SGF-MobileNetV3, highlighting its stroke-aware deep learning approach. It displays project statistics, model accuracy, and the process of converting handwritten Telugu characters into digital Unicode text.</a:t>
            </a:r>
          </a:p>
          <a:p>
            <a:r>
              <a:t>Figure 12 home page</a:t>
            </a:r>
          </a:p>
          <a:p>
            <a:r>
              <a:t>About page: The About Page provides an overview of the Telugu Handwritten OCR System, including dataset preparation, preprocessing, model architectures, Unicode conversion, and dictionary-based correction. It explains the working process and highlights the MobileNetV3-Small baseline and proposed SGF-MobileNetV3 models.</a:t>
            </a:r>
          </a:p>
          <a:p>
            <a:r>
              <a:t>Register Page: The Registration Page allows new users to create an account by entering their email address, password, and password confirmation. It validates the entered details and stores user information in the MySQL database for future authentication.</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13 registration page</a:t>
            </a:r>
          </a:p>
          <a:p>
            <a:r>
              <a:t>Login Page: Login Page allows registered users to securely access the Telugu Handwritten Character Recognition System by entering their email address and password.</a:t>
            </a:r>
          </a:p>
          <a:p>
            <a:r>
              <a:t>Figure 14 login page</a:t>
            </a:r>
          </a:p>
          <a:p>
            <a:r>
              <a:t>Dashboard Page:</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Dashboard Page displays the user's welcome message, dataset statistics, character classes, model accuracy, and navigation options for handwriting recognition, model performance, and project information.</a:t>
            </a:r>
          </a:p>
          <a:p>
            <a:r>
              <a:t>Figure 15 Dashboard SECTION</a:t>
            </a:r>
          </a:p>
          <a:p>
            <a:r>
              <a:t>Model Page:</a:t>
            </a:r>
          </a:p>
          <a:p>
            <a:r>
              <a:t>Model Performance Page displays the evaluation results of the proposed SGF-MobileNetV3, achieving 95.90% accuracy, 99.48% top-3 accuracy, and 95.34% macro F1-score. It also provides a comparative analysis of SGF-MobileNetV3 and the MobileNetV3-Small baseline, including accuracy, precision, recall, F1-score, model size, and inference time.</a:t>
            </a:r>
          </a:p>
          <a:p>
            <a:r>
              <a:t>Prediction Page:</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Prediction Page allows users to upload handwritten Telugu character images for recognition using the proposed SGF-MobileNetV3 model. The system displays the recognized Telugu character, confidence percentage, character category, and inference time after processing the uploaded image. It also provides prediction details, structural stroke visualizations, and a downloadable PDF report containing the recognition results.</a:t>
            </a:r>
          </a:p>
          <a:p>
            <a:r>
              <a:t>Figure 16 Image Detection page</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7.3 SYSTEM STUDY AND TESTING</a:t>
            </a:r>
          </a:p>
          <a:p>
            <a:r>
              <a:t>The system study and testing phase evaluates the functionality, reliability, and performance of the proposed Telugu Handwritten Character Recognition System using Stroke-Gated Feature Fusion MobileNetV3 (SGF-MobileNetV3). The testing process focuses on image preprocessing, Telugu character classification, structural stroke feature extraction, adaptive gated feature fusion, Unicode conversion, dictionary-based word correction, prediction confidence analysis, and Flask-based application functionalities. Different testing approaches, including unit testing, integration testing, functional testing, white box testing, and black box testing, are considered to examine individual components and their interactions. The recognition framework utilizes a Telugu handwritten character dataset containing 73,463 selected images across 76 character classes, divided into 51,423 training, 11,020 validation, and 11,020 testing images. The system implements a reduced-capacity MobileNetV3-Small baseline and the proposed SGF-MobileNetV3 architecture. Classification performance is evaluated using accuracy, precision, recall, F1-score, top-three accuracy, classification reports, confusion matrices, and robustness testing. The recorded experiments demonstrate that SGF-MobileNetV3 achieves 95.90% test accuracy and 95.34% macro F1-score, outperforming the MobileNetV3-Small baseline, which achieves 90.74% accuracy. The application testing scope includes user registration, login, character image uploading, word recognition, image validation, confidence calculation, structural stroke visualization, Unicode conversion, dictionary correction, model performance reporting, PDF generation, and logout. These evaluations help identify system limitations and assess its suitability for Telugu handwritten character recognition.</a:t>
            </a:r>
          </a:p>
          <a:p>
            <a:r>
              <a:t>7.3.1 FEASIBILITY STUDY</a:t>
            </a:r>
          </a:p>
          <a:p>
            <a:r>
              <a:t>The feasibility study examines the technical, operational, and economic viability of the proposed Telugu Handwritten Character Recognition System. Technical feasibility is supported by the availability of Python, PyTorch, Torchvision, OpenCV, Scikit-learn, Scikit-image, NumPy, Flask, ReportLab, and MySQL for implementing deep learning models, image preprocessing, structural feature extraction, and application functionalities. The recognition component employs a reduced-capacity MobileNetV3-Small as the baseline architecture and the proposed SGF-MobileNetV3 for automated Telugu character classification. SGF-MobileNetV3 integrates visual appearance feature extraction, character skeleton analysis, stroke-width estimation, edge magnitude extraction, and adaptive gated feature fusion to improve recognition performance. The system processes handwritten character images standardized to 96 × 96 pixels and classifies them into 76 Telugu character classes. CUDA-based GPU acceleration supports computationally intensive model training and inference, while CPU compatibility enables execution without dedicated GPU hardware, although processing time may increase. Operational feasibility is supported by a Flask-based application that allows registered users to upload handwritten Telugu character images, select Single Character Recognition or Word Recognition, and obtain Unicode predictions, confidence scores, alternative character predictions, structural stroke visualizations, and downloadable PDF reports. MySQL supports user registration and login, while dictionary-based correction assists in processing ordered character sequences. Economic feasibility is supported by open-source development frameworks, the available handwritten character dataset, and existing computing infrastructure. Additional GPU resources may improve training efficiency but are not mandatory for CPU-based inference. The modular architecture supports model updates, reusable preprocessing components, and future improvements. The framework is technically feasible as a research prototype, while production deployment requires stronger authentication security, comprehensive application testing, and further validation using independently collected handwritten character and word datasets.</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7.3.2 TYPES OF TESTING</a:t>
            </a:r>
          </a:p>
          <a:p>
            <a:r>
              <a:t>7.3.2.1 UNIT TESTING</a:t>
            </a:r>
          </a:p>
          <a:p>
            <a:r>
              <a:t>Unit testing focuses on validating individual components of the proposed Telugu Handwritten Character Recognition System. The image preprocessing module is examined for grayscale conversion, polarity correction, ink-region cropping, resizing to 96 × 96 pixels, noise removal, and CLAHE-based contrast enhancement. The structural stroke extraction module is assessed for generating valid skeleton representations, normalized stroke-width maps, and edge magnitude maps. The MobileNetV3-Small baseline is examined to verify its appearance feature extraction process and generation of 76-class character classification outputs. The proposed SGF-MobileNetV3 architecture is reviewed to validate the appearance feature extraction branch, dedicated stroke branch, feature projection layers, and adaptive gated fusion mechanism. The appearance branch generates a 576-dimensional representation, while the stroke branch produces a 128-dimensional structural feature vector. Both representations are projected into a common 256-dimensional feature space before gated fusion. The fusion module is examined to ensure that the sigmoid gating mechanism generates weights between 0 and 1 and combines appearance and stroke representations correctly. The Softmax classification module is checked for generating valid character probabilities. Additional unit-testing scenarios cover Telugu Unicode mapping, top-three alternative predictions, confidence calculation, uncertainty identification using the 50% threshold, akshara-level dictionary correction, image file validation, database functions, and PDF report generation. These checks define the unit-testing scope; separate automated unit-test execution results are not provided in the uploaded project files.</a:t>
            </a:r>
          </a:p>
          <a:p>
            <a:r>
              <a:t>7.3.2.2 INTEGRATION TESTING</a:t>
            </a:r>
          </a:p>
          <a:p>
            <a:r>
              <a:t>Integration testing evaluates the interaction between different modules of the proposed Telugu handwritten character recognition system. The image preprocessing and model inference components are examined to verify that uploaded character images are converted into standardized representations before being supplied to SGF-MobileNetV3. The integration between the MobileNetV3-Small appearance branch and the structural stroke branch is assessed through the adaptive gated feature fusion pipeline. The appearance branch extracts visual features, while the stroke branch processes character skeletons, stroke-width maps, and edge magnitude information. The resulting representations are projected into a common feature space and combined through learnable gating weights before final classification. The Telugu Unicode conversion module is integrated with the classification output to transform predicted class identifiers into readable Telugu symbols. In Word Recognition mode, multiple independently recognized characters are combined into a text sequence and passed through the dictionary-based correction module. The Flask application integrates these prediction operations with image upload processing, confidence calculation, result presentation, and structural stroke visualization. MySQL supports user authentication, while ReportLab supports downloadable PDF report generation. Integration testing also considers model checkpoint loading, metadata compatibility, session verification, temporary file deletion, and appropriate error handling when required model files are unavailable. The uploaded code implements these module connections, while formal end-to-end integration test execution remains necessary to establish their reliability under different deployment conditions.</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7.3.2.4 WHITE BOX TESTING</a:t>
            </a:r>
          </a:p>
          <a:p>
            <a:r>
              <a:t>White box testing examines the internal logic, algorithms, conditional operations, and source-code structure of the proposed Telugu Handwritten Character Recognition System. The image preprocessing implementation is reviewed to verify grayscale conversion, polarity correction, ink-region cropping, resizing, denoising, and CLAHE-based contrast enhancement. The structural feature extraction functions are examined to validate skeletonization, distance-transform-based stroke-width calculation, and Sobel-based edge magnitude generation. The MobileNetV3-Small baseline architecture is analyzed to verify convolutional feature extraction, Adaptive Average Pooling, Dropout, and character classification layers. The proposed SGF-MobileNetV3 is examined to validate the full MobileNetV3-Small appearance backbone, dedicated stroke extraction network, feature projection layers, and sigmoid-based adaptive gated feature fusion. The model training implementation is reviewed for AdamW optimization, Cross-Entropy Loss with label smoothing, OneCycle learning-rate scheduling, class-balanced sampling, data augmentation, and validation-based early stopping. The inference implementation is examined to verify Softmax probability generation, class selection, top-three prediction ranking, Unicode mapping, and uncertainty identification. Dictionary-based correction is reviewed for Telugu akshara segmentation, edit-distance calculation, and correction threshold handling. The Flask backend is inspected for authentication, image validation, recognition mode selection, model loading, file storage, result generation, PDF creation, and temporary file cleanup. Database operations, conditional branches, exception handling, and session management are also examined. Source-code inspection identifies security limitations, including plaintext password storage, a hardcoded Flask secret key, and enabled development debug mode. These concerns require correction before public deployment. Code inspection supports identification of implementation risks but does not replace automated white box testing.</a:t>
            </a:r>
          </a:p>
          <a:p>
            <a:r>
              <a:t>7.3.2.5 BLACK BOX TESTING</a:t>
            </a:r>
          </a:p>
          <a:p>
            <a:r>
              <a:t>Black box testing evaluates the proposed Telugu Handwritten Character Recognition System from the user's perspective without examining its internal source code. Users interact with the application through Registration, Login, Home, Prediction, Model Performance, Report Download, About, and Logout interfaces. Registration and login are examined using valid and invalid credentials to verify authentication behavior, session handling, and error messages. The Single Character Recognition interface is tested using supported handwritten Telugu character images to examine whether the application displays the predicted character, Unicode representation, confidence percentage, alternative predictions, and structural stroke visualizations. Unsupported image formats, corrupted images, empty uploads, and oversized requests are included in negative testing scenarios. Word Recognition functionality is examined using multiple individual character images to verify sequential character processing, Unicode text generation, and dictionary-based correction. The recognition interface is checked for rejecting requests containing more than 40 character images and for identifying invalid prediction modes. Confidence-based prediction status is examined using high-confidence and low-confidence outputs to verify detected and uncertain classifications. The Model Performance page is examined for presenting the available experimental results of MobileNetV3-Small and SGF-MobileNetV3, including classification accuracy, F1-score, robustness comparisons, and inference latency. The PDF reporting functionality is examined to verify that generated reports contain appropriate character predictions, Unicode information, confidence scores, and correction details. Black box testing should additionally assess processing time, browser compatibility, navigation, missing-model behavior, and the clarity of Telugu character rendering. These scenarios help determine whether the application meets its usability and functional requirements; comprehensive execution records are not included in the current project files.</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7.3.2.6 TEST OBJECTIVES</a:t>
            </a:r>
          </a:p>
          <a:p>
            <a:r>
              <a:t>The primary objective of testing is to evaluate the accuracy, reliability, functionality, usability, and integration performance of the proposed Telugu Handwritten Character Recognition System using SGF-MobileNetV3. The testing process aims to verify the recognition of handwritten Telugu characters belonging to Achulu, Hallulu, Guninthamulu, and Othulu categories using the MobileNetV3-Small baseline and proposed SGF-MobileNetV3 architecture. Classification performance is assessed using accuracy, precision, recall, macro F1-score, weighted F1-score, top-three accuracy, classification reports, and confusion matrices. Additional objectives include validating image preprocessing, structural stroke extraction, appearance-based feature learning, adaptive gated feature fusion, and Unicode-based character classification. The model evaluation process examines the effectiveness of combining character appearance with skeleton, stroke-width, and edge magnitude representations. The proposed SGF-MobileNetV3 achieves 95.90% test accuracy and 95.34% macro F1-score, compared with 90.74% accuracy and 90.69% macro F1-score for the baseline. Robustness testing evaluates recognition performance under simulated image-upload variations, including resizing, added margins, compression, and blur. Under these conditions, SGF-MobileNetV3 achieves 90.63% recognition accuracy, compared with 85.10% for the baseline. Computational evaluation examines parameter count, stored model size, and CPU inference latency to understand the trade-off between recognition performance and efficiency. The application testing process also aims to assess registration, login authentication, character image uploading, recognition mode selection, Unicode conversion, confidence calculation, alternative predictions, word correction, model loading, MySQL connectivity, session handling, structural visualization, PDF report generation, and temporary file management. Security testing should identify vulnerabilities related to credential storage, session configuration, file handling, and deployment settings. Performance and usability testing help identify processing limitations and application-related issues. The overall objective is to verify the intended functionalities, identify implementation errors, and determine the framework's readiness for research and demonstration use. The recorded model evaluation results establish character-level classification performance on the available testing dataset; however, comprehensive application testing and further validation using complete handwritten words, document images, and independently collected handwriting samples remain necessary.</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Character Classification Results</a:t>
            </a:r>
          </a:p>
          <a:p>
            <a:r>
              <a:t>The MobileNetV3-Small baseline and proposed SGF-MobileNetV3 are evaluated using the same testing dataset.</a:t>
            </a:r>
          </a:p>
          <a:p>
            <a:r>
              <a:t>Table 6.2. Model Performance Comparison</a:t>
            </a:r>
          </a:p>
          <a:p>
            <a:r>
              <a:t>Evaluation Metric   MobileNetV3-Small    SGF-MobileNetV3</a:t>
            </a:r>
          </a:p>
          <a:p>
            <a:r>
              <a:t>Accuracy                90.74%                   95.90%</a:t>
            </a:r>
          </a:p>
          <a:p>
            <a:r>
              <a:t>Macro Precision         89.97%                   95.33%</a:t>
            </a:r>
          </a:p>
          <a:p>
            <a:r>
              <a:t>Macro Recall            92.31%                   95.71%</a:t>
            </a:r>
          </a:p>
          <a:p>
            <a:r>
              <a:t>Macro F1-score          90.69%                   95.34%</a:t>
            </a:r>
          </a:p>
          <a:p>
            <a:r>
              <a:t>Weighted F1-score       90.89%                   95.89%</a:t>
            </a:r>
          </a:p>
          <a:p>
            <a:r>
              <a:t>Top-3 Accuracy          98.61%                   99.48%</a:t>
            </a:r>
          </a:p>
          <a:p>
            <a:r>
              <a:t>The proposed SGF-MobileNetV3 achieves the highest classification accuracy of 95.90%, representing an improvement of 5.16 percentage points compared with the reduced-capacity MobileNetV3-Small baseline.</a:t>
            </a:r>
          </a:p>
          <a:p>
            <a:r>
              <a:t>Class-wise classification reports and normalized confusion matrices are generated to examine recognition performance across different Telugu character categories. Additional analysis identifies frequently confused characters and compares recognition performance for Achulu, Hallulu, Guninthamulu, and Othulu.</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Robustness Evaluation</a:t>
            </a:r>
          </a:p>
          <a:p>
            <a:r>
              <a:t>Robustness testing is performed using 3,000 selected test images. The images are modified to simulate variations such as additional margins, random resizing, JPEG compression, and Gaussian blur.</a:t>
            </a:r>
          </a:p>
          <a:p>
            <a:r>
              <a:t>Table 6.3. Robustness Evaluation Results</a:t>
            </a:r>
          </a:p>
          <a:p>
            <a:r>
              <a:t>Model               Clean Images   Simulated Upload Images</a:t>
            </a:r>
          </a:p>
          <a:p>
            <a:r>
              <a:t>MobileNetV3-Small       90.67%             85.10%</a:t>
            </a:r>
          </a:p>
          <a:p>
            <a:r>
              <a:t>SGF-MobileNetV3         96.07%         90.63%</a:t>
            </a:r>
          </a:p>
          <a:p>
            <a:r>
              <a:t>The results indicate that the proposed model maintains higher classification accuracy than the baseline under the simulated image variations.</a:t>
            </a:r>
          </a:p>
          <a:p>
            <a:r>
              <a:t>Model Efficiency Evaluation</a:t>
            </a:r>
          </a:p>
          <a:p>
            <a:r>
              <a:t>Computational performance is assessed using model parameter count, stored model size, and average CPU inference latency.</a:t>
            </a:r>
          </a:p>
          <a:p>
            <a:r>
              <a:t>Table 6.4. Model Efficiency Comparison</a:t>
            </a:r>
          </a:p>
          <a:p>
            <a:r>
              <a:t>Parameter               MobileNetV3-Small   SGF-MobileNetV3</a:t>
            </a:r>
          </a:p>
          <a:p>
            <a:r>
              <a:t>Parameters                  0.1942 million          1.4065 million</a:t>
            </a:r>
          </a:p>
          <a:p>
            <a:r>
              <a:t>Model Size                  0.859 MB                5.7855 MB</a:t>
            </a:r>
          </a:p>
          <a:p>
            <a:r>
              <a:t>CPU End-to-End Latency      14.78 ms                18.22 ms</a:t>
            </a:r>
          </a:p>
          <a:p>
            <a:r>
              <a:t>The proposed model provides improved classification accuracy at the cost of a larger parameter count and slightly higher inference latency.</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 RESULT AND ANALYSIS</a:t>
            </a:r>
          </a:p>
          <a:p>
            <a:r>
              <a:t>MobileNetv3 small and SGF-MobileNetv3 models :</a:t>
            </a:r>
          </a:p>
          <a:p>
            <a:r>
              <a:t>Training curves</a:t>
            </a:r>
          </a:p>
          <a:p>
            <a:r>
              <a:t>Confusion mtarix</a:t>
            </a:r>
          </a:p>
          <a:p>
            <a:r>
              <a:t>most confused pairs</a:t>
            </a:r>
          </a:p>
          <a:p>
            <a:r>
              <a:t>Performance comparison</a:t>
            </a:r>
          </a:p>
          <a:p>
            <a:r>
              <a:t>The above figures present the training performance, normalized confusion matrices, classification errors, and comparative evaluation of the MobileNetV3-Small baseline and proposed SGF-MobileNetV3 models for Telugu handwritten character recognition. The training and validation loss curves demonstrate a consistent reduction in loss across 30 epochs, with SGF-MobileNetV3 achieving lower loss and higher validation accuracy than the baseline model. The accuracy curves indicate that the proposed model learns character patterns more effectively, while the OneCycle learning-rate scheduler gradually adjusts the learning rate to support model convergence. The normalized confusion matrices show a strong diagonal distribution for both models, indicating correct classification across most Telugu character classes. However, SGF-MobileNetV3 exhibits fewer off-diagonal errors, demonstrating improved recognition of visually similar characters. The most frequent confusion analysis further highlights a reduction in character misclassification errors compared with the baseline. The comparative performance graph demonstrates that SGF-MobileNetV3 achieves 95.90% accuracy, 95.33% macro precision, 95.71% macro recall, and 95.34% macro F1-score, whereas the baseline achieves 90.74% accuracy, 89.97% macro precision, 92.31% macro recall, and 90.69% macro F1-score. Overall, the experimental results demonstrate that integrating appearance features with structural stroke information through adaptive gated feature fusion improves Telugu handwritten character recognition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 RESULT AND ANALYSIS</a:t>
            </a:r>
          </a:p>
          <a:p>
            <a:r>
              <a:t>MobileNetv3 small and SGF-MobileNetv3 models :</a:t>
            </a:r>
          </a:p>
          <a:p>
            <a:r>
              <a:t>Training curves</a:t>
            </a:r>
          </a:p>
          <a:p>
            <a:r>
              <a:t>Confusion mtarix</a:t>
            </a:r>
          </a:p>
          <a:p>
            <a:r>
              <a:t>most confused pairs</a:t>
            </a:r>
          </a:p>
          <a:p>
            <a:r>
              <a:t>Performance comparison</a:t>
            </a:r>
          </a:p>
          <a:p>
            <a:r>
              <a:t>The above figures present the training performance, normalized confusion matrices, classification errors, and comparative evaluation of the MobileNetV3-Small baseline and proposed SGF-MobileNetV3 models for Telugu handwritten character recognition. The training and validation loss curves demonstrate a consistent reduction in loss across 30 epochs, with SGF-MobileNetV3 achieving lower loss and higher validation accuracy than the baseline model. The accuracy curves indicate that the proposed model learns character patterns more effectively, while the OneCycle learning-rate scheduler gradually adjusts the learning rate to support model convergence. The normalized confusion matrices show a strong diagonal distribution for both models, indicating correct classification across most Telugu character classes. However, SGF-MobileNetV3 exhibits fewer off-diagonal errors, demonstrating improved recognition of visually similar characters. The most frequent confusion analysis further highlights a reduction in character misclassification errors compared with the baseline. The comparative performance graph demonstrates that SGF-MobileNetV3 achieves 95.90% accuracy, 95.33% macro precision, 95.71% macro recall, and 95.34% macro F1-score, whereas the baseline achieves 90.74% accuracy, 89.97% macro precision, 92.31% macro recall, and 90.69% macro F1-score. Overall, the experimental results demonstrate that integrating appearance features with structural stroke information through adaptive gated feature fusion improves Telugu handwritten character recognition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 RESULT AND ANALYSIS</a:t>
            </a:r>
          </a:p>
          <a:p>
            <a:r>
              <a:t>MobileNetv3 small and SGF-MobileNetv3 models :</a:t>
            </a:r>
          </a:p>
          <a:p>
            <a:r>
              <a:t>Training curves</a:t>
            </a:r>
          </a:p>
          <a:p>
            <a:r>
              <a:t>Confusion mtarix</a:t>
            </a:r>
          </a:p>
          <a:p>
            <a:r>
              <a:t>most confused pairs</a:t>
            </a:r>
          </a:p>
          <a:p>
            <a:r>
              <a:t>Performance comparison</a:t>
            </a:r>
          </a:p>
          <a:p>
            <a:r>
              <a:t>The above figures present the training performance, normalized confusion matrices, classification errors, and comparative evaluation of the MobileNetV3-Small baseline and proposed SGF-MobileNetV3 models for Telugu handwritten character recognition. The training and validation loss curves demonstrate a consistent reduction in loss across 30 epochs, with SGF-MobileNetV3 achieving lower loss and higher validation accuracy than the baseline model. The accuracy curves indicate that the proposed model learns character patterns more effectively, while the OneCycle learning-rate scheduler gradually adjusts the learning rate to support model convergence. The normalized confusion matrices show a strong diagonal distribution for both models, indicating correct classification across most Telugu character classes. However, SGF-MobileNetV3 exhibits fewer off-diagonal errors, demonstrating improved recognition of visually similar characters. The most frequent confusion analysis further highlights a reduction in character misclassification errors compared with the baseline. The comparative performance graph demonstrates that SGF-MobileNetV3 achieves 95.90% accuracy, 95.33% macro precision, 95.71% macro recall, and 95.34% macro F1-score, whereas the baseline achieves 90.74% accuracy, 89.97% macro precision, 92.31% macro recall, and 90.69% macro F1-score. Overall, the experimental results demonstrate that integrating appearance features with structural stroke information through adaptive gated feature fusion improves Telugu handwritten character recognition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 RESULT AND ANALYSIS</a:t>
            </a:r>
          </a:p>
          <a:p>
            <a:r>
              <a:t>MobileNetv3 small and SGF-MobileNetv3 models :</a:t>
            </a:r>
          </a:p>
          <a:p>
            <a:r>
              <a:t>Training curves</a:t>
            </a:r>
          </a:p>
          <a:p>
            <a:r>
              <a:t>Confusion mtarix</a:t>
            </a:r>
          </a:p>
          <a:p>
            <a:r>
              <a:t>most confused pairs</a:t>
            </a:r>
          </a:p>
          <a:p>
            <a:r>
              <a:t>Performance comparison</a:t>
            </a:r>
          </a:p>
          <a:p>
            <a:r>
              <a:t>The above figures present the training performance, normalized confusion matrices, classification errors, and comparative evaluation of the MobileNetV3-Small baseline and proposed SGF-MobileNetV3 models for Telugu handwritten character recognition. The training and validation loss curves demonstrate a consistent reduction in loss across 30 epochs, with SGF-MobileNetV3 achieving lower loss and higher validation accuracy than the baseline model. The accuracy curves indicate that the proposed model learns character patterns more effectively, while the OneCycle learning-rate scheduler gradually adjusts the learning rate to support model convergence. The normalized confusion matrices show a strong diagonal distribution for both models, indicating correct classification across most Telugu character classes. However, SGF-MobileNetV3 exhibits fewer off-diagonal errors, demonstrating improved recognition of visually similar characters. The most frequent confusion analysis further highlights a reduction in character misclassification errors compared with the baseline. The comparative performance graph demonstrates that SGF-MobileNetV3 achieves 95.90% accuracy, 95.33% macro precision, 95.71% macro recall, and 95.34% macro F1-score, whereas the baseline achieves 90.74% accuracy, 89.97% macro precision, 92.31% macro recall, and 90.69% macro F1-score. Overall, the experimental results demonstrate that integrating appearance features with structural stroke information through adaptive gated feature fusion improves Telugu handwritten character recognition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9.1 CONCLUSION</a:t>
            </a:r>
          </a:p>
          <a:p>
            <a:r>
              <a:t>The project successfully developed a Telugu Handwritten Character Recognition System using Stroke-Gated Feature Fusion MobileNetV3 (SGF-MobileNetV3) by integrating deep learning, image preprocessing, structural stroke feature extraction, adaptive gated feature fusion, and Telugu Unicode conversion. The framework utilized a Telugu handwritten character dataset containing 292,752 original images across 121 folders, which was processed through Unicode-based class merging and dataset balancing to obtain 73,463 selected images representing 76 character classes. Two deep learning architectures, a reduced-capacity MobileNetV3-Small baseline and the proposed SGF-MobileNetV3, were implemented for recognizing Telugu characters belonging to Achulu, Hallulu, Guninthamulu, and Othulu categories. The proposed architecture integrates MobileNetV3-Small appearance features with structural information extracted from character skeletons, stroke-width maps, and edge magnitude representations through an adaptive gated feature fusion mechanism. Experimental results demonstrate that the baseline MobileNetV3-Small achieved 90.74% classification accuracy, while the proposed SGF-MobileNetV3 achieved 95.90% accuracy, 95.34% macro F1-score, and 99.48% top-three accuracy. Additionally, SGF-MobileNetV3 achieved 90.63% accuracy under simulated image-upload variations, demonstrating improved robustness compared with the baseline model. The Flask-based web application integrated user registration, login, single-character recognition, character-sequence-based word recognition, Unicode conversion, dictionary-based correction, prediction confidence analysis, structural stroke visualization, model performance comparison, and downloadable PDF recognition reports using MySQL and PyTorch. The system demonstrates the effectiveness of combining visual appearance and structural stroke information for accurate Telugu handwritten character recognition. However, further validation is required for complete handwritten words, connected character sequences, and diverse real-world handwriting conditions. The developed framework provides a foundation for automated Telugu handwritten text digitization and future OCR applications.</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9.2 FUTURE ENHANCEMENT</a:t>
            </a:r>
          </a:p>
          <a:p>
            <a:r>
              <a:t>The developed Telugu Handwritten Character Recognition System using Stroke-Gated Feature Fusion MobileNetV3 (SGF-MobileNetV3) can be extended through several enhancements to improve its recognition accuracy, robustness, scalability, and real-world applicability. Future research can incorporate larger and more diverse Telugu handwriting datasets containing samples collected from different writers, age groups, writing instruments, document types, and handwriting styles to improve model generalization. The proposed SGF-MobileNetV3 architecture can be enhanced using advanced attention mechanisms, Vision Transformers (ViTs), improved structural feature extraction techniques, and optimized feature fusion strategies to strengthen recognition of visually similar Telugu characters. The existing character-level recognition approach can be extended into a complete handwritten word and sentence recognition system by incorporating automatic character segmentation, sequence modeling, and contextual language processing. Architectures such as CNN-LSTM, Bidirectional LSTM, and Transformer-based OCR models can be investigated for recognizing connected handwritten characters and complete Telugu text lines. The dictionary-based correction mechanism can be improved using larger Telugu lexical resources, contextual language models, and advanced spelling correction techniques to reduce recognition errors. Additional preprocessing methods can be introduced to handle skewed images, uneven illumination, overlapping characters, degraded documents, and complex backgrounds. The system can also be extended to support scanned handwritten documents, historical Telugu manuscripts, handwritten forms, and complete page-level text extraction. The Flask-based application can be strengthened through secure password hashing, improved authentication, prediction history, database optimization, and cloud deployment. Mobile application integration, camera-based image capture, batch document processing, and multilingual OCR support can further improve accessibility and usability. Model optimization techniques such as quantization, pruning, and knowledge distillation can be explored to reduce computational requirements and support deployment on resource-constrained devices. Finally, evaluation using independent real-world handwritten datasets, comprehensive word-level accuracy testing, confidence calibration, and user-based testing can contribute to developing a more reliable and scalable AI-based Telugu Handwritten Text Recognition and Digitization System.</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 REFERENCES</a:t>
            </a:r>
          </a:p>
          <a:p>
            <a:r>
              <a:t>[1] R. Sharma and B. Kaushik, "Offline Recognition of Handwritten Indic Scripts: A State-of-the-Art Survey and Future Perspectives," *Computer Science Review*, vol. 38, 2020. &lt;https://doi.org/10.1016/j.cosrev.2020.100302&gt;</a:t>
            </a:r>
          </a:p>
          <a:p>
            <a:r>
              <a:t>[2] S. T. Soman, A. Nandigam, and V. S. Chakravarthy, "An Efficient Multiclassifier System Based on Convolutional Neural Network for Offline Handwritten Telugu Character Recognition," *National Conference on Communications (NCC)*, 2013. &lt;https://doi.org/10.1109/NCC.2013.6488008&gt;</a:t>
            </a:r>
          </a:p>
          <a:p>
            <a:r>
              <a:t>[3] V. K. Sonthi, S. Nagarajan, and N. Krishnaraj, "An Intelligent Telugu Handwritten Character Recognition Using Multi-Objective Mayfly Optimization with Deep Learning-Based DenseNet Model," *ACM Transactions on Asian and Low-Resource Language Information Processing*, vol. 22, no. 3, 2023. &lt;https://doi.org/10.1145/3520439&gt;</a:t>
            </a:r>
          </a:p>
          <a:p>
            <a:r>
              <a:t>[4] "Handwritten Telugu Character Recognition Using Machine Learning," *International Conference on Distributed Computing and Optimization Techniques (ICDCOT)*, IEEE, 2024. &lt;https://doi.org/10.1109/ICDCOT61034.2024.10515646&gt;</a:t>
            </a:r>
          </a:p>
          <a:p>
            <a:r>
              <a:t>[5] "Comparative Analysis of Deep Learning Models for Telugu Handwritten Text Recognition," *IEEE International Conference on Intelligent Systems, Smart and Green Technologies (ICISSGT)*, 2026. &lt;https://doi.org/10.1109/ICISSGT67741.2026.11483721&gt;</a:t>
            </a:r>
          </a:p>
          <a:p>
            <a:r>
              <a:t>[6] M. Sandler et al., "MobileNetV2: Inverted Residuals and Linear Bottlenecks," *Proceedings of the IEEE Conference on Computer Vision and Pattern Recognition (CVPR)*, 2018. &lt;https://doi.org/10.1109/CVPR.2018.00474&gt;</a:t>
            </a:r>
          </a:p>
          <a:p>
            <a:r>
              <a:t>[7] A. Howard et al., "Searching for MobileNetV3," *Proceedings of the IEEE/CVF International Conference on Computer Vision (ICCV)*, pp. 1314--1324, 2019. &lt;https://doi.org/10.1109/ICCV.2019.00140&gt;</a:t>
            </a:r>
          </a:p>
          <a:p>
            <a:r>
              <a:t>[8] T. Y. Zhang and C. Y. Suen, "A Fast Parallel Algorithm for Thinning Digital Patterns," *Communications of the ACM*, vol. 27, no. 3, pp. 236--239, 1984. &lt;https://doi.org/10.1145/357994.358023&gt;</a:t>
            </a:r>
          </a:p>
          <a:p>
            <a:r>
              <a:t>[9] N. Otsu, "A Threshold Selection Method from Gray-Level Histograms," *IEEE Transactions on Systems, Man, and Cybernetics*, vol. 9, no. 1, pp. 62--66, 1979. &lt;https://doi.org/10.1109/TSMC.1979.4310076&gt;</a:t>
            </a:r>
          </a:p>
          <a:p>
            <a:r>
              <a:t>[10] K. Zuiderveld, "Contrast Limited Adaptive Histogram Equalization," *Graphics Gems IV*, pp. 474--485, 1994. &lt;https://doi.org/10.1016/B978-0-12-336156-1.50061-6&gt;</a:t>
            </a:r>
          </a:p>
          <a:p>
            <a:r>
              <a:t>[11] J. Arevalo, T. Solorio, M. Montes-y-Gómez, and F. A. González, "Gated Multimodal Units for Information Fusion," *International Conference on Learning Representations (ICLR)*, 2017. &lt;https://arxiv.org/abs/1702.01992&gt;</a:t>
            </a:r>
          </a:p>
          <a:p>
            <a:r>
              <a:t>[12] S. M. Ahmed and A. Wahid, "Handwritten OCR for Indic Scripts: A Comprehensive Overview of Machine Learning and Deep Learning Techniques," *International Journal on Recent and Innovation Trends in Computing and Communication*, vol. 11, no. 9, pp. 2245--2258, 2023. &lt;https://doi.org/10.17762/ijritcc.v11i9.9230&gt;</a:t>
            </a:r>
          </a:p>
          <a:p>
            <a:r>
              <a:t>[13] "A Study on Handwritten Text Recognition and Post-OCR Error Correction Techniques," *9th International Conference on Trends in Electronics and Informatics (ICOEI)*, IEEE, 2026. &lt;https://doi.org/10.1109/ICOEI68323.2026.11541382&gt;</a:t>
            </a:r>
          </a:p>
          <a:p>
            <a:r>
              <a:t>[14] X. Xiao, L. Jin, Y. Yang, W. Yang, J. Sun, and T. Chang, "Building Fast and Compact Convolutional Neural Networks for Offline Handwritten Chinese Character Recognition," 2017. &lt;https://arxiv.org/abs/1702.07975&gt;</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 REFERENCES</a:t>
            </a:r>
          </a:p>
          <a:p>
            <a:r>
              <a:t>[1] R. Sharma and B. Kaushik, "Offline Recognition of Handwritten Indic Scripts: A State-of-the-Art Survey and Future Perspectives," *Computer Science Review*, vol. 38, 2020. &lt;https://doi.org/10.1016/j.cosrev.2020.100302&gt;</a:t>
            </a:r>
          </a:p>
          <a:p>
            <a:r>
              <a:t>[2] S. T. Soman, A. Nandigam, and V. S. Chakravarthy, "An Efficient Multiclassifier System Based on Convolutional Neural Network for Offline Handwritten Telugu Character Recognition," *National Conference on Communications (NCC)*, 2013. &lt;https://doi.org/10.1109/NCC.2013.6488008&gt;</a:t>
            </a:r>
          </a:p>
          <a:p>
            <a:r>
              <a:t>[3] V. K. Sonthi, S. Nagarajan, and N. Krishnaraj, "An Intelligent Telugu Handwritten Character Recognition Using Multi-Objective Mayfly Optimization with Deep Learning-Based DenseNet Model," *ACM Transactions on Asian and Low-Resource Language Information Processing*, vol. 22, no. 3, 2023. &lt;https://doi.org/10.1145/3520439&gt;</a:t>
            </a:r>
          </a:p>
          <a:p>
            <a:r>
              <a:t>[4] "Handwritten Telugu Character Recognition Using Machine Learning," *International Conference on Distributed Computing and Optimization Techniques (ICDCOT)*, IEEE, 2024. &lt;https://doi.org/10.1109/ICDCOT61034.2024.10515646&gt;</a:t>
            </a:r>
          </a:p>
          <a:p>
            <a:r>
              <a:t>[5] "Comparative Analysis of Deep Learning Models for Telugu Handwritten Text Recognition," *IEEE International Conference on Intelligent Systems, Smart and Green Technologies (ICISSGT)*, 2026. &lt;https://doi.org/10.1109/ICISSGT67741.2026.11483721&gt;</a:t>
            </a:r>
          </a:p>
          <a:p>
            <a:r>
              <a:t>[6] M. Sandler et al., "MobileNetV2: Inverted Residuals and Linear Bottlenecks," *Proceedings of the IEEE Conference on Computer Vision and Pattern Recognition (CVPR)*, 2018. &lt;https://doi.org/10.1109/CVPR.2018.00474&gt;</a:t>
            </a:r>
          </a:p>
          <a:p>
            <a:r>
              <a:t>[7] A. Howard et al., "Searching for MobileNetV3," *Proceedings of the IEEE/CVF International Conference on Computer Vision (ICCV)*, pp. 1314--1324, 2019. &lt;https://doi.org/10.1109/ICCV.2019.00140&gt;</a:t>
            </a:r>
          </a:p>
          <a:p>
            <a:r>
              <a:t>[8] T. Y. Zhang and C. Y. Suen, "A Fast Parallel Algorithm for Thinning Digital Patterns," *Communications of the ACM*, vol. 27, no. 3, pp. 236--239, 1984. &lt;https://doi.org/10.1145/357994.358023&gt;</a:t>
            </a:r>
          </a:p>
          <a:p>
            <a:r>
              <a:t>[9] N. Otsu, "A Threshold Selection Method from Gray-Level Histograms," *IEEE Transactions on Systems, Man, and Cybernetics*, vol. 9, no. 1, pp. 62--66, 1979. &lt;https://doi.org/10.1109/TSMC.1979.4310076&gt;</a:t>
            </a:r>
          </a:p>
          <a:p>
            <a:r>
              <a:t>[10] K. Zuiderveld, "Contrast Limited Adaptive Histogram Equalization," *Graphics Gems IV*, pp. 474--485, 1994. &lt;https://doi.org/10.1016/B978-0-12-336156-1.50061-6&gt;</a:t>
            </a:r>
          </a:p>
          <a:p>
            <a:r>
              <a:t>[11] J. Arevalo, T. Solorio, M. Montes-y-Gómez, and F. A. González, "Gated Multimodal Units for Information Fusion," *International Conference on Learning Representations (ICLR)*, 2017. &lt;https://arxiv.org/abs/1702.01992&gt;</a:t>
            </a:r>
          </a:p>
          <a:p>
            <a:r>
              <a:t>[12] S. M. Ahmed and A. Wahid, "Handwritten OCR for Indic Scripts: A Comprehensive Overview of Machine Learning and Deep Learning Techniques," *International Journal on Recent and Innovation Trends in Computing and Communication*, vol. 11, no. 9, pp. 2245--2258, 2023. &lt;https://doi.org/10.17762/ijritcc.v11i9.9230&gt;</a:t>
            </a:r>
          </a:p>
          <a:p>
            <a:r>
              <a:t>[13] "A Study on Handwritten Text Recognition and Post-OCR Error Correction Techniques," *9th International Conference on Trends in Electronics and Informatics (ICOEI)*, IEEE, 2026. &lt;https://doi.org/10.1109/ICOEI68323.2026.11541382&gt;</a:t>
            </a:r>
          </a:p>
          <a:p>
            <a:r>
              <a:t>[14] X. Xiao, L. Jin, Y. Yang, W. Yang, J. Sun, and T. Chang, "Building Fast and Compact Convolutional Neural Networks for Offline Handwritten Chinese Character Recognition," 2017. &lt;https://arxiv.org/abs/1702.07975&gt;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BC2FF5D-1702-4744-9269-FDA2036CB7E5}" type="datetime1">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AB208B-8553-4B8F-9A3D-7198B9689A71}" type="slidenum">
              <a:rPr lang="en-IN" smtClean="0"/>
              <a:t>‹#›</a:t>
            </a:fld>
            <a:endParaRPr lang="en-IN"/>
          </a:p>
        </p:txBody>
      </p:sp>
    </p:spTree>
    <p:extLst>
      <p:ext uri="{BB962C8B-B14F-4D97-AF65-F5344CB8AC3E}">
        <p14:creationId xmlns:p14="http://schemas.microsoft.com/office/powerpoint/2010/main" val="3050754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3BFC34B-7AB2-4019-9602-DD2D190D5FCB}" type="datetime1">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AB208B-8553-4B8F-9A3D-7198B9689A71}" type="slidenum">
              <a:rPr lang="en-IN" smtClean="0"/>
              <a:t>‹#›</a:t>
            </a:fld>
            <a:endParaRPr lang="en-IN"/>
          </a:p>
        </p:txBody>
      </p:sp>
    </p:spTree>
    <p:extLst>
      <p:ext uri="{BB962C8B-B14F-4D97-AF65-F5344CB8AC3E}">
        <p14:creationId xmlns:p14="http://schemas.microsoft.com/office/powerpoint/2010/main" val="3886006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880174B-16CB-4412-8CCF-88F72DA9FD5A}" type="datetime1">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AB208B-8553-4B8F-9A3D-7198B9689A71}" type="slidenum">
              <a:rPr lang="en-IN" smtClean="0"/>
              <a:t>‹#›</a:t>
            </a:fld>
            <a:endParaRPr lang="en-IN"/>
          </a:p>
        </p:txBody>
      </p:sp>
    </p:spTree>
    <p:extLst>
      <p:ext uri="{BB962C8B-B14F-4D97-AF65-F5344CB8AC3E}">
        <p14:creationId xmlns:p14="http://schemas.microsoft.com/office/powerpoint/2010/main" val="3466589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A263467-DF90-475D-903F-7DAEC5415DB5}" type="datetime1">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AB208B-8553-4B8F-9A3D-7198B9689A71}" type="slidenum">
              <a:rPr lang="en-IN" smtClean="0"/>
              <a:t>‹#›</a:t>
            </a:fld>
            <a:endParaRPr lang="en-IN"/>
          </a:p>
        </p:txBody>
      </p:sp>
    </p:spTree>
    <p:extLst>
      <p:ext uri="{BB962C8B-B14F-4D97-AF65-F5344CB8AC3E}">
        <p14:creationId xmlns:p14="http://schemas.microsoft.com/office/powerpoint/2010/main" val="4270211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C1D2E48-2055-4F43-98B6-8DE551E7C73E}" type="datetime1">
              <a:rPr lang="en-IN" smtClean="0"/>
              <a:t>21-10-2026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AB208B-8553-4B8F-9A3D-7198B9689A71}" type="slidenum">
              <a:rPr lang="en-IN" smtClean="0"/>
              <a:t>‹#›</a:t>
            </a:fld>
            <a:endParaRPr lang="en-IN"/>
          </a:p>
        </p:txBody>
      </p:sp>
    </p:spTree>
    <p:extLst>
      <p:ext uri="{BB962C8B-B14F-4D97-AF65-F5344CB8AC3E}">
        <p14:creationId xmlns:p14="http://schemas.microsoft.com/office/powerpoint/2010/main" val="2260922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126DFB7-F168-4E17-91E0-76282584DAF6}" type="datetime1">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AB208B-8553-4B8F-9A3D-7198B9689A71}" type="slidenum">
              <a:rPr lang="en-IN" smtClean="0"/>
              <a:t>‹#›</a:t>
            </a:fld>
            <a:endParaRPr lang="en-IN"/>
          </a:p>
        </p:txBody>
      </p:sp>
    </p:spTree>
    <p:extLst>
      <p:ext uri="{BB962C8B-B14F-4D97-AF65-F5344CB8AC3E}">
        <p14:creationId xmlns:p14="http://schemas.microsoft.com/office/powerpoint/2010/main" val="2830413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6AA03F-AF98-49D0-8907-05B21E0AEA57}" type="datetime1">
              <a:rPr lang="en-IN" smtClean="0"/>
              <a:t>21-10-2026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AB208B-8553-4B8F-9A3D-7198B9689A71}" type="slidenum">
              <a:rPr lang="en-IN" smtClean="0"/>
              <a:t>‹#›</a:t>
            </a:fld>
            <a:endParaRPr lang="en-IN"/>
          </a:p>
        </p:txBody>
      </p:sp>
    </p:spTree>
    <p:extLst>
      <p:ext uri="{BB962C8B-B14F-4D97-AF65-F5344CB8AC3E}">
        <p14:creationId xmlns:p14="http://schemas.microsoft.com/office/powerpoint/2010/main" val="909174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8323DB2-C4CA-4021-961C-92E782A41CA5}" type="datetime1">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AB208B-8553-4B8F-9A3D-7198B9689A71}" type="slidenum">
              <a:rPr lang="en-IN" smtClean="0"/>
              <a:t>‹#›</a:t>
            </a:fld>
            <a:endParaRPr lang="en-IN"/>
          </a:p>
        </p:txBody>
      </p:sp>
    </p:spTree>
    <p:extLst>
      <p:ext uri="{BB962C8B-B14F-4D97-AF65-F5344CB8AC3E}">
        <p14:creationId xmlns:p14="http://schemas.microsoft.com/office/powerpoint/2010/main" val="1354122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A413D05-80CD-4D9F-9749-007C8A24C0D8}" type="datetime1">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AB208B-8553-4B8F-9A3D-7198B9689A71}" type="slidenum">
              <a:rPr lang="en-IN" smtClean="0"/>
              <a:t>‹#›</a:t>
            </a:fld>
            <a:endParaRPr lang="en-IN"/>
          </a:p>
        </p:txBody>
      </p:sp>
    </p:spTree>
    <p:extLst>
      <p:ext uri="{BB962C8B-B14F-4D97-AF65-F5344CB8AC3E}">
        <p14:creationId xmlns:p14="http://schemas.microsoft.com/office/powerpoint/2010/main" val="2555817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3A0B8FA-5292-4854-9897-939EADCEA632}" type="datetime1">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AB208B-8553-4B8F-9A3D-7198B9689A71}" type="slidenum">
              <a:rPr lang="en-IN" smtClean="0"/>
              <a:t>‹#›</a:t>
            </a:fld>
            <a:endParaRPr lang="en-IN"/>
          </a:p>
        </p:txBody>
      </p:sp>
    </p:spTree>
    <p:extLst>
      <p:ext uri="{BB962C8B-B14F-4D97-AF65-F5344CB8AC3E}">
        <p14:creationId xmlns:p14="http://schemas.microsoft.com/office/powerpoint/2010/main" val="1117709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7717048-79A0-402A-944C-95DF2D198C85}" type="datetime1">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AB208B-8553-4B8F-9A3D-7198B9689A71}" type="slidenum">
              <a:rPr lang="en-IN" smtClean="0"/>
              <a:t>‹#›</a:t>
            </a:fld>
            <a:endParaRPr lang="en-IN"/>
          </a:p>
        </p:txBody>
      </p:sp>
    </p:spTree>
    <p:extLst>
      <p:ext uri="{BB962C8B-B14F-4D97-AF65-F5344CB8AC3E}">
        <p14:creationId xmlns:p14="http://schemas.microsoft.com/office/powerpoint/2010/main" val="1127417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5CDBB2-1863-4035-BF32-4F4CDC75A4E1}" type="datetime1">
              <a:rPr lang="en-IN" smtClean="0"/>
              <a:t>21-10-2026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AB208B-8553-4B8F-9A3D-7198B9689A71}" type="slidenum">
              <a:rPr lang="en-IN" smtClean="0"/>
              <a:t>‹#›</a:t>
            </a:fld>
            <a:endParaRPr lang="en-IN"/>
          </a:p>
        </p:txBody>
      </p:sp>
    </p:spTree>
    <p:extLst>
      <p:ext uri="{BB962C8B-B14F-4D97-AF65-F5344CB8AC3E}">
        <p14:creationId xmlns:p14="http://schemas.microsoft.com/office/powerpoint/2010/main" val="2208391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3823" y="946236"/>
            <a:ext cx="9144000" cy="1691640"/>
          </a:xfrm>
        </p:spPr>
        <p:txBody>
          <a:bodyPr anchor="ctr"/>
          <a:lstStyle/>
          <a:p>
            <a:pPr algn="l"/>
            <a:r>
              <a:rPr lang="en-GB" sz="2800" dirty="0"/>
              <a:t>Project Title: Enhanced Lightweight Telugu Handwritten OCR Using MobileNetV3 with Improved Image Processing and Context Aware Post Processing</a:t>
            </a:r>
            <a:endParaRPr lang="en-IN" dirty="0"/>
          </a:p>
        </p:txBody>
      </p:sp>
      <p:sp>
        <p:nvSpPr>
          <p:cNvPr id="3" name="Subtitle 2"/>
          <p:cNvSpPr>
            <a:spLocks noGrp="1"/>
          </p:cNvSpPr>
          <p:nvPr>
            <p:ph type="subTitle" idx="1"/>
          </p:nvPr>
        </p:nvSpPr>
        <p:spPr>
          <a:xfrm>
            <a:off x="1430977" y="3017520"/>
            <a:ext cx="9144000" cy="887901"/>
          </a:xfrm>
        </p:spPr>
        <p:txBody>
          <a:bodyPr/>
          <a:lstStyle/>
          <a:p>
            <a:r>
              <a:rPr lang="en-GB" dirty="0"/>
              <a:t>Batch No: </a:t>
            </a:r>
          </a:p>
          <a:p>
            <a:r>
              <a:rPr lang="en-GB" dirty="0"/>
              <a:t>Reg No’s: </a:t>
            </a:r>
            <a:endParaRPr lang="en-IN" dirty="0"/>
          </a:p>
        </p:txBody>
      </p:sp>
      <p:sp>
        <p:nvSpPr>
          <p:cNvPr id="4" name="TextBox 3"/>
          <p:cNvSpPr txBox="1"/>
          <p:nvPr/>
        </p:nvSpPr>
        <p:spPr>
          <a:xfrm>
            <a:off x="1254369" y="4970585"/>
            <a:ext cx="5416062" cy="923330"/>
          </a:xfrm>
          <a:prstGeom prst="rect">
            <a:avLst/>
          </a:prstGeom>
          <a:noFill/>
        </p:spPr>
        <p:txBody>
          <a:bodyPr wrap="square" rtlCol="0">
            <a:spAutoFit/>
          </a:bodyPr>
          <a:lstStyle/>
          <a:p>
            <a:r>
              <a:rPr lang="en-GB" dirty="0"/>
              <a:t>Guide Details: </a:t>
            </a:r>
          </a:p>
          <a:p>
            <a:r>
              <a:rPr lang="en-GB" dirty="0"/>
              <a:t>Name: </a:t>
            </a:r>
          </a:p>
          <a:p>
            <a:r>
              <a:rPr lang="en-GB" dirty="0"/>
              <a:t>Designation:</a:t>
            </a:r>
            <a:endParaRPr lang="en-IN" dirty="0"/>
          </a:p>
        </p:txBody>
      </p:sp>
      <p:sp>
        <p:nvSpPr>
          <p:cNvPr id="5" name="Slide Number Placeholder 4"/>
          <p:cNvSpPr>
            <a:spLocks noGrp="1"/>
          </p:cNvSpPr>
          <p:nvPr>
            <p:ph type="sldNum" sz="quarter" idx="12"/>
          </p:nvPr>
        </p:nvSpPr>
        <p:spPr/>
        <p:txBody>
          <a:bodyPr/>
          <a:lstStyle/>
          <a:p>
            <a:fld id="{4FAB208B-8553-4B8F-9A3D-7198B9689A71}" type="slidenum">
              <a:rPr lang="en-IN" smtClean="0"/>
              <a:t>1</a:t>
            </a:fld>
            <a:endParaRPr lang="en-IN"/>
          </a:p>
        </p:txBody>
      </p:sp>
      <p:sp>
        <p:nvSpPr>
          <p:cNvPr id="6" name="Footer Placeholder 5"/>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pic>
        <p:nvPicPr>
          <p:cNvPr id="7" name="Picture 6"/>
          <p:cNvPicPr>
            <a:picLocks noChangeAspect="1"/>
          </p:cNvPicPr>
          <p:nvPr/>
        </p:nvPicPr>
        <p:blipFill>
          <a:blip r:embed="rId3"/>
          <a:stretch>
            <a:fillRect/>
          </a:stretch>
        </p:blipFill>
        <p:spPr>
          <a:xfrm>
            <a:off x="93784" y="83465"/>
            <a:ext cx="1160585" cy="1160585"/>
          </a:xfrm>
          <a:prstGeom prst="rect">
            <a:avLst/>
          </a:prstGeom>
        </p:spPr>
      </p:pic>
    </p:spTree>
    <p:extLst>
      <p:ext uri="{BB962C8B-B14F-4D97-AF65-F5344CB8AC3E}">
        <p14:creationId xmlns:p14="http://schemas.microsoft.com/office/powerpoint/2010/main" val="633147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5" name="Slide Number Placeholder 4"/>
          <p:cNvSpPr>
            <a:spLocks noGrp="1"/>
          </p:cNvSpPr>
          <p:nvPr>
            <p:ph type="sldNum" sz="quarter" idx="12"/>
          </p:nvPr>
        </p:nvSpPr>
        <p:spPr/>
        <p:txBody>
          <a:bodyPr/>
          <a:lstStyle/>
          <a:p>
            <a:fld id="{4FAB208B-8553-4B8F-9A3D-7198B9689A71}" type="slidenum">
              <a:rPr lang="en-IN" smtClean="0"/>
              <a:t>2</a:t>
            </a:fld>
            <a:endParaRPr lang="en-IN"/>
          </a:p>
        </p:txBody>
      </p:sp>
      <p:pic>
        <p:nvPicPr>
          <p:cNvPr id="6" name="Picture 5"/>
          <p:cNvPicPr>
            <a:picLocks noChangeAspect="1"/>
          </p:cNvPicPr>
          <p:nvPr/>
        </p:nvPicPr>
        <p:blipFill>
          <a:blip r:embed="rId2"/>
          <a:stretch>
            <a:fillRect/>
          </a:stretch>
        </p:blipFill>
        <p:spPr>
          <a:xfrm>
            <a:off x="98633" y="106630"/>
            <a:ext cx="1164437" cy="1158340"/>
          </a:xfrm>
          <a:prstGeom prst="rect">
            <a:avLst/>
          </a:prstGeom>
        </p:spPr>
      </p:pic>
      <p:sp>
        <p:nvSpPr>
          <p:cNvPr id="7" name="TextBox 6"/>
          <p:cNvSpPr txBox="1"/>
          <p:nvPr/>
        </p:nvSpPr>
        <p:spPr>
          <a:xfrm>
            <a:off x="1603169" y="388917"/>
            <a:ext cx="8740239" cy="769441"/>
          </a:xfrm>
          <a:prstGeom prst="rect">
            <a:avLst/>
          </a:prstGeom>
          <a:noFill/>
        </p:spPr>
        <p:txBody>
          <a:bodyPr wrap="square" rtlCol="0">
            <a:spAutoFit/>
          </a:bodyPr>
          <a:lstStyle/>
          <a:p>
            <a:pPr algn="ctr"/>
            <a:r>
              <a:rPr lang="en-GB" sz="4400" b="1" dirty="0"/>
              <a:t>Outline</a:t>
            </a:r>
            <a:endParaRPr lang="en-IN" sz="4400" b="1" dirty="0"/>
          </a:p>
        </p:txBody>
      </p:sp>
      <p:sp>
        <p:nvSpPr>
          <p:cNvPr id="8" name="TextBox 7"/>
          <p:cNvSpPr txBox="1"/>
          <p:nvPr/>
        </p:nvSpPr>
        <p:spPr>
          <a:xfrm>
            <a:off x="1263070" y="1443841"/>
            <a:ext cx="9780982" cy="3970318"/>
          </a:xfrm>
          <a:prstGeom prst="rect">
            <a:avLst/>
          </a:prstGeom>
          <a:noFill/>
        </p:spPr>
        <p:txBody>
          <a:bodyPr wrap="square" rtlCol="0">
            <a:spAutoFit/>
          </a:bodyPr>
          <a:lstStyle/>
          <a:p>
            <a:pPr marL="514350" indent="-514350">
              <a:buAutoNum type="arabicPeriod"/>
            </a:pPr>
            <a:r>
              <a:rPr lang="en-GB" sz="2600" dirty="0"/>
              <a:t>Abstract</a:t>
            </a:r>
          </a:p>
          <a:p>
            <a:pPr marL="514350" indent="-514350">
              <a:buAutoNum type="arabicPeriod"/>
            </a:pPr>
            <a:r>
              <a:rPr lang="en-GB" sz="2600" dirty="0"/>
              <a:t>Introduction</a:t>
            </a:r>
          </a:p>
          <a:p>
            <a:pPr marL="514350" indent="-514350">
              <a:buAutoNum type="arabicPeriod"/>
            </a:pPr>
            <a:r>
              <a:rPr lang="en-GB" sz="2600" dirty="0"/>
              <a:t>Literature Survey</a:t>
            </a:r>
          </a:p>
          <a:p>
            <a:pPr marL="514350" indent="-514350">
              <a:buAutoNum type="arabicPeriod"/>
            </a:pPr>
            <a:r>
              <a:rPr lang="en-GB" sz="2600" dirty="0"/>
              <a:t>Research Gaps</a:t>
            </a:r>
          </a:p>
          <a:p>
            <a:pPr marL="514350" indent="-514350">
              <a:buAutoNum type="arabicPeriod"/>
            </a:pPr>
            <a:r>
              <a:rPr lang="en-GB" sz="2600" dirty="0"/>
              <a:t>Objectives</a:t>
            </a:r>
          </a:p>
          <a:p>
            <a:pPr marL="514350" indent="-514350">
              <a:buAutoNum type="arabicPeriod"/>
            </a:pPr>
            <a:r>
              <a:rPr lang="en-GB" sz="2600" dirty="0"/>
              <a:t>Methodology</a:t>
            </a:r>
          </a:p>
          <a:p>
            <a:pPr marL="514350" indent="-514350">
              <a:buAutoNum type="arabicPeriod"/>
            </a:pPr>
            <a:r>
              <a:rPr lang="en-GB" sz="2600" dirty="0"/>
              <a:t>Architecture (Explain the modules in detail)</a:t>
            </a:r>
          </a:p>
          <a:p>
            <a:pPr marL="514350" indent="-514350">
              <a:buAutoNum type="arabicPeriod"/>
            </a:pPr>
            <a:r>
              <a:rPr lang="en-GB" sz="2600" dirty="0"/>
              <a:t>Results</a:t>
            </a:r>
          </a:p>
          <a:p>
            <a:pPr marL="514350" indent="-514350">
              <a:buAutoNum type="arabicPeriod"/>
            </a:pPr>
            <a:r>
              <a:rPr lang="en-GB" sz="2600" dirty="0"/>
              <a:t>Conclusion &amp; Future Scope</a:t>
            </a:r>
          </a:p>
          <a:p>
            <a:pPr marL="514350" indent="-514350">
              <a:buAutoNum type="arabicPeriod"/>
            </a:pPr>
            <a:r>
              <a:rPr lang="en-GB" sz="2600" dirty="0"/>
              <a:t>References</a:t>
            </a:r>
          </a:p>
        </p:txBody>
      </p:sp>
    </p:spTree>
    <p:extLst>
      <p:ext uri="{BB962C8B-B14F-4D97-AF65-F5344CB8AC3E}">
        <p14:creationId xmlns:p14="http://schemas.microsoft.com/office/powerpoint/2010/main" val="4047206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3</a:t>
            </a:fld>
            <a:endParaRPr lang="en-IN"/>
          </a:p>
        </p:txBody>
      </p:sp>
      <p:pic>
        <p:nvPicPr>
          <p:cNvPr id="4" name="Picture 3"/>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2101932" y="296883"/>
            <a:ext cx="8562110" cy="769441"/>
          </a:xfrm>
          <a:prstGeom prst="rect">
            <a:avLst/>
          </a:prstGeom>
          <a:noFill/>
        </p:spPr>
        <p:txBody>
          <a:bodyPr wrap="square" rtlCol="0">
            <a:spAutoFit/>
          </a:bodyPr>
          <a:lstStyle/>
          <a:p>
            <a:pPr algn="ctr"/>
            <a:r>
              <a:rPr lang="en-IN" sz="4400" dirty="0"/>
              <a:t>Abstract</a:t>
            </a:r>
          </a:p>
        </p:txBody>
      </p:sp>
      <p:sp>
        <p:nvSpPr>
          <p:cNvPr id="6" name="TextBox 5"/>
          <p:cNvSpPr txBox="1"/>
          <p:nvPr/>
        </p:nvSpPr>
        <p:spPr>
          <a:xfrm>
            <a:off x="548640" y="1264970"/>
            <a:ext cx="11091672" cy="3979551"/>
          </a:xfrm>
          <a:prstGeom prst="rect">
            <a:avLst/>
          </a:prstGeom>
          <a:noFill/>
        </p:spPr>
        <p:txBody>
          <a:bodyPr wrap="square" lIns="45720" tIns="27432" rIns="45720" bIns="27432">
            <a:spAutoFit/>
          </a:bodyPr>
          <a:lstStyle/>
          <a:p>
            <a:pPr marL="0" indent="0" algn="just">
              <a:lnSpc>
                <a:spcPct val="100000"/>
              </a:lnSpc>
              <a:spcAft>
                <a:spcPts val="400"/>
              </a:spcAft>
              <a:buNone/>
            </a:pPr>
            <a:r>
              <a:rPr sz="1700" b="0" i="0" dirty="0"/>
              <a:t>Handwritten Telugu character recognition remains challenging because of complex glyph structures, visually similar characters, variations in writing styles, and subtle stroke differences. Traditional image-based classifiers often overlook subtle structural details distinguishing similar Telugu symbols, especially when individual strokes vary considerably in thickness, orientation, alignment, and continuity. This study presents a Telugu handwritten character recognition framework based on </a:t>
            </a:r>
            <a:r>
              <a:rPr sz="1700" b="1" i="0" dirty="0"/>
              <a:t>Stroke-Gated Feature Fusion MobileNetV3 (SGF-MobileNetV3)</a:t>
            </a:r>
            <a:r>
              <a:rPr sz="1700" b="0" i="0" dirty="0"/>
              <a:t>. The framework recognizes characters from </a:t>
            </a:r>
            <a:r>
              <a:rPr sz="1700" b="0" i="0" dirty="0" err="1"/>
              <a:t>Achulu</a:t>
            </a:r>
            <a:r>
              <a:rPr sz="1700" b="0" i="0" dirty="0"/>
              <a:t>, </a:t>
            </a:r>
            <a:r>
              <a:rPr sz="1700" b="0" i="0" dirty="0" err="1"/>
              <a:t>Hallulu</a:t>
            </a:r>
            <a:r>
              <a:rPr sz="1700" b="0" i="0" dirty="0"/>
              <a:t>, </a:t>
            </a:r>
            <a:r>
              <a:rPr sz="1700" b="0" i="0" dirty="0" err="1"/>
              <a:t>Guninthamulu</a:t>
            </a:r>
            <a:r>
              <a:rPr sz="1700" b="0" i="0" dirty="0"/>
              <a:t>, and </a:t>
            </a:r>
            <a:r>
              <a:rPr sz="1700" b="0" i="0" dirty="0" err="1"/>
              <a:t>Othulu</a:t>
            </a:r>
            <a:r>
              <a:rPr sz="1700" b="0" i="0" dirty="0"/>
              <a:t> categories. A reduced-capacity MobileNetV3-Small is used as the baseline, while the proposed SGF-MobileNetV3 combines appearance features extracted by MobileNetV3-Small with structural information from a dedicated stroke branch. Skeleton patterns, stroke width, and edge magnitude are integrated through adaptive gated feature fusion to improve classification. Preprocessing includes grayscale conversion, ink-region cropping, resizing, denoising, and contrast enhancement using CLAHE. The selected dataset contains 73,463 images representing 76 character classes, with separate training, validation, and testing partitions. Performance is assessed using accuracy, precision, recall, F1-score, top-3 accuracy, and confusion matrices. </a:t>
            </a:r>
            <a:r>
              <a:rPr sz="1700" b="1" i="0" dirty="0"/>
              <a:t>SGF-MobileNetV3 achieves 95.90% test accuracy, 95.34% macro F1-score, and 99.48% top-3 accuracy</a:t>
            </a:r>
            <a:r>
              <a:rPr sz="1700" b="0" i="0" dirty="0"/>
              <a:t>, surpassing the 90.74% accuracy of the baseline. Under simulated upload variations, it achieves 90.63% accuracy. Unicode mapping and dictionary-based correction additionally support character-to-text conversion and ordered character-based word recognition.</a:t>
            </a:r>
          </a:p>
        </p:txBody>
      </p:sp>
      <p:sp>
        <p:nvSpPr>
          <p:cNvPr id="7" name="Rounded Rectangle 6"/>
          <p:cNvSpPr/>
          <p:nvPr/>
        </p:nvSpPr>
        <p:spPr>
          <a:xfrm>
            <a:off x="548640" y="5257800"/>
            <a:ext cx="11091672" cy="86868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5330952"/>
            <a:ext cx="10872216" cy="722375"/>
          </a:xfrm>
          <a:prstGeom prst="rect">
            <a:avLst/>
          </a:prstGeom>
          <a:noFill/>
        </p:spPr>
        <p:txBody>
          <a:bodyPr wrap="square" lIns="45720" tIns="27432" rIns="45720" bIns="27432">
            <a:spAutoFit/>
          </a:bodyPr>
          <a:lstStyle/>
          <a:p>
            <a:pPr marL="0" indent="0">
              <a:spcAft>
                <a:spcPts val="400"/>
              </a:spcAft>
              <a:buNone/>
            </a:pPr>
            <a:r>
              <a:rPr sz="1500" b="1" i="0"/>
              <a:t>Keywords:</a:t>
            </a:r>
            <a:r>
              <a:rPr sz="1500" b="0" i="0"/>
              <a:t> Telugu Handwritten Character Recognition, Optical Character Recognition, SGF-MobileNetV3, MobileNetV3-Small, Deep Learning, Stroke Feature Extraction, Gated Feature Fusion, Telugu Unicode.</a:t>
            </a:r>
          </a:p>
        </p:txBody>
      </p:sp>
    </p:spTree>
    <p:extLst>
      <p:ext uri="{BB962C8B-B14F-4D97-AF65-F5344CB8AC3E}">
        <p14:creationId xmlns:p14="http://schemas.microsoft.com/office/powerpoint/2010/main" val="3985828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4</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Introduction</a:t>
            </a:r>
          </a:p>
        </p:txBody>
      </p:sp>
      <p:sp>
        <p:nvSpPr>
          <p:cNvPr id="6" name="TextBox 5"/>
          <p:cNvSpPr txBox="1"/>
          <p:nvPr/>
        </p:nvSpPr>
        <p:spPr>
          <a:xfrm>
            <a:off x="548640" y="1280160"/>
            <a:ext cx="5394960" cy="457200"/>
          </a:xfrm>
          <a:prstGeom prst="rect">
            <a:avLst/>
          </a:prstGeom>
          <a:noFill/>
        </p:spPr>
        <p:txBody>
          <a:bodyPr wrap="square" lIns="45720" tIns="27432" rIns="45720" bIns="27432">
            <a:spAutoFit/>
          </a:bodyPr>
          <a:lstStyle/>
          <a:p>
            <a:pPr marL="0" indent="0">
              <a:spcAft>
                <a:spcPts val="400"/>
              </a:spcAft>
              <a:buNone/>
            </a:pPr>
            <a:r>
              <a:rPr sz="2300" b="1" i="0">
                <a:solidFill>
                  <a:srgbClr val="1F3864"/>
                </a:solidFill>
              </a:rPr>
              <a:t>1.1 Problem Statement</a:t>
            </a:r>
          </a:p>
        </p:txBody>
      </p:sp>
      <p:sp>
        <p:nvSpPr>
          <p:cNvPr id="7" name="TextBox 6"/>
          <p:cNvSpPr txBox="1"/>
          <p:nvPr/>
        </p:nvSpPr>
        <p:spPr>
          <a:xfrm>
            <a:off x="548640" y="1737360"/>
            <a:ext cx="5394960" cy="4480560"/>
          </a:xfrm>
          <a:prstGeom prst="rect">
            <a:avLst/>
          </a:prstGeom>
          <a:noFill/>
        </p:spPr>
        <p:txBody>
          <a:bodyPr wrap="square" lIns="45720" tIns="27432" rIns="45720" bIns="27432">
            <a:spAutoFit/>
          </a:bodyPr>
          <a:lstStyle/>
          <a:p>
            <a:pPr marL="256032" indent="-219456" algn="just">
              <a:spcAft>
                <a:spcPts val="400"/>
              </a:spcAft>
              <a:buFont typeface="Arial"/>
              <a:buChar char="•"/>
            </a:pPr>
            <a:r>
              <a:rPr sz="1700" b="0" i="0" dirty="0"/>
              <a:t>Handwritten Telugu recognition is difficult in OCR: </a:t>
            </a:r>
            <a:r>
              <a:rPr sz="1700" b="1" i="0" dirty="0"/>
              <a:t>complex character structure, varied handwriting styles and visually similar forms</a:t>
            </a:r>
          </a:p>
          <a:p>
            <a:pPr marL="256032" indent="-219456" algn="just">
              <a:spcAft>
                <a:spcPts val="400"/>
              </a:spcAft>
              <a:buFont typeface="Arial"/>
              <a:buChar char="•"/>
            </a:pPr>
            <a:r>
              <a:rPr sz="1700" b="0" i="0" dirty="0"/>
              <a:t>Telugu categories (</a:t>
            </a:r>
            <a:r>
              <a:rPr sz="1700" b="1" i="0" dirty="0" err="1"/>
              <a:t>Achulu</a:t>
            </a:r>
            <a:r>
              <a:rPr sz="1700" b="1" i="0" dirty="0"/>
              <a:t>, </a:t>
            </a:r>
            <a:r>
              <a:rPr sz="1700" b="1" i="0" dirty="0" err="1"/>
              <a:t>Hallulu</a:t>
            </a:r>
            <a:r>
              <a:rPr sz="1700" b="1" i="0" dirty="0"/>
              <a:t>, </a:t>
            </a:r>
            <a:r>
              <a:rPr sz="1700" b="1" i="0" dirty="0" err="1"/>
              <a:t>Guninthamulu</a:t>
            </a:r>
            <a:r>
              <a:rPr sz="1700" b="1" i="0" dirty="0"/>
              <a:t>, </a:t>
            </a:r>
            <a:r>
              <a:rPr sz="1700" b="1" i="0" dirty="0" err="1"/>
              <a:t>Othulu</a:t>
            </a:r>
            <a:r>
              <a:rPr sz="1700" b="0" i="0" dirty="0"/>
              <a:t>) combine curves, loops, strokes and additional symbols</a:t>
            </a:r>
          </a:p>
          <a:p>
            <a:pPr marL="256032" indent="-219456" algn="just">
              <a:spcAft>
                <a:spcPts val="400"/>
              </a:spcAft>
              <a:buFont typeface="Arial"/>
              <a:buChar char="•"/>
            </a:pPr>
            <a:r>
              <a:rPr sz="1700" b="0" i="0" dirty="0"/>
              <a:t>Appearance-based classifiers struggle with characters of </a:t>
            </a:r>
            <a:r>
              <a:rPr sz="1700" b="1" i="0" dirty="0"/>
              <a:t>similar shape but different stroke structure</a:t>
            </a:r>
          </a:p>
          <a:p>
            <a:pPr marL="256032" indent="-219456" algn="just">
              <a:spcAft>
                <a:spcPts val="400"/>
              </a:spcAft>
              <a:buFont typeface="Arial"/>
              <a:buChar char="•"/>
            </a:pPr>
            <a:r>
              <a:rPr sz="1700" b="0" i="0" dirty="0"/>
              <a:t>Image size, alignment, noise, contrast and writing patterns reduce accuracy; </a:t>
            </a:r>
            <a:r>
              <a:rPr sz="1700" b="1" i="0" dirty="0"/>
              <a:t>imbalanced classes</a:t>
            </a:r>
            <a:r>
              <a:rPr sz="1700" b="0" i="0" dirty="0"/>
              <a:t> </a:t>
            </a:r>
            <a:r>
              <a:rPr sz="1700" b="0" i="0" dirty="0" err="1"/>
              <a:t>favour</a:t>
            </a:r>
            <a:r>
              <a:rPr sz="1700" b="0" i="0" dirty="0"/>
              <a:t> frequent characters</a:t>
            </a:r>
          </a:p>
          <a:p>
            <a:pPr marL="256032" indent="-219456" algn="just">
              <a:spcAft>
                <a:spcPts val="400"/>
              </a:spcAft>
              <a:buFont typeface="Arial"/>
              <a:buChar char="•"/>
            </a:pPr>
            <a:r>
              <a:rPr sz="1700" b="0" i="0" dirty="0"/>
              <a:t>Need: a deep learning framework combining </a:t>
            </a:r>
            <a:r>
              <a:rPr sz="1700" b="1" i="0" dirty="0"/>
              <a:t>visual appearance with structural stroke information</a:t>
            </a:r>
          </a:p>
          <a:p>
            <a:pPr marL="256032" indent="-219456" algn="just">
              <a:spcAft>
                <a:spcPts val="400"/>
              </a:spcAft>
              <a:buFont typeface="Arial"/>
              <a:buChar char="•"/>
            </a:pPr>
            <a:r>
              <a:rPr sz="1700" b="0" i="0" dirty="0"/>
              <a:t>Proposed </a:t>
            </a:r>
            <a:r>
              <a:rPr sz="1700" b="1" i="0" dirty="0"/>
              <a:t>SGF-MobileNetV3</a:t>
            </a:r>
            <a:r>
              <a:rPr sz="1700" b="0" i="0" dirty="0"/>
              <a:t> + preprocessing, augmentation, class balancing, feature fusion, Unicode conversion and dictionary correction</a:t>
            </a:r>
          </a:p>
        </p:txBody>
      </p:sp>
      <p:sp>
        <p:nvSpPr>
          <p:cNvPr id="8" name="TextBox 7"/>
          <p:cNvSpPr txBox="1"/>
          <p:nvPr/>
        </p:nvSpPr>
        <p:spPr>
          <a:xfrm>
            <a:off x="6263640" y="1280160"/>
            <a:ext cx="5394960" cy="457200"/>
          </a:xfrm>
          <a:prstGeom prst="rect">
            <a:avLst/>
          </a:prstGeom>
          <a:noFill/>
        </p:spPr>
        <p:txBody>
          <a:bodyPr wrap="square" lIns="45720" tIns="27432" rIns="45720" bIns="27432">
            <a:spAutoFit/>
          </a:bodyPr>
          <a:lstStyle/>
          <a:p>
            <a:pPr marL="0" indent="0">
              <a:spcAft>
                <a:spcPts val="400"/>
              </a:spcAft>
              <a:buNone/>
            </a:pPr>
            <a:r>
              <a:rPr sz="2300" b="1" i="0">
                <a:solidFill>
                  <a:srgbClr val="1F3864"/>
                </a:solidFill>
              </a:rPr>
              <a:t>1.2 Motivation</a:t>
            </a:r>
          </a:p>
        </p:txBody>
      </p:sp>
      <p:sp>
        <p:nvSpPr>
          <p:cNvPr id="9" name="TextBox 8"/>
          <p:cNvSpPr txBox="1"/>
          <p:nvPr/>
        </p:nvSpPr>
        <p:spPr>
          <a:xfrm>
            <a:off x="6263640" y="1737360"/>
            <a:ext cx="5394960" cy="3451201"/>
          </a:xfrm>
          <a:prstGeom prst="rect">
            <a:avLst/>
          </a:prstGeom>
          <a:noFill/>
        </p:spPr>
        <p:txBody>
          <a:bodyPr wrap="square" lIns="45720" tIns="27432" rIns="45720" bIns="27432">
            <a:spAutoFit/>
          </a:bodyPr>
          <a:lstStyle/>
          <a:p>
            <a:pPr marL="256032" indent="-219456" algn="just">
              <a:spcAft>
                <a:spcPts val="400"/>
              </a:spcAft>
              <a:buFont typeface="Arial"/>
              <a:buChar char="•"/>
            </a:pPr>
            <a:r>
              <a:rPr sz="1700" b="0" i="0" dirty="0"/>
              <a:t>Digitizing handwritten Telugu content is an important </a:t>
            </a:r>
            <a:r>
              <a:rPr sz="1700" b="1" i="0" dirty="0"/>
              <a:t>AI and computer-vision application</a:t>
            </a:r>
          </a:p>
          <a:p>
            <a:pPr marL="256032" indent="-219456" algn="just">
              <a:spcAft>
                <a:spcPts val="400"/>
              </a:spcAft>
              <a:buFont typeface="Arial"/>
              <a:buChar char="•"/>
            </a:pPr>
            <a:r>
              <a:rPr sz="1700" b="0" i="0" dirty="0"/>
              <a:t>Telugu is a complex script with </a:t>
            </a:r>
            <a:r>
              <a:rPr sz="1700" b="1" i="0" dirty="0"/>
              <a:t>curved structures, connected strokes and similar patterns</a:t>
            </a:r>
          </a:p>
          <a:p>
            <a:pPr marL="256032" indent="-219456" algn="just">
              <a:spcAft>
                <a:spcPts val="400"/>
              </a:spcAft>
              <a:buFont typeface="Arial"/>
              <a:buChar char="•"/>
            </a:pPr>
            <a:r>
              <a:rPr sz="1700" b="0" i="0" dirty="0"/>
              <a:t>MobileNetV3-Small extracts visual features, but appearance alone may miss structural differences</a:t>
            </a:r>
          </a:p>
          <a:p>
            <a:pPr marL="256032" indent="-219456" algn="just">
              <a:spcAft>
                <a:spcPts val="400"/>
              </a:spcAft>
              <a:buFont typeface="Arial"/>
              <a:buChar char="•"/>
            </a:pPr>
            <a:r>
              <a:rPr sz="1700" b="1" i="0" dirty="0"/>
              <a:t>Skeleton patterns, stroke width and edge characteristics</a:t>
            </a:r>
            <a:r>
              <a:rPr sz="1700" b="0" i="0" dirty="0"/>
              <a:t> add structural information for similar characters</a:t>
            </a:r>
          </a:p>
          <a:p>
            <a:pPr marL="256032" indent="-219456" algn="just">
              <a:spcAft>
                <a:spcPts val="400"/>
              </a:spcAft>
              <a:buFont typeface="Arial"/>
              <a:buChar char="•"/>
            </a:pPr>
            <a:r>
              <a:rPr sz="1700" b="0" i="0" dirty="0"/>
              <a:t>Must address class imbalance, handwriting variability, image noise and character positioning</a:t>
            </a:r>
          </a:p>
          <a:p>
            <a:pPr marL="256032" indent="-219456" algn="just">
              <a:spcAft>
                <a:spcPts val="400"/>
              </a:spcAft>
              <a:buFont typeface="Arial"/>
              <a:buChar char="•"/>
            </a:pPr>
            <a:r>
              <a:rPr sz="1700" b="0" i="0" dirty="0"/>
              <a:t>Unicode mapping and dictionary correction convert recognized sequences into </a:t>
            </a:r>
            <a:r>
              <a:rPr sz="1700" b="1" i="0" dirty="0"/>
              <a:t>meaningful Telugu text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5</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Scope of the Project</a:t>
            </a:r>
          </a:p>
        </p:txBody>
      </p:sp>
      <p:sp>
        <p:nvSpPr>
          <p:cNvPr id="6" name="TextBox 5"/>
          <p:cNvSpPr txBox="1"/>
          <p:nvPr/>
        </p:nvSpPr>
        <p:spPr>
          <a:xfrm>
            <a:off x="548640" y="1505012"/>
            <a:ext cx="11368540" cy="3769237"/>
          </a:xfrm>
          <a:prstGeom prst="rect">
            <a:avLst/>
          </a:prstGeom>
          <a:noFill/>
        </p:spPr>
        <p:txBody>
          <a:bodyPr wrap="square" lIns="45720" tIns="27432" rIns="45720" bIns="27432">
            <a:spAutoFit/>
          </a:bodyPr>
          <a:lstStyle/>
          <a:p>
            <a:pPr marL="36576" algn="just">
              <a:spcAft>
                <a:spcPts val="400"/>
              </a:spcAft>
            </a:pPr>
            <a:r>
              <a:rPr lang="en-US" sz="1700" dirty="0"/>
              <a:t>This project focuses on developing a Telugu Handwritten Character Recognition Framework using Stroke-Gated Feature Fusion MobileNetV3 (SGF-MobileNetV3). It recognizes four major Telugu character categories: </a:t>
            </a:r>
            <a:r>
              <a:rPr lang="en-US" sz="1700" dirty="0" err="1"/>
              <a:t>Achulu</a:t>
            </a:r>
            <a:r>
              <a:rPr lang="en-US" sz="1700" dirty="0"/>
              <a:t>, </a:t>
            </a:r>
            <a:r>
              <a:rPr lang="en-US" sz="1700" dirty="0" err="1"/>
              <a:t>Hallulu</a:t>
            </a:r>
            <a:r>
              <a:rPr lang="en-US" sz="1700" dirty="0"/>
              <a:t>, </a:t>
            </a:r>
            <a:r>
              <a:rPr lang="en-US" sz="1700" dirty="0" err="1"/>
              <a:t>Guninthamulu</a:t>
            </a:r>
            <a:r>
              <a:rPr lang="en-US" sz="1700" dirty="0"/>
              <a:t>, and </a:t>
            </a:r>
            <a:r>
              <a:rPr lang="en-US" sz="1700" dirty="0" err="1"/>
              <a:t>Othulu</a:t>
            </a:r>
            <a:r>
              <a:rPr lang="en-US" sz="1700" dirty="0"/>
              <a:t>. The dataset consists of 292,752 original images, which are processed through Unicode-based class merging and balancing to obtain 73,463 images across 76 character classes. These images are divided into training, validation, and testing sets. Preprocessing techniques such as grayscale conversion, cropping, resizing to 96 × 96 pixels, noise removal, and contrast enhancement are applied to improve image </a:t>
            </a:r>
            <a:r>
              <a:rPr lang="en-US" sz="1700" dirty="0" err="1"/>
              <a:t>quality.Two</a:t>
            </a:r>
            <a:r>
              <a:rPr lang="en-US" sz="1700" dirty="0"/>
              <a:t> models are implemented: a reduced-capacity MobileNetV3-Small baseline and the proposed SGF-MobileNetV3. The proposed model combines visual features with stroke-based information, including skeleton structures, stroke width, and edge magnitude, using an adaptive gated feature fusion mechanism. Telugu Unicode mapping converts predicted classes into their corresponding Telugu symbols, while dictionary-based correction supports character-sequence recognition. The proposed SGF-MobileNetV3 achieves 95.90% classification accuracy, 95.34% macro F1-score, and 99.48% top-3 accuracy, outperforming the baseline model's 90.74% accuracy. The project aims to improve Telugu handwritten character recognition through stroke-aware feature extraction, balanced training, and effective feature fusion. However, further testing on independent handwriting samples and complete word-level datasets is required to establish its broader reliability.</a:t>
            </a:r>
            <a:endParaRPr sz="1700" b="0" i="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6</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Project Introduction</a:t>
            </a:r>
          </a:p>
        </p:txBody>
      </p:sp>
      <p:sp>
        <p:nvSpPr>
          <p:cNvPr id="6" name="TextBox 5"/>
          <p:cNvSpPr txBox="1"/>
          <p:nvPr/>
        </p:nvSpPr>
        <p:spPr>
          <a:xfrm>
            <a:off x="680851" y="1329146"/>
            <a:ext cx="11039529" cy="4764381"/>
          </a:xfrm>
          <a:prstGeom prst="rect">
            <a:avLst/>
          </a:prstGeom>
          <a:noFill/>
        </p:spPr>
        <p:txBody>
          <a:bodyPr wrap="square" lIns="45720" tIns="27432" rIns="45720" bIns="27432">
            <a:spAutoFit/>
          </a:bodyPr>
          <a:lstStyle/>
          <a:p>
            <a:pPr algn="just"/>
            <a:r>
              <a:rPr lang="en-US" sz="1700" dirty="0"/>
              <a:t>Handwritten Telugu character recognition is an important application of Artificial Intelligence, Computer Vision, and Optical Character Recognition (OCR). Telugu has a complex writing system consisting of vowels, consonants, vowel-modified consonants, and conjunct forms. Variations in handwriting styles, stroke thickness, character shapes, and image quality make accurate recognition challenging. This project proposes a Telugu Handwritten Character Recognition Framework using Stroke-Gated Feature Fusion MobileNetV3 (SGF-MobileNetV3) to recognize four major Telugu character categories: </a:t>
            </a:r>
            <a:r>
              <a:rPr lang="en-US" sz="1700" dirty="0" err="1"/>
              <a:t>Achulu</a:t>
            </a:r>
            <a:r>
              <a:rPr lang="en-US" sz="1700" dirty="0"/>
              <a:t>, </a:t>
            </a:r>
            <a:r>
              <a:rPr lang="en-US" sz="1700" dirty="0" err="1"/>
              <a:t>Hallulu</a:t>
            </a:r>
            <a:r>
              <a:rPr lang="en-US" sz="1700" dirty="0"/>
              <a:t>, </a:t>
            </a:r>
            <a:r>
              <a:rPr lang="en-US" sz="1700" dirty="0" err="1"/>
              <a:t>Guninthamulu</a:t>
            </a:r>
            <a:r>
              <a:rPr lang="en-US" sz="1700" dirty="0"/>
              <a:t>, and </a:t>
            </a:r>
            <a:r>
              <a:rPr lang="en-US" sz="1700" dirty="0" err="1"/>
              <a:t>Othulu</a:t>
            </a:r>
            <a:r>
              <a:rPr lang="en-US" sz="1700" dirty="0"/>
              <a:t>. The framework uses a reduced-capacity MobileNetV3-Small as the baseline and introduces a dedicated stroke-processing branch in the proposed model. The visual branch extracts appearance features, while the stroke branch captures skeleton structures, stroke-width maps, and edge information. An adaptive gated feature fusion mechanism combines these features to improve classification performance. The dataset contains 73,463 selected handwritten images across 76 character classes. Image preprocessing techniques, including grayscale conversion, cropping, resizing, noise removal, and CLAHE-based contrast enhancement, are applied. Data augmentation and class-balanced sampling are also used to improve generalization. Telugu Unicode mapping converts predicted classes into Telugu symbols, while dictionary-based correction supports preliminary word recognition from ordered character sequences. Experimental results show that SGF-MobileNetV3 achieves </a:t>
            </a:r>
            <a:r>
              <a:rPr lang="en-US" sz="1700" b="1" dirty="0"/>
              <a:t>95.90% accuracy, 95.34% macro F1-score, and 99.48% top-3 accuracy</a:t>
            </a:r>
            <a:r>
              <a:rPr lang="en-US" sz="1700" dirty="0"/>
              <a:t>, outperforming the MobileNetV3-Small baseline, which achieves 90.74% accuracy. The proposed model also achieves 90.63% recognition accuracy under simulated image-upload variations. Overall, the framework demonstrates the effectiveness of combining visual and stroke-based features for Telugu handwritten character recognition. Future work can extend the system to complete handwritten words and document-level Telugu text recognition.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7</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600" dirty="0"/>
              <a:t>Literature Survey (1/3)</a:t>
            </a:r>
          </a:p>
        </p:txBody>
      </p:sp>
      <p:graphicFrame>
        <p:nvGraphicFramePr>
          <p:cNvPr id="6" name="Table 5"/>
          <p:cNvGraphicFramePr>
            <a:graphicFrameLocks noGrp="1"/>
          </p:cNvGraphicFramePr>
          <p:nvPr>
            <p:extLst>
              <p:ext uri="{D42A27DB-BD31-4B8C-83A1-F6EECF244321}">
                <p14:modId xmlns:p14="http://schemas.microsoft.com/office/powerpoint/2010/main" val="1428369572"/>
              </p:ext>
            </p:extLst>
          </p:nvPr>
        </p:nvGraphicFramePr>
        <p:xfrm>
          <a:off x="548640" y="1325880"/>
          <a:ext cx="11091672" cy="4114800"/>
        </p:xfrm>
        <a:graphic>
          <a:graphicData uri="http://schemas.openxmlformats.org/drawingml/2006/table">
            <a:tbl>
              <a:tblPr>
                <a:tableStyleId>{616DA210-FB5B-4158-B5E0-FEB733F419BA}</a:tableStyleId>
              </a:tblPr>
              <a:tblGrid>
                <a:gridCol w="5486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5148072">
                  <a:extLst>
                    <a:ext uri="{9D8B030D-6E8A-4147-A177-3AD203B41FA5}">
                      <a16:colId xmlns:a16="http://schemas.microsoft.com/office/drawing/2014/main" val="20003"/>
                    </a:ext>
                  </a:extLst>
                </a:gridCol>
              </a:tblGrid>
              <a:tr h="822960">
                <a:tc>
                  <a:txBody>
                    <a:bodyPr/>
                    <a:lstStyle/>
                    <a:p>
                      <a:pPr algn="ctr"/>
                      <a:r>
                        <a:rPr sz="1500"/>
                        <a:t>Ref.</a:t>
                      </a:r>
                      <a:endParaRPr sz="1500" b="1" i="0">
                        <a:solidFill>
                          <a:srgbClr val="FFFFFF"/>
                        </a:solidFill>
                      </a:endParaRPr>
                    </a:p>
                  </a:txBody>
                  <a:tcPr marL="73152" marR="73152" marT="36576" marB="36576" anchor="ctr"/>
                </a:tc>
                <a:tc>
                  <a:txBody>
                    <a:bodyPr/>
                    <a:lstStyle/>
                    <a:p>
                      <a:pPr algn="l"/>
                      <a:r>
                        <a:rPr sz="1500"/>
                        <a:t>Author(s) / Source</a:t>
                      </a:r>
                      <a:endParaRPr sz="1500" b="1" i="0">
                        <a:solidFill>
                          <a:srgbClr val="FFFFFF"/>
                        </a:solidFill>
                      </a:endParaRPr>
                    </a:p>
                  </a:txBody>
                  <a:tcPr marL="73152" marR="73152" marT="36576" marB="36576" anchor="ctr"/>
                </a:tc>
                <a:tc>
                  <a:txBody>
                    <a:bodyPr/>
                    <a:lstStyle/>
                    <a:p>
                      <a:pPr algn="l"/>
                      <a:r>
                        <a:rPr sz="1500"/>
                        <a:t>Technique</a:t>
                      </a:r>
                      <a:endParaRPr sz="1500" b="1" i="0">
                        <a:solidFill>
                          <a:srgbClr val="FFFFFF"/>
                        </a:solidFill>
                      </a:endParaRPr>
                    </a:p>
                  </a:txBody>
                  <a:tcPr marL="73152" marR="73152" marT="36576" marB="36576" anchor="ctr"/>
                </a:tc>
                <a:tc>
                  <a:txBody>
                    <a:bodyPr/>
                    <a:lstStyle/>
                    <a:p>
                      <a:pPr algn="l"/>
                      <a:r>
                        <a:rPr sz="1500"/>
                        <a:t>Key findings and relevance</a:t>
                      </a:r>
                      <a:endParaRPr sz="1500" b="1" i="0">
                        <a:solidFill>
                          <a:srgbClr val="FFFFFF"/>
                        </a:solidFill>
                      </a:endParaRPr>
                    </a:p>
                  </a:txBody>
                  <a:tcPr marL="73152" marR="73152" marT="36576" marB="36576" anchor="ctr"/>
                </a:tc>
                <a:extLst>
                  <a:ext uri="{0D108BD9-81ED-4DB2-BD59-A6C34878D82A}">
                    <a16:rowId xmlns:a16="http://schemas.microsoft.com/office/drawing/2014/main" val="10000"/>
                  </a:ext>
                </a:extLst>
              </a:tr>
              <a:tr h="822960">
                <a:tc>
                  <a:txBody>
                    <a:bodyPr/>
                    <a:lstStyle/>
                    <a:p>
                      <a:pPr algn="ctr"/>
                      <a:r>
                        <a:rPr sz="1500"/>
                        <a:t>[1]</a:t>
                      </a:r>
                      <a:endParaRPr sz="1500" b="0" i="0">
                        <a:solidFill>
                          <a:srgbClr val="000000"/>
                        </a:solidFill>
                      </a:endParaRPr>
                    </a:p>
                  </a:txBody>
                  <a:tcPr marL="73152" marR="73152" marT="36576" marB="36576" anchor="ctr"/>
                </a:tc>
                <a:tc>
                  <a:txBody>
                    <a:bodyPr/>
                    <a:lstStyle/>
                    <a:p>
                      <a:pPr algn="l"/>
                      <a:r>
                        <a:rPr sz="1500"/>
                        <a:t>R. Sharma and B. Kaushik, Computer Science Review, 2020</a:t>
                      </a:r>
                      <a:endParaRPr sz="1500" b="0" i="0">
                        <a:solidFill>
                          <a:srgbClr val="000000"/>
                        </a:solidFill>
                      </a:endParaRPr>
                    </a:p>
                  </a:txBody>
                  <a:tcPr marL="73152" marR="73152" marT="36576" marB="36576" anchor="ctr"/>
                </a:tc>
                <a:tc>
                  <a:txBody>
                    <a:bodyPr/>
                    <a:lstStyle/>
                    <a:p>
                      <a:pPr algn="l"/>
                      <a:r>
                        <a:rPr sz="1500"/>
                        <a:t>Survey of offline handwritten Indic script recognition</a:t>
                      </a:r>
                      <a:endParaRPr sz="1500" b="0" i="0">
                        <a:solidFill>
                          <a:srgbClr val="000000"/>
                        </a:solidFill>
                      </a:endParaRPr>
                    </a:p>
                  </a:txBody>
                  <a:tcPr marL="73152" marR="73152" marT="36576" marB="36576" anchor="ctr"/>
                </a:tc>
                <a:tc>
                  <a:txBody>
                    <a:bodyPr/>
                    <a:lstStyle/>
                    <a:p>
                      <a:pPr algn="l"/>
                      <a:r>
                        <a:rPr sz="1500"/>
                        <a:t>Examined feature extraction, classification and challenges for Indian languages including Telugu; highlighted combining complementary features</a:t>
                      </a:r>
                      <a:endParaRPr sz="1500" b="0" i="0">
                        <a:solidFill>
                          <a:srgbClr val="000000"/>
                        </a:solidFill>
                      </a:endParaRPr>
                    </a:p>
                  </a:txBody>
                  <a:tcPr marL="73152" marR="73152" marT="36576" marB="36576" anchor="ctr"/>
                </a:tc>
                <a:extLst>
                  <a:ext uri="{0D108BD9-81ED-4DB2-BD59-A6C34878D82A}">
                    <a16:rowId xmlns:a16="http://schemas.microsoft.com/office/drawing/2014/main" val="10001"/>
                  </a:ext>
                </a:extLst>
              </a:tr>
              <a:tr h="822960">
                <a:tc>
                  <a:txBody>
                    <a:bodyPr/>
                    <a:lstStyle/>
                    <a:p>
                      <a:pPr algn="ctr"/>
                      <a:r>
                        <a:rPr sz="1500"/>
                        <a:t>[2]</a:t>
                      </a:r>
                      <a:endParaRPr sz="1500" b="0" i="0">
                        <a:solidFill>
                          <a:srgbClr val="000000"/>
                        </a:solidFill>
                      </a:endParaRPr>
                    </a:p>
                  </a:txBody>
                  <a:tcPr marL="73152" marR="73152" marT="36576" marB="36576" anchor="ctr"/>
                </a:tc>
                <a:tc>
                  <a:txBody>
                    <a:bodyPr/>
                    <a:lstStyle/>
                    <a:p>
                      <a:pPr algn="l"/>
                      <a:r>
                        <a:rPr sz="1500"/>
                        <a:t>S. T. Soman et al., NCC, 2013</a:t>
                      </a:r>
                      <a:endParaRPr sz="1500" b="0" i="0">
                        <a:solidFill>
                          <a:srgbClr val="000000"/>
                        </a:solidFill>
                      </a:endParaRPr>
                    </a:p>
                  </a:txBody>
                  <a:tcPr marL="73152" marR="73152" marT="36576" marB="36576" anchor="ctr"/>
                </a:tc>
                <a:tc>
                  <a:txBody>
                    <a:bodyPr/>
                    <a:lstStyle/>
                    <a:p>
                      <a:pPr algn="l"/>
                      <a:r>
                        <a:rPr sz="1500" dirty="0"/>
                        <a:t>CNN feature extraction + PCA + SVM </a:t>
                      </a:r>
                      <a:r>
                        <a:rPr sz="1500" dirty="0" err="1"/>
                        <a:t>multiclassifier</a:t>
                      </a:r>
                      <a:endParaRPr sz="1500" b="0" i="0" dirty="0">
                        <a:solidFill>
                          <a:srgbClr val="000000"/>
                        </a:solidFill>
                      </a:endParaRPr>
                    </a:p>
                  </a:txBody>
                  <a:tcPr marL="73152" marR="73152" marT="36576" marB="36576" anchor="ctr"/>
                </a:tc>
                <a:tc>
                  <a:txBody>
                    <a:bodyPr/>
                    <a:lstStyle/>
                    <a:p>
                      <a:pPr algn="l"/>
                      <a:r>
                        <a:rPr sz="1500"/>
                        <a:t>92.26% accuracy (consonants) and 92% (vowel modifiers) on Telugu consonant–vowel images</a:t>
                      </a:r>
                      <a:endParaRPr sz="1500" b="0" i="0">
                        <a:solidFill>
                          <a:srgbClr val="000000"/>
                        </a:solidFill>
                      </a:endParaRPr>
                    </a:p>
                  </a:txBody>
                  <a:tcPr marL="73152" marR="73152" marT="36576" marB="36576" anchor="ctr"/>
                </a:tc>
                <a:extLst>
                  <a:ext uri="{0D108BD9-81ED-4DB2-BD59-A6C34878D82A}">
                    <a16:rowId xmlns:a16="http://schemas.microsoft.com/office/drawing/2014/main" val="10002"/>
                  </a:ext>
                </a:extLst>
              </a:tr>
              <a:tr h="822960">
                <a:tc>
                  <a:txBody>
                    <a:bodyPr/>
                    <a:lstStyle/>
                    <a:p>
                      <a:pPr algn="ctr"/>
                      <a:r>
                        <a:rPr sz="1500"/>
                        <a:t>[3]</a:t>
                      </a:r>
                      <a:endParaRPr sz="1500" b="0" i="0">
                        <a:solidFill>
                          <a:srgbClr val="000000"/>
                        </a:solidFill>
                      </a:endParaRPr>
                    </a:p>
                  </a:txBody>
                  <a:tcPr marL="73152" marR="73152" marT="36576" marB="36576" anchor="ctr"/>
                </a:tc>
                <a:tc>
                  <a:txBody>
                    <a:bodyPr/>
                    <a:lstStyle/>
                    <a:p>
                      <a:pPr algn="l"/>
                      <a:r>
                        <a:rPr sz="1500"/>
                        <a:t>V. K. Sonthi et al., ACM TALLIP, 2023</a:t>
                      </a:r>
                      <a:endParaRPr sz="1500" b="0" i="0">
                        <a:solidFill>
                          <a:srgbClr val="000000"/>
                        </a:solidFill>
                      </a:endParaRPr>
                    </a:p>
                  </a:txBody>
                  <a:tcPr marL="73152" marR="73152" marT="36576" marB="36576" anchor="ctr"/>
                </a:tc>
                <a:tc>
                  <a:txBody>
                    <a:bodyPr/>
                    <a:lstStyle/>
                    <a:p>
                      <a:pPr algn="l"/>
                      <a:r>
                        <a:rPr sz="1500"/>
                        <a:t>Multi-Objective Mayfly Optimization with DenseNet-169 and Functional Link Neural Network</a:t>
                      </a:r>
                      <a:endParaRPr sz="1500" b="0" i="0">
                        <a:solidFill>
                          <a:srgbClr val="000000"/>
                        </a:solidFill>
                      </a:endParaRPr>
                    </a:p>
                  </a:txBody>
                  <a:tcPr marL="73152" marR="73152" marT="36576" marB="36576" anchor="ctr"/>
                </a:tc>
                <a:tc>
                  <a:txBody>
                    <a:bodyPr/>
                    <a:lstStyle/>
                    <a:p>
                      <a:pPr algn="l"/>
                      <a:r>
                        <a:rPr sz="1500"/>
                        <a:t>Showed the usefulness of deep feature representations and optimization-based learning for handwritten character classification</a:t>
                      </a:r>
                      <a:endParaRPr sz="1500" b="0" i="0">
                        <a:solidFill>
                          <a:srgbClr val="000000"/>
                        </a:solidFill>
                      </a:endParaRPr>
                    </a:p>
                  </a:txBody>
                  <a:tcPr marL="73152" marR="73152" marT="36576" marB="36576" anchor="ctr"/>
                </a:tc>
                <a:extLst>
                  <a:ext uri="{0D108BD9-81ED-4DB2-BD59-A6C34878D82A}">
                    <a16:rowId xmlns:a16="http://schemas.microsoft.com/office/drawing/2014/main" val="10003"/>
                  </a:ext>
                </a:extLst>
              </a:tr>
              <a:tr h="822960">
                <a:tc>
                  <a:txBody>
                    <a:bodyPr/>
                    <a:lstStyle/>
                    <a:p>
                      <a:pPr algn="ctr"/>
                      <a:r>
                        <a:rPr sz="1500"/>
                        <a:t>[4]</a:t>
                      </a:r>
                      <a:endParaRPr sz="1500" b="0" i="0">
                        <a:solidFill>
                          <a:srgbClr val="000000"/>
                        </a:solidFill>
                      </a:endParaRPr>
                    </a:p>
                  </a:txBody>
                  <a:tcPr marL="73152" marR="73152" marT="36576" marB="36576" anchor="ctr"/>
                </a:tc>
                <a:tc>
                  <a:txBody>
                    <a:bodyPr/>
                    <a:lstStyle/>
                    <a:p>
                      <a:pPr algn="l"/>
                      <a:r>
                        <a:rPr sz="1500"/>
                        <a:t>IEEE ICDCOT, 2024</a:t>
                      </a:r>
                      <a:endParaRPr sz="1500" b="0" i="0">
                        <a:solidFill>
                          <a:srgbClr val="000000"/>
                        </a:solidFill>
                      </a:endParaRPr>
                    </a:p>
                  </a:txBody>
                  <a:tcPr marL="73152" marR="73152" marT="36576" marB="36576" anchor="ctr"/>
                </a:tc>
                <a:tc>
                  <a:txBody>
                    <a:bodyPr/>
                    <a:lstStyle/>
                    <a:p>
                      <a:pPr algn="l"/>
                      <a:r>
                        <a:rPr sz="1500"/>
                        <a:t>CNN-based recognition of handwritten Telugu characters</a:t>
                      </a:r>
                      <a:endParaRPr sz="1500" b="0" i="0">
                        <a:solidFill>
                          <a:srgbClr val="000000"/>
                        </a:solidFill>
                      </a:endParaRPr>
                    </a:p>
                  </a:txBody>
                  <a:tcPr marL="73152" marR="73152" marT="36576" marB="36576" anchor="ctr"/>
                </a:tc>
                <a:tc>
                  <a:txBody>
                    <a:bodyPr/>
                    <a:lstStyle/>
                    <a:p>
                      <a:pPr algn="l"/>
                      <a:r>
                        <a:rPr sz="1500" dirty="0"/>
                        <a:t>96.96% classification accuracy; CNNs learn appearance and may not distinguish structural stroke detail of similar characters</a:t>
                      </a:r>
                      <a:endParaRPr sz="1500" b="0" i="0" dirty="0">
                        <a:solidFill>
                          <a:srgbClr val="000000"/>
                        </a:solidFill>
                      </a:endParaRPr>
                    </a:p>
                  </a:txBody>
                  <a:tcPr marL="73152" marR="73152" marT="36576" marB="36576"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8</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600" dirty="0"/>
              <a:t>Literature Survey (2/3)</a:t>
            </a:r>
          </a:p>
        </p:txBody>
      </p:sp>
      <p:graphicFrame>
        <p:nvGraphicFramePr>
          <p:cNvPr id="6" name="Table 5"/>
          <p:cNvGraphicFramePr>
            <a:graphicFrameLocks noGrp="1"/>
          </p:cNvGraphicFramePr>
          <p:nvPr>
            <p:extLst>
              <p:ext uri="{D42A27DB-BD31-4B8C-83A1-F6EECF244321}">
                <p14:modId xmlns:p14="http://schemas.microsoft.com/office/powerpoint/2010/main" val="2862942588"/>
              </p:ext>
            </p:extLst>
          </p:nvPr>
        </p:nvGraphicFramePr>
        <p:xfrm>
          <a:off x="548640" y="1325880"/>
          <a:ext cx="11091672" cy="4937760"/>
        </p:xfrm>
        <a:graphic>
          <a:graphicData uri="http://schemas.openxmlformats.org/drawingml/2006/table">
            <a:tbl>
              <a:tblPr>
                <a:tableStyleId>{616DA210-FB5B-4158-B5E0-FEB733F419BA}</a:tableStyleId>
              </a:tblPr>
              <a:tblGrid>
                <a:gridCol w="5486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5148072">
                  <a:extLst>
                    <a:ext uri="{9D8B030D-6E8A-4147-A177-3AD203B41FA5}">
                      <a16:colId xmlns:a16="http://schemas.microsoft.com/office/drawing/2014/main" val="20003"/>
                    </a:ext>
                  </a:extLst>
                </a:gridCol>
              </a:tblGrid>
              <a:tr h="822960">
                <a:tc>
                  <a:txBody>
                    <a:bodyPr/>
                    <a:lstStyle/>
                    <a:p>
                      <a:pPr algn="ctr"/>
                      <a:r>
                        <a:rPr sz="1500"/>
                        <a:t>Ref.</a:t>
                      </a:r>
                      <a:endParaRPr sz="1500" b="1" i="0">
                        <a:solidFill>
                          <a:srgbClr val="FFFFFF"/>
                        </a:solidFill>
                      </a:endParaRPr>
                    </a:p>
                  </a:txBody>
                  <a:tcPr marL="73152" marR="73152" marT="36576" marB="36576" anchor="ctr"/>
                </a:tc>
                <a:tc>
                  <a:txBody>
                    <a:bodyPr/>
                    <a:lstStyle/>
                    <a:p>
                      <a:pPr algn="l"/>
                      <a:r>
                        <a:rPr sz="1500"/>
                        <a:t>Author(s) / Source</a:t>
                      </a:r>
                      <a:endParaRPr sz="1500" b="1" i="0">
                        <a:solidFill>
                          <a:srgbClr val="FFFFFF"/>
                        </a:solidFill>
                      </a:endParaRPr>
                    </a:p>
                  </a:txBody>
                  <a:tcPr marL="73152" marR="73152" marT="36576" marB="36576" anchor="ctr"/>
                </a:tc>
                <a:tc>
                  <a:txBody>
                    <a:bodyPr/>
                    <a:lstStyle/>
                    <a:p>
                      <a:pPr algn="l"/>
                      <a:r>
                        <a:rPr sz="1500"/>
                        <a:t>Technique</a:t>
                      </a:r>
                      <a:endParaRPr sz="1500" b="1" i="0">
                        <a:solidFill>
                          <a:srgbClr val="FFFFFF"/>
                        </a:solidFill>
                      </a:endParaRPr>
                    </a:p>
                  </a:txBody>
                  <a:tcPr marL="73152" marR="73152" marT="36576" marB="36576" anchor="ctr"/>
                </a:tc>
                <a:tc>
                  <a:txBody>
                    <a:bodyPr/>
                    <a:lstStyle/>
                    <a:p>
                      <a:pPr algn="l"/>
                      <a:r>
                        <a:rPr sz="1500"/>
                        <a:t>Key findings and relevance</a:t>
                      </a:r>
                      <a:endParaRPr sz="1500" b="1" i="0">
                        <a:solidFill>
                          <a:srgbClr val="FFFFFF"/>
                        </a:solidFill>
                      </a:endParaRPr>
                    </a:p>
                  </a:txBody>
                  <a:tcPr marL="73152" marR="73152" marT="36576" marB="36576" anchor="ctr"/>
                </a:tc>
                <a:extLst>
                  <a:ext uri="{0D108BD9-81ED-4DB2-BD59-A6C34878D82A}">
                    <a16:rowId xmlns:a16="http://schemas.microsoft.com/office/drawing/2014/main" val="10000"/>
                  </a:ext>
                </a:extLst>
              </a:tr>
              <a:tr h="822960">
                <a:tc>
                  <a:txBody>
                    <a:bodyPr/>
                    <a:lstStyle/>
                    <a:p>
                      <a:pPr algn="ctr"/>
                      <a:r>
                        <a:rPr sz="1500"/>
                        <a:t>[5]</a:t>
                      </a:r>
                      <a:endParaRPr sz="1500" b="0" i="0">
                        <a:solidFill>
                          <a:srgbClr val="000000"/>
                        </a:solidFill>
                      </a:endParaRPr>
                    </a:p>
                  </a:txBody>
                  <a:tcPr marL="73152" marR="73152" marT="36576" marB="36576" anchor="ctr"/>
                </a:tc>
                <a:tc>
                  <a:txBody>
                    <a:bodyPr/>
                    <a:lstStyle/>
                    <a:p>
                      <a:pPr algn="l"/>
                      <a:r>
                        <a:rPr sz="1500"/>
                        <a:t>IEEE ICISSGT, 2026</a:t>
                      </a:r>
                      <a:endParaRPr sz="1500" b="0" i="0">
                        <a:solidFill>
                          <a:srgbClr val="000000"/>
                        </a:solidFill>
                      </a:endParaRPr>
                    </a:p>
                  </a:txBody>
                  <a:tcPr marL="73152" marR="73152" marT="36576" marB="36576" anchor="ctr"/>
                </a:tc>
                <a:tc>
                  <a:txBody>
                    <a:bodyPr/>
                    <a:lstStyle/>
                    <a:p>
                      <a:pPr algn="l"/>
                      <a:r>
                        <a:rPr sz="1500"/>
                        <a:t>CNN, ResNet-101 and hybrid CNN-LSTM on a writer-independent dataset</a:t>
                      </a:r>
                      <a:endParaRPr sz="1500" b="0" i="0">
                        <a:solidFill>
                          <a:srgbClr val="000000"/>
                        </a:solidFill>
                      </a:endParaRPr>
                    </a:p>
                  </a:txBody>
                  <a:tcPr marL="73152" marR="73152" marT="36576" marB="36576" anchor="ctr"/>
                </a:tc>
                <a:tc>
                  <a:txBody>
                    <a:bodyPr/>
                    <a:lstStyle/>
                    <a:p>
                      <a:pPr algn="l"/>
                      <a:r>
                        <a:rPr sz="1500"/>
                        <a:t>Hybrid CNN-LSTM reached 96.87%; sequence models and character classifiers are not directly comparable without common datasets and protocols</a:t>
                      </a:r>
                      <a:endParaRPr sz="1500" b="0" i="0">
                        <a:solidFill>
                          <a:srgbClr val="000000"/>
                        </a:solidFill>
                      </a:endParaRPr>
                    </a:p>
                  </a:txBody>
                  <a:tcPr marL="73152" marR="73152" marT="36576" marB="36576" anchor="ctr"/>
                </a:tc>
                <a:extLst>
                  <a:ext uri="{0D108BD9-81ED-4DB2-BD59-A6C34878D82A}">
                    <a16:rowId xmlns:a16="http://schemas.microsoft.com/office/drawing/2014/main" val="10001"/>
                  </a:ext>
                </a:extLst>
              </a:tr>
              <a:tr h="822960">
                <a:tc>
                  <a:txBody>
                    <a:bodyPr/>
                    <a:lstStyle/>
                    <a:p>
                      <a:pPr algn="ctr"/>
                      <a:r>
                        <a:rPr sz="1500"/>
                        <a:t>[6]</a:t>
                      </a:r>
                      <a:endParaRPr sz="1500" b="0" i="0">
                        <a:solidFill>
                          <a:srgbClr val="000000"/>
                        </a:solidFill>
                      </a:endParaRPr>
                    </a:p>
                  </a:txBody>
                  <a:tcPr marL="73152" marR="73152" marT="36576" marB="36576" anchor="ctr"/>
                </a:tc>
                <a:tc>
                  <a:txBody>
                    <a:bodyPr/>
                    <a:lstStyle/>
                    <a:p>
                      <a:pPr algn="l"/>
                      <a:r>
                        <a:rPr sz="1500"/>
                        <a:t>M. Sandler et al., CVPR, 2018</a:t>
                      </a:r>
                      <a:endParaRPr sz="1500" b="0" i="0">
                        <a:solidFill>
                          <a:srgbClr val="000000"/>
                        </a:solidFill>
                      </a:endParaRPr>
                    </a:p>
                  </a:txBody>
                  <a:tcPr marL="73152" marR="73152" marT="36576" marB="36576" anchor="ctr"/>
                </a:tc>
                <a:tc>
                  <a:txBody>
                    <a:bodyPr/>
                    <a:lstStyle/>
                    <a:p>
                      <a:pPr algn="l"/>
                      <a:r>
                        <a:rPr sz="1500"/>
                        <a:t>MobileNetV2: inverted residuals and linear bottlenecks</a:t>
                      </a:r>
                      <a:endParaRPr sz="1500" b="0" i="0">
                        <a:solidFill>
                          <a:srgbClr val="000000"/>
                        </a:solidFill>
                      </a:endParaRPr>
                    </a:p>
                  </a:txBody>
                  <a:tcPr marL="73152" marR="73152" marT="36576" marB="36576" anchor="ctr"/>
                </a:tc>
                <a:tc>
                  <a:txBody>
                    <a:bodyPr/>
                    <a:lstStyle/>
                    <a:p>
                      <a:pPr algn="l"/>
                      <a:r>
                        <a:rPr sz="1500"/>
                        <a:t>Improves computational efficiency while preserving discriminative features</a:t>
                      </a:r>
                      <a:endParaRPr sz="1500" b="0" i="0">
                        <a:solidFill>
                          <a:srgbClr val="000000"/>
                        </a:solidFill>
                      </a:endParaRPr>
                    </a:p>
                  </a:txBody>
                  <a:tcPr marL="73152" marR="73152" marT="36576" marB="36576" anchor="ctr"/>
                </a:tc>
                <a:extLst>
                  <a:ext uri="{0D108BD9-81ED-4DB2-BD59-A6C34878D82A}">
                    <a16:rowId xmlns:a16="http://schemas.microsoft.com/office/drawing/2014/main" val="10002"/>
                  </a:ext>
                </a:extLst>
              </a:tr>
              <a:tr h="822960">
                <a:tc>
                  <a:txBody>
                    <a:bodyPr/>
                    <a:lstStyle/>
                    <a:p>
                      <a:pPr algn="ctr"/>
                      <a:r>
                        <a:rPr sz="1500"/>
                        <a:t>[7]</a:t>
                      </a:r>
                      <a:endParaRPr sz="1500" b="0" i="0">
                        <a:solidFill>
                          <a:srgbClr val="000000"/>
                        </a:solidFill>
                      </a:endParaRPr>
                    </a:p>
                  </a:txBody>
                  <a:tcPr marL="73152" marR="73152" marT="36576" marB="36576" anchor="ctr"/>
                </a:tc>
                <a:tc>
                  <a:txBody>
                    <a:bodyPr/>
                    <a:lstStyle/>
                    <a:p>
                      <a:pPr algn="l"/>
                      <a:r>
                        <a:rPr sz="1500"/>
                        <a:t>A. Howard et al., ICCV, 2019</a:t>
                      </a:r>
                      <a:endParaRPr sz="1500" b="0" i="0">
                        <a:solidFill>
                          <a:srgbClr val="000000"/>
                        </a:solidFill>
                      </a:endParaRPr>
                    </a:p>
                  </a:txBody>
                  <a:tcPr marL="73152" marR="73152" marT="36576" marB="36576" anchor="ctr"/>
                </a:tc>
                <a:tc>
                  <a:txBody>
                    <a:bodyPr/>
                    <a:lstStyle/>
                    <a:p>
                      <a:pPr algn="l"/>
                      <a:r>
                        <a:rPr sz="1500" dirty="0"/>
                        <a:t>MobileNetV3: hardware-aware NAS + </a:t>
                      </a:r>
                      <a:r>
                        <a:rPr sz="1500" dirty="0" err="1"/>
                        <a:t>NetAdapt</a:t>
                      </a:r>
                      <a:endParaRPr sz="1500" b="0" i="0" dirty="0">
                        <a:solidFill>
                          <a:srgbClr val="000000"/>
                        </a:solidFill>
                      </a:endParaRPr>
                    </a:p>
                  </a:txBody>
                  <a:tcPr marL="73152" marR="73152" marT="36576" marB="36576" anchor="ctr"/>
                </a:tc>
                <a:tc>
                  <a:txBody>
                    <a:bodyPr/>
                    <a:lstStyle/>
                    <a:p>
                      <a:pPr algn="l"/>
                      <a:r>
                        <a:rPr sz="1500"/>
                        <a:t>MobileNetV3-Large/Small; Small suits resource-constrained classification – used as baseline and appearance backbone</a:t>
                      </a:r>
                      <a:endParaRPr sz="1500" b="0" i="0">
                        <a:solidFill>
                          <a:srgbClr val="000000"/>
                        </a:solidFill>
                      </a:endParaRPr>
                    </a:p>
                  </a:txBody>
                  <a:tcPr marL="73152" marR="73152" marT="36576" marB="36576" anchor="ctr"/>
                </a:tc>
                <a:extLst>
                  <a:ext uri="{0D108BD9-81ED-4DB2-BD59-A6C34878D82A}">
                    <a16:rowId xmlns:a16="http://schemas.microsoft.com/office/drawing/2014/main" val="10003"/>
                  </a:ext>
                </a:extLst>
              </a:tr>
              <a:tr h="822960">
                <a:tc>
                  <a:txBody>
                    <a:bodyPr/>
                    <a:lstStyle/>
                    <a:p>
                      <a:pPr algn="ctr"/>
                      <a:r>
                        <a:rPr sz="1500"/>
                        <a:t>[8]</a:t>
                      </a:r>
                      <a:endParaRPr sz="1500" b="0" i="0">
                        <a:solidFill>
                          <a:srgbClr val="000000"/>
                        </a:solidFill>
                      </a:endParaRPr>
                    </a:p>
                  </a:txBody>
                  <a:tcPr marL="73152" marR="73152" marT="36576" marB="36576" anchor="ctr"/>
                </a:tc>
                <a:tc>
                  <a:txBody>
                    <a:bodyPr/>
                    <a:lstStyle/>
                    <a:p>
                      <a:pPr algn="l"/>
                      <a:r>
                        <a:rPr sz="1500"/>
                        <a:t>T. Y. Zhang and C. Y. Suen, CACM, 1984</a:t>
                      </a:r>
                      <a:endParaRPr sz="1500" b="0" i="0">
                        <a:solidFill>
                          <a:srgbClr val="000000"/>
                        </a:solidFill>
                      </a:endParaRPr>
                    </a:p>
                  </a:txBody>
                  <a:tcPr marL="73152" marR="73152" marT="36576" marB="36576" anchor="ctr"/>
                </a:tc>
                <a:tc>
                  <a:txBody>
                    <a:bodyPr/>
                    <a:lstStyle/>
                    <a:p>
                      <a:pPr algn="l"/>
                      <a:r>
                        <a:rPr sz="1500"/>
                        <a:t>Fast parallel thinning algorithm</a:t>
                      </a:r>
                      <a:endParaRPr sz="1500" b="0" i="0">
                        <a:solidFill>
                          <a:srgbClr val="000000"/>
                        </a:solidFill>
                      </a:endParaRPr>
                    </a:p>
                  </a:txBody>
                  <a:tcPr marL="73152" marR="73152" marT="36576" marB="36576" anchor="ctr"/>
                </a:tc>
                <a:tc>
                  <a:txBody>
                    <a:bodyPr/>
                    <a:lstStyle/>
                    <a:p>
                      <a:pPr algn="l"/>
                      <a:r>
                        <a:rPr sz="1500"/>
                        <a:t>Skeleton representations preserving structural properties – motivates the stroke branch</a:t>
                      </a:r>
                      <a:endParaRPr sz="1500" b="0" i="0">
                        <a:solidFill>
                          <a:srgbClr val="000000"/>
                        </a:solidFill>
                      </a:endParaRPr>
                    </a:p>
                  </a:txBody>
                  <a:tcPr marL="73152" marR="73152" marT="36576" marB="36576" anchor="ctr"/>
                </a:tc>
                <a:extLst>
                  <a:ext uri="{0D108BD9-81ED-4DB2-BD59-A6C34878D82A}">
                    <a16:rowId xmlns:a16="http://schemas.microsoft.com/office/drawing/2014/main" val="10004"/>
                  </a:ext>
                </a:extLst>
              </a:tr>
              <a:tr h="822960">
                <a:tc>
                  <a:txBody>
                    <a:bodyPr/>
                    <a:lstStyle/>
                    <a:p>
                      <a:pPr algn="ctr"/>
                      <a:r>
                        <a:rPr sz="1500"/>
                        <a:t>[9]</a:t>
                      </a:r>
                      <a:endParaRPr sz="1500" b="0" i="0">
                        <a:solidFill>
                          <a:srgbClr val="000000"/>
                        </a:solidFill>
                      </a:endParaRPr>
                    </a:p>
                  </a:txBody>
                  <a:tcPr marL="73152" marR="73152" marT="36576" marB="36576" anchor="ctr"/>
                </a:tc>
                <a:tc>
                  <a:txBody>
                    <a:bodyPr/>
                    <a:lstStyle/>
                    <a:p>
                      <a:pPr algn="l"/>
                      <a:r>
                        <a:rPr sz="1500"/>
                        <a:t>N. Otsu, IEEE Trans. SMC, 1979</a:t>
                      </a:r>
                      <a:endParaRPr sz="1500" b="0" i="0">
                        <a:solidFill>
                          <a:srgbClr val="000000"/>
                        </a:solidFill>
                      </a:endParaRPr>
                    </a:p>
                  </a:txBody>
                  <a:tcPr marL="73152" marR="73152" marT="36576" marB="36576" anchor="ctr"/>
                </a:tc>
                <a:tc>
                  <a:txBody>
                    <a:bodyPr/>
                    <a:lstStyle/>
                    <a:p>
                      <a:pPr algn="l"/>
                      <a:r>
                        <a:rPr sz="1500"/>
                        <a:t>Threshold selection from gray-level histograms</a:t>
                      </a:r>
                      <a:endParaRPr sz="1500" b="0" i="0">
                        <a:solidFill>
                          <a:srgbClr val="000000"/>
                        </a:solidFill>
                      </a:endParaRPr>
                    </a:p>
                  </a:txBody>
                  <a:tcPr marL="73152" marR="73152" marT="36576" marB="36576" anchor="ctr"/>
                </a:tc>
                <a:tc>
                  <a:txBody>
                    <a:bodyPr/>
                    <a:lstStyle/>
                    <a:p>
                      <a:pPr algn="l"/>
                      <a:r>
                        <a:rPr sz="1500" dirty="0"/>
                        <a:t>Automatic foreground/background separation; supports stroke descriptor generation</a:t>
                      </a:r>
                      <a:endParaRPr sz="1500" b="0" i="0" dirty="0">
                        <a:solidFill>
                          <a:srgbClr val="000000"/>
                        </a:solidFill>
                      </a:endParaRPr>
                    </a:p>
                  </a:txBody>
                  <a:tcPr marL="73152" marR="73152" marT="36576" marB="36576"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9</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600" dirty="0"/>
              <a:t>Literature Survey (3/3)</a:t>
            </a:r>
          </a:p>
        </p:txBody>
      </p:sp>
      <p:graphicFrame>
        <p:nvGraphicFramePr>
          <p:cNvPr id="6" name="Table 5"/>
          <p:cNvGraphicFramePr>
            <a:graphicFrameLocks noGrp="1"/>
          </p:cNvGraphicFramePr>
          <p:nvPr>
            <p:extLst>
              <p:ext uri="{D42A27DB-BD31-4B8C-83A1-F6EECF244321}">
                <p14:modId xmlns:p14="http://schemas.microsoft.com/office/powerpoint/2010/main" val="1091719006"/>
              </p:ext>
            </p:extLst>
          </p:nvPr>
        </p:nvGraphicFramePr>
        <p:xfrm>
          <a:off x="548640" y="1325880"/>
          <a:ext cx="11091672" cy="4937760"/>
        </p:xfrm>
        <a:graphic>
          <a:graphicData uri="http://schemas.openxmlformats.org/drawingml/2006/table">
            <a:tbl>
              <a:tblPr>
                <a:tableStyleId>{616DA210-FB5B-4158-B5E0-FEB733F419BA}</a:tableStyleId>
              </a:tblPr>
              <a:tblGrid>
                <a:gridCol w="5486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5148072">
                  <a:extLst>
                    <a:ext uri="{9D8B030D-6E8A-4147-A177-3AD203B41FA5}">
                      <a16:colId xmlns:a16="http://schemas.microsoft.com/office/drawing/2014/main" val="20003"/>
                    </a:ext>
                  </a:extLst>
                </a:gridCol>
              </a:tblGrid>
              <a:tr h="822960">
                <a:tc>
                  <a:txBody>
                    <a:bodyPr/>
                    <a:lstStyle/>
                    <a:p>
                      <a:pPr algn="ctr"/>
                      <a:r>
                        <a:rPr sz="1500"/>
                        <a:t>Ref.</a:t>
                      </a:r>
                      <a:endParaRPr sz="1500" b="1" i="0">
                        <a:solidFill>
                          <a:srgbClr val="FFFFFF"/>
                        </a:solidFill>
                      </a:endParaRPr>
                    </a:p>
                  </a:txBody>
                  <a:tcPr marL="73152" marR="73152" marT="36576" marB="36576" anchor="ctr"/>
                </a:tc>
                <a:tc>
                  <a:txBody>
                    <a:bodyPr/>
                    <a:lstStyle/>
                    <a:p>
                      <a:pPr algn="l"/>
                      <a:r>
                        <a:rPr sz="1500"/>
                        <a:t>Author(s) / Source</a:t>
                      </a:r>
                      <a:endParaRPr sz="1500" b="1" i="0">
                        <a:solidFill>
                          <a:srgbClr val="FFFFFF"/>
                        </a:solidFill>
                      </a:endParaRPr>
                    </a:p>
                  </a:txBody>
                  <a:tcPr marL="73152" marR="73152" marT="36576" marB="36576" anchor="ctr"/>
                </a:tc>
                <a:tc>
                  <a:txBody>
                    <a:bodyPr/>
                    <a:lstStyle/>
                    <a:p>
                      <a:pPr algn="l"/>
                      <a:r>
                        <a:rPr sz="1500"/>
                        <a:t>Technique</a:t>
                      </a:r>
                      <a:endParaRPr sz="1500" b="1" i="0">
                        <a:solidFill>
                          <a:srgbClr val="FFFFFF"/>
                        </a:solidFill>
                      </a:endParaRPr>
                    </a:p>
                  </a:txBody>
                  <a:tcPr marL="73152" marR="73152" marT="36576" marB="36576" anchor="ctr"/>
                </a:tc>
                <a:tc>
                  <a:txBody>
                    <a:bodyPr/>
                    <a:lstStyle/>
                    <a:p>
                      <a:pPr algn="l"/>
                      <a:r>
                        <a:rPr sz="1500"/>
                        <a:t>Key findings and relevance</a:t>
                      </a:r>
                      <a:endParaRPr sz="1500" b="1" i="0">
                        <a:solidFill>
                          <a:srgbClr val="FFFFFF"/>
                        </a:solidFill>
                      </a:endParaRPr>
                    </a:p>
                  </a:txBody>
                  <a:tcPr marL="73152" marR="73152" marT="36576" marB="36576" anchor="ctr"/>
                </a:tc>
                <a:extLst>
                  <a:ext uri="{0D108BD9-81ED-4DB2-BD59-A6C34878D82A}">
                    <a16:rowId xmlns:a16="http://schemas.microsoft.com/office/drawing/2014/main" val="10000"/>
                  </a:ext>
                </a:extLst>
              </a:tr>
              <a:tr h="822960">
                <a:tc>
                  <a:txBody>
                    <a:bodyPr/>
                    <a:lstStyle/>
                    <a:p>
                      <a:pPr algn="ctr"/>
                      <a:r>
                        <a:rPr sz="1500"/>
                        <a:t>[10]</a:t>
                      </a:r>
                      <a:endParaRPr sz="1500" b="0" i="0">
                        <a:solidFill>
                          <a:srgbClr val="000000"/>
                        </a:solidFill>
                      </a:endParaRPr>
                    </a:p>
                  </a:txBody>
                  <a:tcPr marL="73152" marR="73152" marT="36576" marB="36576" anchor="ctr"/>
                </a:tc>
                <a:tc>
                  <a:txBody>
                    <a:bodyPr/>
                    <a:lstStyle/>
                    <a:p>
                      <a:pPr algn="l"/>
                      <a:r>
                        <a:rPr sz="1500"/>
                        <a:t>K. Zuiderveld, Graphics Gems IV, 1994</a:t>
                      </a:r>
                      <a:endParaRPr sz="1500" b="0" i="0">
                        <a:solidFill>
                          <a:srgbClr val="000000"/>
                        </a:solidFill>
                      </a:endParaRPr>
                    </a:p>
                  </a:txBody>
                  <a:tcPr marL="73152" marR="73152" marT="36576" marB="36576" anchor="ctr"/>
                </a:tc>
                <a:tc>
                  <a:txBody>
                    <a:bodyPr/>
                    <a:lstStyle/>
                    <a:p>
                      <a:pPr algn="l"/>
                      <a:r>
                        <a:rPr sz="1500"/>
                        <a:t>Contrast Limited Adaptive Histogram Equalization (CLAHE)</a:t>
                      </a:r>
                      <a:endParaRPr sz="1500" b="0" i="0">
                        <a:solidFill>
                          <a:srgbClr val="000000"/>
                        </a:solidFill>
                      </a:endParaRPr>
                    </a:p>
                  </a:txBody>
                  <a:tcPr marL="73152" marR="73152" marT="36576" marB="36576" anchor="ctr"/>
                </a:tc>
                <a:tc>
                  <a:txBody>
                    <a:bodyPr/>
                    <a:lstStyle/>
                    <a:p>
                      <a:pPr algn="l"/>
                      <a:r>
                        <a:rPr sz="1500"/>
                        <a:t>Improves local contrast while limiting excessive amplification</a:t>
                      </a:r>
                      <a:endParaRPr sz="1500" b="0" i="0">
                        <a:solidFill>
                          <a:srgbClr val="000000"/>
                        </a:solidFill>
                      </a:endParaRPr>
                    </a:p>
                  </a:txBody>
                  <a:tcPr marL="73152" marR="73152" marT="36576" marB="36576" anchor="ctr"/>
                </a:tc>
                <a:extLst>
                  <a:ext uri="{0D108BD9-81ED-4DB2-BD59-A6C34878D82A}">
                    <a16:rowId xmlns:a16="http://schemas.microsoft.com/office/drawing/2014/main" val="10001"/>
                  </a:ext>
                </a:extLst>
              </a:tr>
              <a:tr h="822960">
                <a:tc>
                  <a:txBody>
                    <a:bodyPr/>
                    <a:lstStyle/>
                    <a:p>
                      <a:pPr algn="ctr"/>
                      <a:r>
                        <a:rPr sz="1500"/>
                        <a:t>[11]</a:t>
                      </a:r>
                      <a:endParaRPr sz="1500" b="0" i="0">
                        <a:solidFill>
                          <a:srgbClr val="000000"/>
                        </a:solidFill>
                      </a:endParaRPr>
                    </a:p>
                  </a:txBody>
                  <a:tcPr marL="73152" marR="73152" marT="36576" marB="36576" anchor="ctr"/>
                </a:tc>
                <a:tc>
                  <a:txBody>
                    <a:bodyPr/>
                    <a:lstStyle/>
                    <a:p>
                      <a:pPr algn="l"/>
                      <a:r>
                        <a:rPr sz="1500"/>
                        <a:t>J. Arevalo et al., ICLR, 2017</a:t>
                      </a:r>
                      <a:endParaRPr sz="1500" b="0" i="0">
                        <a:solidFill>
                          <a:srgbClr val="000000"/>
                        </a:solidFill>
                      </a:endParaRPr>
                    </a:p>
                  </a:txBody>
                  <a:tcPr marL="73152" marR="73152" marT="36576" marB="36576" anchor="ctr"/>
                </a:tc>
                <a:tc>
                  <a:txBody>
                    <a:bodyPr/>
                    <a:lstStyle/>
                    <a:p>
                      <a:pPr algn="l"/>
                      <a:r>
                        <a:rPr sz="1500"/>
                        <a:t>Gated Multimodal Units (GMU)</a:t>
                      </a:r>
                      <a:endParaRPr sz="1500" b="0" i="0">
                        <a:solidFill>
                          <a:srgbClr val="000000"/>
                        </a:solidFill>
                      </a:endParaRPr>
                    </a:p>
                  </a:txBody>
                  <a:tcPr marL="73152" marR="73152" marT="36576" marB="36576" anchor="ctr"/>
                </a:tc>
                <a:tc>
                  <a:txBody>
                    <a:bodyPr/>
                    <a:lstStyle/>
                    <a:p>
                      <a:pPr algn="l"/>
                      <a:r>
                        <a:rPr sz="1500"/>
                        <a:t>Learned multiplicative gating gives adaptive fusion – inspires the adaptive gated feature fusion in SGF-MobileNetV3</a:t>
                      </a:r>
                      <a:endParaRPr sz="1500" b="0" i="0">
                        <a:solidFill>
                          <a:srgbClr val="000000"/>
                        </a:solidFill>
                      </a:endParaRPr>
                    </a:p>
                  </a:txBody>
                  <a:tcPr marL="73152" marR="73152" marT="36576" marB="36576" anchor="ctr"/>
                </a:tc>
                <a:extLst>
                  <a:ext uri="{0D108BD9-81ED-4DB2-BD59-A6C34878D82A}">
                    <a16:rowId xmlns:a16="http://schemas.microsoft.com/office/drawing/2014/main" val="10002"/>
                  </a:ext>
                </a:extLst>
              </a:tr>
              <a:tr h="822960">
                <a:tc>
                  <a:txBody>
                    <a:bodyPr/>
                    <a:lstStyle/>
                    <a:p>
                      <a:pPr algn="ctr"/>
                      <a:r>
                        <a:rPr sz="1500"/>
                        <a:t>[12]</a:t>
                      </a:r>
                      <a:endParaRPr sz="1500" b="0" i="0">
                        <a:solidFill>
                          <a:srgbClr val="000000"/>
                        </a:solidFill>
                      </a:endParaRPr>
                    </a:p>
                  </a:txBody>
                  <a:tcPr marL="73152" marR="73152" marT="36576" marB="36576" anchor="ctr"/>
                </a:tc>
                <a:tc>
                  <a:txBody>
                    <a:bodyPr/>
                    <a:lstStyle/>
                    <a:p>
                      <a:pPr algn="l"/>
                      <a:r>
                        <a:rPr sz="1500" dirty="0"/>
                        <a:t>S. M. Ahmed and A. Wahid, IJRITCC, 2023</a:t>
                      </a:r>
                      <a:endParaRPr sz="1500" b="0" i="0" dirty="0">
                        <a:solidFill>
                          <a:srgbClr val="000000"/>
                        </a:solidFill>
                      </a:endParaRPr>
                    </a:p>
                  </a:txBody>
                  <a:tcPr marL="73152" marR="73152" marT="36576" marB="36576" anchor="ctr"/>
                </a:tc>
                <a:tc>
                  <a:txBody>
                    <a:bodyPr/>
                    <a:lstStyle/>
                    <a:p>
                      <a:pPr algn="l"/>
                      <a:r>
                        <a:rPr sz="1500"/>
                        <a:t>Review of handwritten OCR for Indic scripts</a:t>
                      </a:r>
                      <a:endParaRPr sz="1500" b="0" i="0">
                        <a:solidFill>
                          <a:srgbClr val="000000"/>
                        </a:solidFill>
                      </a:endParaRPr>
                    </a:p>
                  </a:txBody>
                  <a:tcPr marL="73152" marR="73152" marT="36576" marB="36576" anchor="ctr"/>
                </a:tc>
                <a:tc>
                  <a:txBody>
                    <a:bodyPr/>
                    <a:lstStyle/>
                    <a:p>
                      <a:pPr algn="l"/>
                      <a:r>
                        <a:rPr sz="1500"/>
                        <a:t>Stressed dataset preparation and suitable recognition strategies; motivates class merging and balancing</a:t>
                      </a:r>
                      <a:endParaRPr sz="1500" b="0" i="0">
                        <a:solidFill>
                          <a:srgbClr val="000000"/>
                        </a:solidFill>
                      </a:endParaRPr>
                    </a:p>
                  </a:txBody>
                  <a:tcPr marL="73152" marR="73152" marT="36576" marB="36576" anchor="ctr"/>
                </a:tc>
                <a:extLst>
                  <a:ext uri="{0D108BD9-81ED-4DB2-BD59-A6C34878D82A}">
                    <a16:rowId xmlns:a16="http://schemas.microsoft.com/office/drawing/2014/main" val="10003"/>
                  </a:ext>
                </a:extLst>
              </a:tr>
              <a:tr h="822960">
                <a:tc>
                  <a:txBody>
                    <a:bodyPr/>
                    <a:lstStyle/>
                    <a:p>
                      <a:pPr algn="ctr"/>
                      <a:r>
                        <a:rPr sz="1500"/>
                        <a:t>[13]</a:t>
                      </a:r>
                      <a:endParaRPr sz="1500" b="0" i="0">
                        <a:solidFill>
                          <a:srgbClr val="000000"/>
                        </a:solidFill>
                      </a:endParaRPr>
                    </a:p>
                  </a:txBody>
                  <a:tcPr marL="73152" marR="73152" marT="36576" marB="36576" anchor="ctr"/>
                </a:tc>
                <a:tc>
                  <a:txBody>
                    <a:bodyPr/>
                    <a:lstStyle/>
                    <a:p>
                      <a:pPr algn="l"/>
                      <a:r>
                        <a:rPr sz="1500"/>
                        <a:t>IEEE ICOEI, 2026</a:t>
                      </a:r>
                      <a:endParaRPr sz="1500" b="0" i="0">
                        <a:solidFill>
                          <a:srgbClr val="000000"/>
                        </a:solidFill>
                      </a:endParaRPr>
                    </a:p>
                  </a:txBody>
                  <a:tcPr marL="73152" marR="73152" marT="36576" marB="36576" anchor="ctr"/>
                </a:tc>
                <a:tc>
                  <a:txBody>
                    <a:bodyPr/>
                    <a:lstStyle/>
                    <a:p>
                      <a:pPr algn="l"/>
                      <a:r>
                        <a:rPr sz="1500"/>
                        <a:t>Handwritten text recognition and post-OCR error correction</a:t>
                      </a:r>
                      <a:endParaRPr sz="1500" b="0" i="0">
                        <a:solidFill>
                          <a:srgbClr val="000000"/>
                        </a:solidFill>
                      </a:endParaRPr>
                    </a:p>
                  </a:txBody>
                  <a:tcPr marL="73152" marR="73152" marT="36576" marB="36576" anchor="ctr"/>
                </a:tc>
                <a:tc>
                  <a:txBody>
                    <a:bodyPr/>
                    <a:lstStyle/>
                    <a:p>
                      <a:pPr algn="l"/>
                      <a:r>
                        <a:rPr sz="1500"/>
                        <a:t>Linguistic and contextual constraints correct errors; character-level accuracy does not guarantee correct words</a:t>
                      </a:r>
                      <a:endParaRPr sz="1500" b="0" i="0">
                        <a:solidFill>
                          <a:srgbClr val="000000"/>
                        </a:solidFill>
                      </a:endParaRPr>
                    </a:p>
                  </a:txBody>
                  <a:tcPr marL="73152" marR="73152" marT="36576" marB="36576" anchor="ctr"/>
                </a:tc>
                <a:extLst>
                  <a:ext uri="{0D108BD9-81ED-4DB2-BD59-A6C34878D82A}">
                    <a16:rowId xmlns:a16="http://schemas.microsoft.com/office/drawing/2014/main" val="10004"/>
                  </a:ext>
                </a:extLst>
              </a:tr>
              <a:tr h="822960">
                <a:tc>
                  <a:txBody>
                    <a:bodyPr/>
                    <a:lstStyle/>
                    <a:p>
                      <a:pPr algn="ctr"/>
                      <a:r>
                        <a:rPr sz="1500"/>
                        <a:t>[14]</a:t>
                      </a:r>
                      <a:endParaRPr sz="1500" b="0" i="0">
                        <a:solidFill>
                          <a:srgbClr val="000000"/>
                        </a:solidFill>
                      </a:endParaRPr>
                    </a:p>
                  </a:txBody>
                  <a:tcPr marL="73152" marR="73152" marT="36576" marB="36576" anchor="ctr"/>
                </a:tc>
                <a:tc>
                  <a:txBody>
                    <a:bodyPr/>
                    <a:lstStyle/>
                    <a:p>
                      <a:pPr algn="l"/>
                      <a:r>
                        <a:rPr sz="1500"/>
                        <a:t>X. Xiao et al., 2017</a:t>
                      </a:r>
                      <a:endParaRPr sz="1500" b="0" i="0">
                        <a:solidFill>
                          <a:srgbClr val="000000"/>
                        </a:solidFill>
                      </a:endParaRPr>
                    </a:p>
                  </a:txBody>
                  <a:tcPr marL="73152" marR="73152" marT="36576" marB="36576" anchor="ctr"/>
                </a:tc>
                <a:tc>
                  <a:txBody>
                    <a:bodyPr/>
                    <a:lstStyle/>
                    <a:p>
                      <a:pPr algn="l"/>
                      <a:r>
                        <a:rPr sz="1500"/>
                        <a:t>Fast and compact CNNs for offline handwritten Chinese character recognition</a:t>
                      </a:r>
                      <a:endParaRPr sz="1500" b="0" i="0">
                        <a:solidFill>
                          <a:srgbClr val="000000"/>
                        </a:solidFill>
                      </a:endParaRPr>
                    </a:p>
                  </a:txBody>
                  <a:tcPr marL="73152" marR="73152" marT="36576" marB="36576" anchor="ctr"/>
                </a:tc>
                <a:tc>
                  <a:txBody>
                    <a:bodyPr/>
                    <a:lstStyle/>
                    <a:p>
                      <a:pPr algn="l"/>
                      <a:r>
                        <a:rPr sz="1500" dirty="0"/>
                        <a:t>Reduced computation and storage with competitive accuracy – efficiency and robustness must be evaluated</a:t>
                      </a:r>
                      <a:endParaRPr sz="1500" b="0" i="0" dirty="0">
                        <a:solidFill>
                          <a:srgbClr val="000000"/>
                        </a:solidFill>
                      </a:endParaRPr>
                    </a:p>
                  </a:txBody>
                  <a:tcPr marL="73152" marR="73152" marT="36576" marB="36576"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10</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400" dirty="0"/>
              <a:t>Literature Survey – Summary</a:t>
            </a:r>
          </a:p>
        </p:txBody>
      </p:sp>
      <p:sp>
        <p:nvSpPr>
          <p:cNvPr id="6" name="TextBox 5"/>
          <p:cNvSpPr txBox="1"/>
          <p:nvPr/>
        </p:nvSpPr>
        <p:spPr>
          <a:xfrm>
            <a:off x="548640" y="1280160"/>
            <a:ext cx="5394960" cy="457200"/>
          </a:xfrm>
          <a:prstGeom prst="rect">
            <a:avLst/>
          </a:prstGeom>
          <a:noFill/>
        </p:spPr>
        <p:txBody>
          <a:bodyPr wrap="square" lIns="45720" tIns="27432" rIns="45720" bIns="27432">
            <a:spAutoFit/>
          </a:bodyPr>
          <a:lstStyle/>
          <a:p>
            <a:pPr marL="0" indent="0">
              <a:spcAft>
                <a:spcPts val="400"/>
              </a:spcAft>
              <a:buNone/>
            </a:pPr>
            <a:r>
              <a:rPr sz="2300" b="1" i="0">
                <a:solidFill>
                  <a:srgbClr val="1F3864"/>
                </a:solidFill>
              </a:rPr>
              <a:t>What existing studies show</a:t>
            </a:r>
          </a:p>
        </p:txBody>
      </p:sp>
      <p:sp>
        <p:nvSpPr>
          <p:cNvPr id="7" name="TextBox 6"/>
          <p:cNvSpPr txBox="1"/>
          <p:nvPr/>
        </p:nvSpPr>
        <p:spPr>
          <a:xfrm>
            <a:off x="548640" y="1737360"/>
            <a:ext cx="5394960" cy="3610219"/>
          </a:xfrm>
          <a:prstGeom prst="rect">
            <a:avLst/>
          </a:prstGeom>
          <a:noFill/>
        </p:spPr>
        <p:txBody>
          <a:bodyPr wrap="square" lIns="45720" tIns="27432" rIns="45720" bIns="27432">
            <a:spAutoFit/>
          </a:bodyPr>
          <a:lstStyle/>
          <a:p>
            <a:pPr marL="256032" indent="-219456" algn="just">
              <a:spcAft>
                <a:spcPts val="400"/>
              </a:spcAft>
              <a:buFont typeface="Arial"/>
              <a:buChar char="•"/>
            </a:pPr>
            <a:r>
              <a:rPr sz="1700" b="0" i="0" dirty="0"/>
              <a:t>CNNs, hybrid classifiers, lightweight networks, preprocessing, structural features, adaptive gating and linguistic post-processing are all effective for handwritten recognition</a:t>
            </a:r>
          </a:p>
          <a:p>
            <a:pPr marL="256032" indent="-219456" algn="just">
              <a:spcAft>
                <a:spcPts val="400"/>
              </a:spcAft>
              <a:buFont typeface="Arial"/>
              <a:buChar char="•"/>
            </a:pPr>
            <a:r>
              <a:rPr sz="1700" b="0" i="0" dirty="0"/>
              <a:t>Preprocessing adopted: grayscale, polarity correction, ink-region cropping, square padding, </a:t>
            </a:r>
            <a:r>
              <a:rPr sz="1700" b="1" i="0" dirty="0"/>
              <a:t>96 × 96</a:t>
            </a:r>
            <a:r>
              <a:rPr sz="1700" b="0" i="0" dirty="0"/>
              <a:t> resize, denoising, CLAHE</a:t>
            </a:r>
          </a:p>
          <a:p>
            <a:pPr marL="256032" indent="-219456" algn="just">
              <a:spcAft>
                <a:spcPts val="400"/>
              </a:spcAft>
              <a:buFont typeface="Arial"/>
              <a:buChar char="•"/>
            </a:pPr>
            <a:r>
              <a:rPr sz="1700" b="0" i="0" dirty="0"/>
              <a:t>Imbalance handled by Unicode-based merging, balancing, stratified splits, augmentation and class-balanced sampling</a:t>
            </a:r>
          </a:p>
          <a:p>
            <a:pPr marL="256032" indent="-219456" algn="just">
              <a:spcAft>
                <a:spcPts val="400"/>
              </a:spcAft>
              <a:buFont typeface="Arial"/>
              <a:buChar char="•"/>
            </a:pPr>
            <a:r>
              <a:rPr sz="1700" b="0" i="0" dirty="0"/>
              <a:t>Efficiency and robustness (parameters, latency, margins, resizing, compression, blur) must be evaluated, not accuracy alone</a:t>
            </a:r>
          </a:p>
        </p:txBody>
      </p:sp>
      <p:sp>
        <p:nvSpPr>
          <p:cNvPr id="8" name="TextBox 7"/>
          <p:cNvSpPr txBox="1"/>
          <p:nvPr/>
        </p:nvSpPr>
        <p:spPr>
          <a:xfrm>
            <a:off x="6263640" y="1280160"/>
            <a:ext cx="5394960" cy="457200"/>
          </a:xfrm>
          <a:prstGeom prst="rect">
            <a:avLst/>
          </a:prstGeom>
          <a:noFill/>
        </p:spPr>
        <p:txBody>
          <a:bodyPr wrap="square" lIns="45720" tIns="27432" rIns="45720" bIns="27432">
            <a:spAutoFit/>
          </a:bodyPr>
          <a:lstStyle/>
          <a:p>
            <a:pPr marL="0" indent="0">
              <a:spcAft>
                <a:spcPts val="400"/>
              </a:spcAft>
              <a:buNone/>
            </a:pPr>
            <a:r>
              <a:rPr sz="2300" b="1" i="0">
                <a:solidFill>
                  <a:srgbClr val="1F3864"/>
                </a:solidFill>
              </a:rPr>
              <a:t>Remaining challenges → proposed response</a:t>
            </a:r>
          </a:p>
        </p:txBody>
      </p:sp>
      <p:sp>
        <p:nvSpPr>
          <p:cNvPr id="9" name="TextBox 8"/>
          <p:cNvSpPr txBox="1"/>
          <p:nvPr/>
        </p:nvSpPr>
        <p:spPr>
          <a:xfrm>
            <a:off x="6373368" y="2172335"/>
            <a:ext cx="5394960" cy="2743200"/>
          </a:xfrm>
          <a:prstGeom prst="rect">
            <a:avLst/>
          </a:prstGeom>
          <a:noFill/>
        </p:spPr>
        <p:txBody>
          <a:bodyPr wrap="square" lIns="45720" tIns="27432" rIns="45720" bIns="27432">
            <a:spAutoFit/>
          </a:bodyPr>
          <a:lstStyle/>
          <a:p>
            <a:pPr marL="256032" indent="-219456">
              <a:spcAft>
                <a:spcPts val="400"/>
              </a:spcAft>
              <a:buFont typeface="Arial"/>
              <a:buChar char="•"/>
            </a:pPr>
            <a:r>
              <a:rPr sz="1700" b="0" i="0" dirty="0"/>
              <a:t>Visually similar Telugu characters and varied handwriting styles</a:t>
            </a:r>
          </a:p>
          <a:p>
            <a:pPr marL="256032" indent="-219456">
              <a:spcAft>
                <a:spcPts val="400"/>
              </a:spcAft>
              <a:buFont typeface="Arial"/>
              <a:buChar char="•"/>
            </a:pPr>
            <a:r>
              <a:rPr sz="1700" b="0" i="0" dirty="0"/>
              <a:t>Inconsistent stroke thickness and class imbalance</a:t>
            </a:r>
          </a:p>
          <a:p>
            <a:pPr marL="256032" indent="-219456">
              <a:spcAft>
                <a:spcPts val="400"/>
              </a:spcAft>
              <a:buFont typeface="Arial"/>
              <a:buChar char="•"/>
            </a:pPr>
            <a:r>
              <a:rPr sz="1700" b="0" i="0" dirty="0"/>
              <a:t>Reduced accuracy under image distortions</a:t>
            </a:r>
          </a:p>
          <a:p>
            <a:pPr marL="256032" indent="-219456">
              <a:spcAft>
                <a:spcPts val="400"/>
              </a:spcAft>
              <a:buFont typeface="Arial"/>
              <a:buChar char="•"/>
            </a:pPr>
            <a:r>
              <a:rPr sz="1700" b="0" i="0" dirty="0"/>
              <a:t>→ </a:t>
            </a:r>
            <a:r>
              <a:rPr sz="1700" b="1" i="0" dirty="0"/>
              <a:t>SGF-MobileNetV3</a:t>
            </a:r>
            <a:r>
              <a:rPr sz="1700" b="0" i="0" dirty="0"/>
              <a:t>: MobileNetV3-Small appearance branch + stroke branch fused by a learnable sigmoid gate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11</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Research Gaps</a:t>
            </a:r>
          </a:p>
        </p:txBody>
      </p:sp>
      <p:sp>
        <p:nvSpPr>
          <p:cNvPr id="6" name="TextBox 5"/>
          <p:cNvSpPr txBox="1"/>
          <p:nvPr/>
        </p:nvSpPr>
        <p:spPr>
          <a:xfrm>
            <a:off x="548640" y="1280160"/>
            <a:ext cx="11091672" cy="457200"/>
          </a:xfrm>
          <a:prstGeom prst="rect">
            <a:avLst/>
          </a:prstGeom>
          <a:noFill/>
        </p:spPr>
        <p:txBody>
          <a:bodyPr wrap="square" lIns="45720" tIns="27432" rIns="45720" bIns="27432">
            <a:spAutoFit/>
          </a:bodyPr>
          <a:lstStyle/>
          <a:p>
            <a:pPr marL="0" indent="0">
              <a:spcAft>
                <a:spcPts val="400"/>
              </a:spcAft>
              <a:buNone/>
            </a:pPr>
            <a:r>
              <a:rPr sz="2300" b="1" i="0">
                <a:solidFill>
                  <a:srgbClr val="1F3864"/>
                </a:solidFill>
              </a:rPr>
              <a:t>3.1 Existing System</a:t>
            </a:r>
          </a:p>
        </p:txBody>
      </p:sp>
      <p:sp>
        <p:nvSpPr>
          <p:cNvPr id="7" name="TextBox 6"/>
          <p:cNvSpPr txBox="1"/>
          <p:nvPr/>
        </p:nvSpPr>
        <p:spPr>
          <a:xfrm>
            <a:off x="548640" y="1737360"/>
            <a:ext cx="6766560" cy="2876685"/>
          </a:xfrm>
          <a:prstGeom prst="rect">
            <a:avLst/>
          </a:prstGeom>
          <a:noFill/>
        </p:spPr>
        <p:txBody>
          <a:bodyPr wrap="square" lIns="45720" tIns="27432" rIns="45720" bIns="27432">
            <a:spAutoFit/>
          </a:bodyPr>
          <a:lstStyle/>
          <a:p>
            <a:pPr marL="256032" indent="-219456" algn="just">
              <a:spcAft>
                <a:spcPts val="400"/>
              </a:spcAft>
              <a:buFont typeface="Arial"/>
              <a:buChar char="•"/>
            </a:pPr>
            <a:r>
              <a:rPr sz="1700" b="0" i="0" dirty="0"/>
              <a:t>Relies on traditional image processing, machine-learning classifiers and </a:t>
            </a:r>
            <a:r>
              <a:rPr sz="1700" b="1" i="0" dirty="0"/>
              <a:t>Convolutional Neural Networks (CNNs)</a:t>
            </a:r>
          </a:p>
          <a:p>
            <a:pPr marL="256032" indent="-219456" algn="just">
              <a:spcAft>
                <a:spcPts val="400"/>
              </a:spcAft>
              <a:buFont typeface="Arial"/>
              <a:buChar char="•"/>
            </a:pPr>
            <a:r>
              <a:rPr sz="1700" b="0" i="0" dirty="0"/>
              <a:t>Handcrafted features, </a:t>
            </a:r>
            <a:r>
              <a:rPr sz="1700" b="1" i="0" dirty="0"/>
              <a:t>PCA, SVM</a:t>
            </a:r>
            <a:r>
              <a:rPr sz="1700" b="0" i="0" dirty="0"/>
              <a:t> and CNN architectures </a:t>
            </a:r>
            <a:r>
              <a:rPr sz="1700" b="0" i="0" dirty="0" err="1"/>
              <a:t>recognise</a:t>
            </a:r>
            <a:r>
              <a:rPr sz="1700" b="0" i="0" dirty="0"/>
              <a:t> vowels, consonants and other Telugu forms</a:t>
            </a:r>
          </a:p>
          <a:p>
            <a:pPr marL="256032" indent="-219456" algn="just">
              <a:spcAft>
                <a:spcPts val="400"/>
              </a:spcAft>
              <a:buFont typeface="Arial"/>
              <a:buChar char="•"/>
            </a:pPr>
            <a:r>
              <a:rPr sz="1700" b="0" i="0" dirty="0"/>
              <a:t>Deep models (CNN, </a:t>
            </a:r>
            <a:r>
              <a:rPr sz="1700" b="0" i="0" dirty="0" err="1"/>
              <a:t>DenseNet</a:t>
            </a:r>
            <a:r>
              <a:rPr sz="1700" b="0" i="0" dirty="0"/>
              <a:t>, </a:t>
            </a:r>
            <a:r>
              <a:rPr sz="1700" b="0" i="0" dirty="0" err="1"/>
              <a:t>MobileNet</a:t>
            </a:r>
            <a:r>
              <a:rPr sz="1700" b="0" i="0" dirty="0"/>
              <a:t>) extract edges, curves, textures and shapes through convolutional layers</a:t>
            </a:r>
          </a:p>
          <a:p>
            <a:pPr marL="256032" indent="-219456" algn="just">
              <a:spcAft>
                <a:spcPts val="400"/>
              </a:spcAft>
              <a:buFont typeface="Arial"/>
              <a:buChar char="•"/>
            </a:pPr>
            <a:r>
              <a:rPr sz="1700" b="0" i="0" dirty="0"/>
              <a:t>Project baseline: reduced-capacity </a:t>
            </a:r>
            <a:r>
              <a:rPr sz="1700" b="1" i="0" dirty="0"/>
              <a:t>MobileNetV3-Small</a:t>
            </a:r>
            <a:r>
              <a:rPr sz="1700" b="0" i="0" dirty="0"/>
              <a:t> – grayscale images → convolutional features → global average pooling → classifier</a:t>
            </a:r>
          </a:p>
          <a:p>
            <a:pPr marL="256032" indent="-219456" algn="just">
              <a:spcAft>
                <a:spcPts val="400"/>
              </a:spcAft>
              <a:buFont typeface="Arial"/>
              <a:buChar char="•"/>
            </a:pPr>
            <a:r>
              <a:rPr sz="1700" b="0" i="0" dirty="0"/>
              <a:t>Appearance-based models struggle with similar characters whose </a:t>
            </a:r>
            <a:r>
              <a:rPr sz="1700" b="1" i="0" dirty="0"/>
              <a:t>stroke structure, connectivity and thickness</a:t>
            </a:r>
            <a:r>
              <a:rPr sz="1700" b="0" i="0" dirty="0"/>
              <a:t> differ subtly</a:t>
            </a:r>
          </a:p>
        </p:txBody>
      </p:sp>
      <p:sp>
        <p:nvSpPr>
          <p:cNvPr id="8" name="Rounded Rectangle 7"/>
          <p:cNvSpPr/>
          <p:nvPr/>
        </p:nvSpPr>
        <p:spPr>
          <a:xfrm>
            <a:off x="7589520" y="1783080"/>
            <a:ext cx="4069080" cy="329184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99248" y="1856231"/>
            <a:ext cx="3849624" cy="3145536"/>
          </a:xfrm>
          <a:prstGeom prst="rect">
            <a:avLst/>
          </a:prstGeom>
          <a:noFill/>
        </p:spPr>
        <p:txBody>
          <a:bodyPr wrap="square" lIns="45720" tIns="27432" rIns="45720" bIns="27432">
            <a:spAutoFit/>
          </a:bodyPr>
          <a:lstStyle/>
          <a:p>
            <a:pPr marL="0" indent="0">
              <a:spcAft>
                <a:spcPts val="400"/>
              </a:spcAft>
              <a:buNone/>
            </a:pPr>
            <a:r>
              <a:rPr sz="1900" b="1" i="0" dirty="0">
                <a:solidFill>
                  <a:srgbClr val="1F3864"/>
                </a:solidFill>
              </a:rPr>
              <a:t>Need for an improved framework</a:t>
            </a:r>
          </a:p>
          <a:p>
            <a:pPr marL="256032" indent="-219456">
              <a:spcAft>
                <a:spcPts val="400"/>
              </a:spcAft>
              <a:buFont typeface="Arial"/>
              <a:buChar char="•"/>
            </a:pPr>
            <a:r>
              <a:rPr sz="1800" b="0" i="0" dirty="0"/>
              <a:t>Visual appearance extraction</a:t>
            </a:r>
          </a:p>
          <a:p>
            <a:pPr marL="256032" indent="-219456">
              <a:spcAft>
                <a:spcPts val="400"/>
              </a:spcAft>
              <a:buFont typeface="Arial"/>
              <a:buChar char="•"/>
            </a:pPr>
            <a:r>
              <a:rPr sz="1800" b="0" i="0" dirty="0"/>
              <a:t>Structural stroke analysis</a:t>
            </a:r>
          </a:p>
          <a:p>
            <a:pPr marL="256032" indent="-219456">
              <a:spcAft>
                <a:spcPts val="400"/>
              </a:spcAft>
              <a:buFont typeface="Arial"/>
              <a:buChar char="•"/>
            </a:pPr>
            <a:r>
              <a:rPr sz="1800" b="0" i="0" dirty="0"/>
              <a:t>Adaptive feature fusion</a:t>
            </a:r>
          </a:p>
          <a:p>
            <a:pPr marL="256032" indent="-219456">
              <a:spcAft>
                <a:spcPts val="400"/>
              </a:spcAft>
              <a:buFont typeface="Arial"/>
              <a:buChar char="•"/>
            </a:pPr>
            <a:r>
              <a:rPr sz="1800" b="0" i="0" dirty="0"/>
              <a:t>Telugu Unicode conversion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12</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200" dirty="0"/>
              <a:t>Disadvantages of Existing System</a:t>
            </a:r>
          </a:p>
        </p:txBody>
      </p:sp>
      <p:sp>
        <p:nvSpPr>
          <p:cNvPr id="6" name="TextBox 5"/>
          <p:cNvSpPr txBox="1"/>
          <p:nvPr/>
        </p:nvSpPr>
        <p:spPr>
          <a:xfrm>
            <a:off x="548640" y="1325880"/>
            <a:ext cx="11091672" cy="4937760"/>
          </a:xfrm>
          <a:prstGeom prst="rect">
            <a:avLst/>
          </a:prstGeom>
          <a:noFill/>
        </p:spPr>
        <p:txBody>
          <a:bodyPr wrap="square" lIns="45720" tIns="27432" rIns="45720" bIns="27432">
            <a:spAutoFit/>
          </a:bodyPr>
          <a:lstStyle/>
          <a:p>
            <a:pPr marL="256032" indent="-219456">
              <a:spcAft>
                <a:spcPts val="900"/>
              </a:spcAft>
              <a:buFont typeface="Arial"/>
              <a:buChar char="•"/>
            </a:pPr>
            <a:r>
              <a:rPr sz="1800" b="1" i="0" dirty="0"/>
              <a:t>Limited Structural Feature Extraction:</a:t>
            </a:r>
            <a:r>
              <a:rPr sz="1800" b="0" i="0" dirty="0"/>
              <a:t> CNNs extract appearance features without explicitly </a:t>
            </a:r>
            <a:r>
              <a:rPr sz="1800" b="0" i="0" dirty="0" err="1"/>
              <a:t>analysing</a:t>
            </a:r>
            <a:r>
              <a:rPr sz="1800" b="0" i="0" dirty="0"/>
              <a:t> skeletons and stroke thickness</a:t>
            </a:r>
          </a:p>
          <a:p>
            <a:pPr marL="256032" indent="-219456">
              <a:spcAft>
                <a:spcPts val="900"/>
              </a:spcAft>
              <a:buFont typeface="Arial"/>
              <a:buChar char="•"/>
            </a:pPr>
            <a:r>
              <a:rPr sz="1800" b="1" i="0" dirty="0"/>
              <a:t>Visually Similar Characters:</a:t>
            </a:r>
            <a:r>
              <a:rPr sz="1800" b="0" i="0" dirty="0"/>
              <a:t> Similar curves and patterns may be misclassified</a:t>
            </a:r>
          </a:p>
          <a:p>
            <a:pPr marL="256032" indent="-219456">
              <a:spcAft>
                <a:spcPts val="900"/>
              </a:spcAft>
              <a:buFont typeface="Arial"/>
              <a:buChar char="•"/>
            </a:pPr>
            <a:r>
              <a:rPr sz="1800" b="1" i="0" dirty="0"/>
              <a:t>Lack of Adaptive Feature Fusion:</a:t>
            </a:r>
            <a:r>
              <a:rPr sz="1800" b="0" i="0" dirty="0"/>
              <a:t> Baselines do not dynamically integrate appearance and structural stroke representations</a:t>
            </a:r>
          </a:p>
          <a:p>
            <a:pPr marL="256032" indent="-219456">
              <a:spcAft>
                <a:spcPts val="900"/>
              </a:spcAft>
              <a:buFont typeface="Arial"/>
              <a:buChar char="•"/>
            </a:pPr>
            <a:r>
              <a:rPr sz="1800" b="1" i="0" dirty="0"/>
              <a:t>Handwriting Variations:</a:t>
            </a:r>
            <a:r>
              <a:rPr sz="1800" b="0" i="0" dirty="0"/>
              <a:t> Writing styles, shapes and stroke patterns reduce accuracy</a:t>
            </a:r>
          </a:p>
          <a:p>
            <a:pPr marL="256032" indent="-219456">
              <a:spcAft>
                <a:spcPts val="900"/>
              </a:spcAft>
              <a:buFont typeface="Arial"/>
              <a:buChar char="•"/>
            </a:pPr>
            <a:r>
              <a:rPr sz="1800" b="1" i="0" dirty="0"/>
              <a:t>Image Quality Sensitivity:</a:t>
            </a:r>
            <a:r>
              <a:rPr sz="1800" b="0" i="0" dirty="0"/>
              <a:t> Noise, low contrast, distortion and misalignment affect classification</a:t>
            </a:r>
          </a:p>
          <a:p>
            <a:pPr marL="256032" indent="-219456">
              <a:spcAft>
                <a:spcPts val="900"/>
              </a:spcAft>
              <a:buFont typeface="Arial"/>
              <a:buChar char="•"/>
            </a:pPr>
            <a:r>
              <a:rPr sz="1800" b="1" i="0" dirty="0"/>
              <a:t>Class Imbalance:</a:t>
            </a:r>
            <a:r>
              <a:rPr sz="1800" b="0" i="0" dirty="0"/>
              <a:t> Unequal sample distribution gives inconsistent recognition across categories</a:t>
            </a:r>
          </a:p>
          <a:p>
            <a:pPr marL="256032" indent="-219456">
              <a:spcAft>
                <a:spcPts val="900"/>
              </a:spcAft>
              <a:buFont typeface="Arial"/>
              <a:buChar char="•"/>
            </a:pPr>
            <a:r>
              <a:rPr sz="1800" b="1" i="0" dirty="0"/>
              <a:t>Limited Word Recognition:</a:t>
            </a:r>
            <a:r>
              <a:rPr sz="1800" b="0" i="0" dirty="0"/>
              <a:t> Character-level classification alone cannot reliably </a:t>
            </a:r>
            <a:r>
              <a:rPr sz="1800" b="0" i="0" dirty="0" err="1"/>
              <a:t>recognise</a:t>
            </a:r>
            <a:r>
              <a:rPr sz="1800" b="0" i="0" dirty="0"/>
              <a:t> complete words without additional processing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13</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Objectives</a:t>
            </a:r>
          </a:p>
        </p:txBody>
      </p:sp>
      <p:sp>
        <p:nvSpPr>
          <p:cNvPr id="6" name="TextBox 5"/>
          <p:cNvSpPr txBox="1"/>
          <p:nvPr/>
        </p:nvSpPr>
        <p:spPr>
          <a:xfrm>
            <a:off x="548640" y="1325880"/>
            <a:ext cx="11091672" cy="4937760"/>
          </a:xfrm>
          <a:prstGeom prst="rect">
            <a:avLst/>
          </a:prstGeom>
          <a:noFill/>
        </p:spPr>
        <p:txBody>
          <a:bodyPr wrap="square" lIns="45720" tIns="27432" rIns="45720" bIns="27432">
            <a:spAutoFit/>
          </a:bodyPr>
          <a:lstStyle/>
          <a:p>
            <a:pPr marL="256032" indent="-219456">
              <a:spcAft>
                <a:spcPts val="800"/>
              </a:spcAft>
              <a:buFont typeface="Arial"/>
              <a:buChar char="•"/>
            </a:pPr>
            <a:r>
              <a:rPr sz="1800" b="1" i="0" dirty="0"/>
              <a:t>Develop a Telugu Handwritten Character Recognition Framework:</a:t>
            </a:r>
            <a:r>
              <a:rPr sz="1800" b="0" i="0" dirty="0"/>
              <a:t> deep learning framework for </a:t>
            </a:r>
            <a:r>
              <a:rPr sz="1800" b="0" i="0" dirty="0" err="1"/>
              <a:t>Achulu</a:t>
            </a:r>
            <a:r>
              <a:rPr sz="1800" b="0" i="0" dirty="0"/>
              <a:t>, </a:t>
            </a:r>
            <a:r>
              <a:rPr sz="1800" b="0" i="0" dirty="0" err="1"/>
              <a:t>Hallulu</a:t>
            </a:r>
            <a:r>
              <a:rPr sz="1800" b="0" i="0" dirty="0"/>
              <a:t>, </a:t>
            </a:r>
            <a:r>
              <a:rPr sz="1800" b="0" i="0" dirty="0" err="1"/>
              <a:t>Guninthamulu</a:t>
            </a:r>
            <a:r>
              <a:rPr sz="1800" b="0" i="0" dirty="0"/>
              <a:t> and </a:t>
            </a:r>
            <a:r>
              <a:rPr sz="1800" b="0" i="0" dirty="0" err="1"/>
              <a:t>Othulu</a:t>
            </a:r>
            <a:endParaRPr sz="1800" b="0" i="0" dirty="0"/>
          </a:p>
          <a:p>
            <a:pPr marL="256032" indent="-219456">
              <a:spcAft>
                <a:spcPts val="800"/>
              </a:spcAft>
              <a:buFont typeface="Arial"/>
              <a:buChar char="•"/>
            </a:pPr>
            <a:r>
              <a:rPr sz="1800" b="1" i="0" dirty="0"/>
              <a:t>Implement the Baseline Classification Model:</a:t>
            </a:r>
            <a:r>
              <a:rPr sz="1800" b="0" i="0" dirty="0"/>
              <a:t> reduced-capacity MobileNetV3-Small to establish baseline performance</a:t>
            </a:r>
          </a:p>
          <a:p>
            <a:pPr marL="256032" indent="-219456">
              <a:spcAft>
                <a:spcPts val="800"/>
              </a:spcAft>
              <a:buFont typeface="Arial"/>
              <a:buChar char="•"/>
            </a:pPr>
            <a:r>
              <a:rPr sz="1800" b="1" i="0" dirty="0"/>
              <a:t>Develop SGF-MobileNetV3:</a:t>
            </a:r>
            <a:r>
              <a:rPr sz="1800" b="0" i="0" dirty="0"/>
              <a:t> MobileNetV3-Small + stroke feature extraction + adaptive gated fusion + classification</a:t>
            </a:r>
          </a:p>
          <a:p>
            <a:pPr marL="256032" indent="-219456">
              <a:spcAft>
                <a:spcPts val="800"/>
              </a:spcAft>
              <a:buFont typeface="Arial"/>
              <a:buChar char="•"/>
            </a:pPr>
            <a:r>
              <a:rPr sz="1800" b="1" i="0" dirty="0"/>
              <a:t>Implement Stroke-Based Feature Extraction:</a:t>
            </a:r>
            <a:r>
              <a:rPr sz="1800" b="0" i="0" dirty="0"/>
              <a:t> skeletons, stroke width and edge magnitude for visually similar characters</a:t>
            </a:r>
          </a:p>
          <a:p>
            <a:pPr marL="256032" indent="-219456">
              <a:spcAft>
                <a:spcPts val="800"/>
              </a:spcAft>
              <a:buFont typeface="Arial"/>
              <a:buChar char="•"/>
            </a:pPr>
            <a:r>
              <a:rPr sz="1800" b="1" i="0" dirty="0"/>
              <a:t>Apply Image Preprocessing and Data Augmentation:</a:t>
            </a:r>
            <a:r>
              <a:rPr sz="1800" b="0" i="0" dirty="0"/>
              <a:t> grayscale, cropping, resizing, noise removal, CLAHE and augmentation</a:t>
            </a:r>
          </a:p>
          <a:p>
            <a:pPr marL="256032" indent="-219456">
              <a:spcAft>
                <a:spcPts val="800"/>
              </a:spcAft>
              <a:buFont typeface="Arial"/>
              <a:buChar char="•"/>
            </a:pPr>
            <a:r>
              <a:rPr sz="1800" b="1" i="0" dirty="0"/>
              <a:t>Implement Adaptive Feature Fusion:</a:t>
            </a:r>
            <a:r>
              <a:rPr sz="1800" b="0" i="0" dirty="0"/>
              <a:t> learnable gate balances appearance and stroke branches</a:t>
            </a:r>
          </a:p>
          <a:p>
            <a:pPr marL="256032" indent="-219456">
              <a:spcAft>
                <a:spcPts val="800"/>
              </a:spcAft>
              <a:buFont typeface="Arial"/>
              <a:buChar char="•"/>
            </a:pPr>
            <a:r>
              <a:rPr sz="1800" b="1" i="0" dirty="0"/>
              <a:t>Implement Unicode Conversion and Word Correction:</a:t>
            </a:r>
            <a:r>
              <a:rPr sz="1800" b="0" i="0" dirty="0"/>
              <a:t> Telugu Unicode output and </a:t>
            </a:r>
            <a:r>
              <a:rPr sz="1800" b="0" i="0" dirty="0" err="1"/>
              <a:t>akshara</a:t>
            </a:r>
            <a:r>
              <a:rPr sz="1800" b="0" i="0" dirty="0"/>
              <a:t>-level edit-distance dictionary correction</a:t>
            </a:r>
          </a:p>
          <a:p>
            <a:pPr marL="256032" indent="-219456">
              <a:spcAft>
                <a:spcPts val="800"/>
              </a:spcAft>
              <a:buFont typeface="Arial"/>
              <a:buChar char="•"/>
            </a:pPr>
            <a:r>
              <a:rPr sz="1800" b="1" i="0" dirty="0"/>
              <a:t>Evaluate Model Performance:</a:t>
            </a:r>
            <a:r>
              <a:rPr sz="1800" b="0" i="0" dirty="0"/>
              <a:t> accuracy, precision, recall, F1, top-3, confusion matrices, latency and robustness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14</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Functional Requirements</a:t>
            </a:r>
          </a:p>
        </p:txBody>
      </p:sp>
      <p:sp>
        <p:nvSpPr>
          <p:cNvPr id="6" name="TextBox 5"/>
          <p:cNvSpPr txBox="1"/>
          <p:nvPr/>
        </p:nvSpPr>
        <p:spPr>
          <a:xfrm>
            <a:off x="548640" y="1280160"/>
            <a:ext cx="11091672" cy="4937760"/>
          </a:xfrm>
          <a:prstGeom prst="rect">
            <a:avLst/>
          </a:prstGeom>
          <a:noFill/>
        </p:spPr>
        <p:txBody>
          <a:bodyPr wrap="square" lIns="45720" tIns="27432" rIns="45720" bIns="27432">
            <a:spAutoFit/>
          </a:bodyPr>
          <a:lstStyle/>
          <a:p>
            <a:pPr marL="256032" indent="-219456">
              <a:spcAft>
                <a:spcPts val="800"/>
              </a:spcAft>
              <a:buFont typeface="Arial"/>
              <a:buChar char="•"/>
            </a:pPr>
            <a:r>
              <a:rPr sz="1600" b="0" i="0"/>
              <a:t>Recognise Telugu handwritten characters of four categories (Achulu, Hallulu, Guninthamulu, Othulu) across </a:t>
            </a:r>
            <a:r>
              <a:rPr sz="1600" b="1" i="0"/>
              <a:t>76 classes</a:t>
            </a:r>
            <a:r>
              <a:rPr sz="1600" b="0" i="0"/>
              <a:t> using SGF-MobileNetV3</a:t>
            </a:r>
          </a:p>
          <a:p>
            <a:pPr marL="256032" indent="-219456">
              <a:spcAft>
                <a:spcPts val="800"/>
              </a:spcAft>
              <a:buFont typeface="Arial"/>
              <a:buChar char="•"/>
            </a:pPr>
            <a:r>
              <a:rPr sz="1600" b="0" i="0"/>
              <a:t>Preprocess input images: grayscale, polarity correction, ink-region cropping, </a:t>
            </a:r>
            <a:r>
              <a:rPr sz="1600" b="1" i="0"/>
              <a:t>96 × 96</a:t>
            </a:r>
            <a:r>
              <a:rPr sz="1600" b="0" i="0"/>
              <a:t> resize, noise removal and CLAHE</a:t>
            </a:r>
          </a:p>
          <a:p>
            <a:pPr marL="256032" indent="-219456">
              <a:spcAft>
                <a:spcPts val="800"/>
              </a:spcAft>
              <a:buFont typeface="Arial"/>
              <a:buChar char="•"/>
            </a:pPr>
            <a:r>
              <a:rPr sz="1600" b="0" i="0"/>
              <a:t>Stroke branch extracts character skeletons, stroke-width maps and edge magnitude; </a:t>
            </a:r>
            <a:r>
              <a:rPr sz="1600" b="1" i="0"/>
              <a:t>adaptive gated fusion</a:t>
            </a:r>
            <a:r>
              <a:rPr sz="1600" b="0" i="0"/>
              <a:t> combines appearance and stroke features</a:t>
            </a:r>
          </a:p>
          <a:p>
            <a:pPr marL="256032" indent="-219456">
              <a:spcAft>
                <a:spcPts val="800"/>
              </a:spcAft>
              <a:buFont typeface="Arial"/>
              <a:buChar char="•"/>
            </a:pPr>
            <a:r>
              <a:rPr sz="1600" b="0" i="0"/>
              <a:t>Output the predicted character, confidence score and </a:t>
            </a:r>
            <a:r>
              <a:rPr sz="1600" b="1" i="0"/>
              <a:t>top-three alternative predictions</a:t>
            </a:r>
            <a:r>
              <a:rPr sz="1600" b="0" i="0"/>
              <a:t>; confidence below </a:t>
            </a:r>
            <a:r>
              <a:rPr sz="1600" b="1" i="0"/>
              <a:t>50%</a:t>
            </a:r>
            <a:r>
              <a:rPr sz="1600" b="0" i="0"/>
              <a:t> is flagged uncertain</a:t>
            </a:r>
          </a:p>
          <a:p>
            <a:pPr marL="256032" indent="-219456">
              <a:spcAft>
                <a:spcPts val="800"/>
              </a:spcAft>
              <a:buFont typeface="Arial"/>
              <a:buChar char="•"/>
            </a:pPr>
            <a:r>
              <a:rPr sz="1600" b="0" i="0"/>
              <a:t>Telugu </a:t>
            </a:r>
            <a:r>
              <a:rPr sz="1600" b="1" i="0"/>
              <a:t>Unicode conversion</a:t>
            </a:r>
            <a:r>
              <a:rPr sz="1600" b="0" i="0"/>
              <a:t>; dictionary correction using akshara-level edit distance for ordered character images</a:t>
            </a:r>
          </a:p>
          <a:p>
            <a:pPr marL="256032" indent="-219456">
              <a:spcAft>
                <a:spcPts val="800"/>
              </a:spcAft>
              <a:buFont typeface="Arial"/>
              <a:buChar char="•"/>
            </a:pPr>
            <a:r>
              <a:rPr sz="1600" b="0" i="0"/>
              <a:t>Evaluate with accuracy, precision, recall, F1-score, top-3 accuracy, classification reports, confusion matrices and robustness testing</a:t>
            </a:r>
          </a:p>
          <a:p>
            <a:pPr marL="256032" indent="-219456">
              <a:spcAft>
                <a:spcPts val="800"/>
              </a:spcAft>
              <a:buFont typeface="Arial"/>
              <a:buChar char="•"/>
            </a:pPr>
            <a:r>
              <a:rPr sz="1600" b="0" i="0"/>
              <a:t>Preserve trained weights, Unicode mappings and metadata for prediction without retraining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15</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800" dirty="0"/>
              <a:t>Non-Functional Requirements</a:t>
            </a:r>
          </a:p>
        </p:txBody>
      </p:sp>
      <p:sp>
        <p:nvSpPr>
          <p:cNvPr id="6" name="TextBox 5"/>
          <p:cNvSpPr txBox="1"/>
          <p:nvPr/>
        </p:nvSpPr>
        <p:spPr>
          <a:xfrm>
            <a:off x="548640" y="1280160"/>
            <a:ext cx="11091672" cy="4937760"/>
          </a:xfrm>
          <a:prstGeom prst="rect">
            <a:avLst/>
          </a:prstGeom>
          <a:noFill/>
        </p:spPr>
        <p:txBody>
          <a:bodyPr wrap="square" lIns="45720" tIns="27432" rIns="45720" bIns="27432">
            <a:spAutoFit/>
          </a:bodyPr>
          <a:lstStyle/>
          <a:p>
            <a:pPr marL="256032" indent="-219456">
              <a:spcAft>
                <a:spcPts val="900"/>
              </a:spcAft>
              <a:buFont typeface="Arial"/>
              <a:buChar char="•"/>
            </a:pPr>
            <a:r>
              <a:rPr sz="1600" b="1" i="0"/>
              <a:t>Performance, scalability, maintainability:</a:t>
            </a:r>
            <a:r>
              <a:rPr sz="1600" b="0" i="0"/>
              <a:t> Python, PyTorch, Torchvision, OpenCV, Scikit-learn, NumPy, Scikit-image; pretrained weights, augmentation, class-balanced sampling, learning-rate scheduling, early stopping; GPU when available, CPU supported; reusable preprocessing, modular branches, saved checkpoints</a:t>
            </a:r>
          </a:p>
          <a:p>
            <a:pPr marL="256032" indent="-219456">
              <a:spcAft>
                <a:spcPts val="900"/>
              </a:spcAft>
              <a:buFont typeface="Arial"/>
              <a:buChar char="•"/>
            </a:pPr>
            <a:r>
              <a:rPr sz="1600" b="1" i="0"/>
              <a:t>Reliability:</a:t>
            </a:r>
            <a:r>
              <a:rPr sz="1600" b="0" i="0"/>
              <a:t> handles invalid images, unsupported formats, missing model files, poor image quality and prediction failures; input validation and safe image processing</a:t>
            </a:r>
          </a:p>
          <a:p>
            <a:pPr marL="256032" indent="-219456">
              <a:spcAft>
                <a:spcPts val="900"/>
              </a:spcAft>
              <a:buFont typeface="Arial"/>
              <a:buChar char="•"/>
            </a:pPr>
            <a:r>
              <a:rPr sz="1600" b="1" i="0"/>
              <a:t>Usability:</a:t>
            </a:r>
            <a:r>
              <a:rPr sz="1600" b="0" i="0"/>
              <a:t> understandable outputs – predicted Telugu characters, Unicode, confidence percentages, alternative predictions, uncertainty indicators</a:t>
            </a:r>
          </a:p>
          <a:p>
            <a:pPr marL="256032" indent="-219456">
              <a:spcAft>
                <a:spcPts val="900"/>
              </a:spcAft>
              <a:buFont typeface="Arial"/>
              <a:buChar char="•"/>
            </a:pPr>
            <a:r>
              <a:rPr sz="1600" b="1" i="0"/>
              <a:t>Reproducibility:</a:t>
            </a:r>
            <a:r>
              <a:rPr sz="1600" b="0" i="0"/>
              <a:t> fixed random seeds, consistent dataset splitting, standardized evaluation</a:t>
            </a:r>
          </a:p>
          <a:p>
            <a:pPr marL="256032" indent="-219456">
              <a:spcAft>
                <a:spcPts val="900"/>
              </a:spcAft>
              <a:buFont typeface="Arial"/>
              <a:buChar char="•"/>
            </a:pPr>
            <a:r>
              <a:rPr sz="1600" b="1" i="0"/>
              <a:t>Accuracy:</a:t>
            </a:r>
            <a:r>
              <a:rPr sz="1600" b="0" i="0"/>
              <a:t> 95.90% character classification accuracy; may decrease for unclear handwriting, distorted characters and unvalidated word sequences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16</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200" dirty="0"/>
              <a:t>Hardware and Software Requirements</a:t>
            </a:r>
          </a:p>
        </p:txBody>
      </p:sp>
      <p:sp>
        <p:nvSpPr>
          <p:cNvPr id="6" name="TextBox 5"/>
          <p:cNvSpPr txBox="1"/>
          <p:nvPr/>
        </p:nvSpPr>
        <p:spPr>
          <a:xfrm>
            <a:off x="548640" y="1325880"/>
            <a:ext cx="4572000" cy="457200"/>
          </a:xfrm>
          <a:prstGeom prst="rect">
            <a:avLst/>
          </a:prstGeom>
          <a:noFill/>
        </p:spPr>
        <p:txBody>
          <a:bodyPr wrap="square" lIns="45720" tIns="27432" rIns="45720" bIns="27432">
            <a:spAutoFit/>
          </a:bodyPr>
          <a:lstStyle/>
          <a:p>
            <a:pPr marL="0" indent="0">
              <a:spcAft>
                <a:spcPts val="400"/>
              </a:spcAft>
              <a:buNone/>
            </a:pPr>
            <a:r>
              <a:rPr sz="2300" b="1" i="0">
                <a:solidFill>
                  <a:srgbClr val="1F3864"/>
                </a:solidFill>
              </a:rPr>
              <a:t>5.2 Hardware Requirements</a:t>
            </a:r>
          </a:p>
        </p:txBody>
      </p:sp>
      <p:graphicFrame>
        <p:nvGraphicFramePr>
          <p:cNvPr id="7" name="Table 6"/>
          <p:cNvGraphicFramePr>
            <a:graphicFrameLocks noGrp="1"/>
          </p:cNvGraphicFramePr>
          <p:nvPr>
            <p:extLst>
              <p:ext uri="{D42A27DB-BD31-4B8C-83A1-F6EECF244321}">
                <p14:modId xmlns:p14="http://schemas.microsoft.com/office/powerpoint/2010/main" val="1475240274"/>
              </p:ext>
            </p:extLst>
          </p:nvPr>
        </p:nvGraphicFramePr>
        <p:xfrm>
          <a:off x="548640" y="1828800"/>
          <a:ext cx="5212080" cy="3200400"/>
        </p:xfrm>
        <a:graphic>
          <a:graphicData uri="http://schemas.openxmlformats.org/drawingml/2006/table">
            <a:tbl>
              <a:tblPr>
                <a:tableStyleId>{616DA210-FB5B-4158-B5E0-FEB733F419BA}</a:tableStyleId>
              </a:tblPr>
              <a:tblGrid>
                <a:gridCol w="20116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457200">
                <a:tc>
                  <a:txBody>
                    <a:bodyPr/>
                    <a:lstStyle/>
                    <a:p>
                      <a:r>
                        <a:rPr sz="1700" dirty="0"/>
                        <a:t>Component</a:t>
                      </a:r>
                      <a:endParaRPr sz="1700" b="1" i="0" dirty="0">
                        <a:solidFill>
                          <a:srgbClr val="FFFFFF"/>
                        </a:solidFill>
                      </a:endParaRPr>
                    </a:p>
                  </a:txBody>
                  <a:tcPr marL="73152" marR="73152" marT="36576" marB="36576" anchor="ctr"/>
                </a:tc>
                <a:tc>
                  <a:txBody>
                    <a:bodyPr/>
                    <a:lstStyle/>
                    <a:p>
                      <a:r>
                        <a:rPr sz="1700"/>
                        <a:t>Specification</a:t>
                      </a:r>
                      <a:endParaRPr sz="1700" b="1" i="0">
                        <a:solidFill>
                          <a:srgbClr val="FFFFFF"/>
                        </a:solidFill>
                      </a:endParaRPr>
                    </a:p>
                  </a:txBody>
                  <a:tcPr marL="73152" marR="73152" marT="36576" marB="36576" anchor="ctr"/>
                </a:tc>
                <a:extLst>
                  <a:ext uri="{0D108BD9-81ED-4DB2-BD59-A6C34878D82A}">
                    <a16:rowId xmlns:a16="http://schemas.microsoft.com/office/drawing/2014/main" val="10000"/>
                  </a:ext>
                </a:extLst>
              </a:tr>
              <a:tr h="457200">
                <a:tc>
                  <a:txBody>
                    <a:bodyPr/>
                    <a:lstStyle/>
                    <a:p>
                      <a:r>
                        <a:rPr sz="1700"/>
                        <a:t>Processor</a:t>
                      </a:r>
                      <a:endParaRPr sz="1700" b="1" i="0">
                        <a:solidFill>
                          <a:srgbClr val="000000"/>
                        </a:solidFill>
                      </a:endParaRPr>
                    </a:p>
                  </a:txBody>
                  <a:tcPr marL="73152" marR="73152" marT="36576" marB="36576" anchor="ctr"/>
                </a:tc>
                <a:tc>
                  <a:txBody>
                    <a:bodyPr/>
                    <a:lstStyle/>
                    <a:p>
                      <a:r>
                        <a:rPr sz="1700"/>
                        <a:t>I3 / Intel Processor</a:t>
                      </a:r>
                      <a:endParaRPr sz="1700" b="0" i="0">
                        <a:solidFill>
                          <a:srgbClr val="000000"/>
                        </a:solidFill>
                      </a:endParaRPr>
                    </a:p>
                  </a:txBody>
                  <a:tcPr marL="73152" marR="73152" marT="36576" marB="36576" anchor="ctr"/>
                </a:tc>
                <a:extLst>
                  <a:ext uri="{0D108BD9-81ED-4DB2-BD59-A6C34878D82A}">
                    <a16:rowId xmlns:a16="http://schemas.microsoft.com/office/drawing/2014/main" val="10001"/>
                  </a:ext>
                </a:extLst>
              </a:tr>
              <a:tr h="457200">
                <a:tc>
                  <a:txBody>
                    <a:bodyPr/>
                    <a:lstStyle/>
                    <a:p>
                      <a:r>
                        <a:rPr sz="1700"/>
                        <a:t>Hard Disk</a:t>
                      </a:r>
                      <a:endParaRPr sz="1700" b="1" i="0">
                        <a:solidFill>
                          <a:srgbClr val="000000"/>
                        </a:solidFill>
                      </a:endParaRPr>
                    </a:p>
                  </a:txBody>
                  <a:tcPr marL="73152" marR="73152" marT="36576" marB="36576" anchor="ctr"/>
                </a:tc>
                <a:tc>
                  <a:txBody>
                    <a:bodyPr/>
                    <a:lstStyle/>
                    <a:p>
                      <a:r>
                        <a:rPr sz="1700"/>
                        <a:t>160 GB</a:t>
                      </a:r>
                      <a:endParaRPr sz="1700" b="0" i="0">
                        <a:solidFill>
                          <a:srgbClr val="000000"/>
                        </a:solidFill>
                      </a:endParaRPr>
                    </a:p>
                  </a:txBody>
                  <a:tcPr marL="73152" marR="73152" marT="36576" marB="36576" anchor="ctr"/>
                </a:tc>
                <a:extLst>
                  <a:ext uri="{0D108BD9-81ED-4DB2-BD59-A6C34878D82A}">
                    <a16:rowId xmlns:a16="http://schemas.microsoft.com/office/drawing/2014/main" val="10002"/>
                  </a:ext>
                </a:extLst>
              </a:tr>
              <a:tr h="457200">
                <a:tc>
                  <a:txBody>
                    <a:bodyPr/>
                    <a:lstStyle/>
                    <a:p>
                      <a:r>
                        <a:rPr sz="1700"/>
                        <a:t>Keyboard</a:t>
                      </a:r>
                      <a:endParaRPr sz="1700" b="1" i="0">
                        <a:solidFill>
                          <a:srgbClr val="000000"/>
                        </a:solidFill>
                      </a:endParaRPr>
                    </a:p>
                  </a:txBody>
                  <a:tcPr marL="73152" marR="73152" marT="36576" marB="36576" anchor="ctr"/>
                </a:tc>
                <a:tc>
                  <a:txBody>
                    <a:bodyPr/>
                    <a:lstStyle/>
                    <a:p>
                      <a:r>
                        <a:rPr sz="1700"/>
                        <a:t>Standard Windows Keyboard</a:t>
                      </a:r>
                      <a:endParaRPr sz="1700" b="0" i="0">
                        <a:solidFill>
                          <a:srgbClr val="000000"/>
                        </a:solidFill>
                      </a:endParaRPr>
                    </a:p>
                  </a:txBody>
                  <a:tcPr marL="73152" marR="73152" marT="36576" marB="36576" anchor="ctr"/>
                </a:tc>
                <a:extLst>
                  <a:ext uri="{0D108BD9-81ED-4DB2-BD59-A6C34878D82A}">
                    <a16:rowId xmlns:a16="http://schemas.microsoft.com/office/drawing/2014/main" val="10003"/>
                  </a:ext>
                </a:extLst>
              </a:tr>
              <a:tr h="457200">
                <a:tc>
                  <a:txBody>
                    <a:bodyPr/>
                    <a:lstStyle/>
                    <a:p>
                      <a:r>
                        <a:rPr sz="1700"/>
                        <a:t>Mouse</a:t>
                      </a:r>
                      <a:endParaRPr sz="1700" b="1" i="0">
                        <a:solidFill>
                          <a:srgbClr val="000000"/>
                        </a:solidFill>
                      </a:endParaRPr>
                    </a:p>
                  </a:txBody>
                  <a:tcPr marL="73152" marR="73152" marT="36576" marB="36576" anchor="ctr"/>
                </a:tc>
                <a:tc>
                  <a:txBody>
                    <a:bodyPr/>
                    <a:lstStyle/>
                    <a:p>
                      <a:r>
                        <a:rPr sz="1700"/>
                        <a:t>Two or Three Button Mouse</a:t>
                      </a:r>
                      <a:endParaRPr sz="1700" b="0" i="0">
                        <a:solidFill>
                          <a:srgbClr val="000000"/>
                        </a:solidFill>
                      </a:endParaRPr>
                    </a:p>
                  </a:txBody>
                  <a:tcPr marL="73152" marR="73152" marT="36576" marB="36576" anchor="ctr"/>
                </a:tc>
                <a:extLst>
                  <a:ext uri="{0D108BD9-81ED-4DB2-BD59-A6C34878D82A}">
                    <a16:rowId xmlns:a16="http://schemas.microsoft.com/office/drawing/2014/main" val="10004"/>
                  </a:ext>
                </a:extLst>
              </a:tr>
              <a:tr h="457200">
                <a:tc>
                  <a:txBody>
                    <a:bodyPr/>
                    <a:lstStyle/>
                    <a:p>
                      <a:r>
                        <a:rPr sz="1700"/>
                        <a:t>Monitor</a:t>
                      </a:r>
                      <a:endParaRPr sz="1700" b="1" i="0">
                        <a:solidFill>
                          <a:srgbClr val="000000"/>
                        </a:solidFill>
                      </a:endParaRPr>
                    </a:p>
                  </a:txBody>
                  <a:tcPr marL="73152" marR="73152" marT="36576" marB="36576" anchor="ctr"/>
                </a:tc>
                <a:tc>
                  <a:txBody>
                    <a:bodyPr/>
                    <a:lstStyle/>
                    <a:p>
                      <a:r>
                        <a:rPr sz="1700"/>
                        <a:t>SVGA</a:t>
                      </a:r>
                      <a:endParaRPr sz="1700" b="0" i="0">
                        <a:solidFill>
                          <a:srgbClr val="000000"/>
                        </a:solidFill>
                      </a:endParaRPr>
                    </a:p>
                  </a:txBody>
                  <a:tcPr marL="73152" marR="73152" marT="36576" marB="36576" anchor="ctr"/>
                </a:tc>
                <a:extLst>
                  <a:ext uri="{0D108BD9-81ED-4DB2-BD59-A6C34878D82A}">
                    <a16:rowId xmlns:a16="http://schemas.microsoft.com/office/drawing/2014/main" val="10005"/>
                  </a:ext>
                </a:extLst>
              </a:tr>
              <a:tr h="457200">
                <a:tc>
                  <a:txBody>
                    <a:bodyPr/>
                    <a:lstStyle/>
                    <a:p>
                      <a:r>
                        <a:rPr sz="1700"/>
                        <a:t>RAM</a:t>
                      </a:r>
                      <a:endParaRPr sz="1700" b="1" i="0">
                        <a:solidFill>
                          <a:srgbClr val="000000"/>
                        </a:solidFill>
                      </a:endParaRPr>
                    </a:p>
                  </a:txBody>
                  <a:tcPr marL="73152" marR="73152" marT="36576" marB="36576" anchor="ctr"/>
                </a:tc>
                <a:tc>
                  <a:txBody>
                    <a:bodyPr/>
                    <a:lstStyle/>
                    <a:p>
                      <a:r>
                        <a:rPr sz="1700" dirty="0"/>
                        <a:t>8 GB</a:t>
                      </a:r>
                      <a:endParaRPr sz="1700" b="0" i="0" dirty="0">
                        <a:solidFill>
                          <a:srgbClr val="000000"/>
                        </a:solidFill>
                      </a:endParaRPr>
                    </a:p>
                  </a:txBody>
                  <a:tcPr marL="73152" marR="73152" marT="36576" marB="36576" anchor="ctr"/>
                </a:tc>
                <a:extLst>
                  <a:ext uri="{0D108BD9-81ED-4DB2-BD59-A6C34878D82A}">
                    <a16:rowId xmlns:a16="http://schemas.microsoft.com/office/drawing/2014/main" val="10006"/>
                  </a:ext>
                </a:extLst>
              </a:tr>
            </a:tbl>
          </a:graphicData>
        </a:graphic>
      </p:graphicFrame>
      <p:sp>
        <p:nvSpPr>
          <p:cNvPr id="8" name="TextBox 7"/>
          <p:cNvSpPr txBox="1"/>
          <p:nvPr/>
        </p:nvSpPr>
        <p:spPr>
          <a:xfrm>
            <a:off x="6263640" y="1325880"/>
            <a:ext cx="5394960" cy="457200"/>
          </a:xfrm>
          <a:prstGeom prst="rect">
            <a:avLst/>
          </a:prstGeom>
          <a:noFill/>
        </p:spPr>
        <p:txBody>
          <a:bodyPr wrap="square" lIns="45720" tIns="27432" rIns="45720" bIns="27432">
            <a:spAutoFit/>
          </a:bodyPr>
          <a:lstStyle/>
          <a:p>
            <a:pPr marL="0" indent="0">
              <a:spcAft>
                <a:spcPts val="400"/>
              </a:spcAft>
              <a:buNone/>
            </a:pPr>
            <a:r>
              <a:rPr sz="2300" b="1" i="0">
                <a:solidFill>
                  <a:srgbClr val="1F3864"/>
                </a:solidFill>
              </a:rPr>
              <a:t>5.3 Software Requirements</a:t>
            </a:r>
          </a:p>
        </p:txBody>
      </p:sp>
      <p:graphicFrame>
        <p:nvGraphicFramePr>
          <p:cNvPr id="9" name="Table 8"/>
          <p:cNvGraphicFramePr>
            <a:graphicFrameLocks noGrp="1"/>
          </p:cNvGraphicFramePr>
          <p:nvPr>
            <p:extLst>
              <p:ext uri="{D42A27DB-BD31-4B8C-83A1-F6EECF244321}">
                <p14:modId xmlns:p14="http://schemas.microsoft.com/office/powerpoint/2010/main" val="3719943994"/>
              </p:ext>
            </p:extLst>
          </p:nvPr>
        </p:nvGraphicFramePr>
        <p:xfrm>
          <a:off x="6263640" y="1828800"/>
          <a:ext cx="5394960" cy="3925824"/>
        </p:xfrm>
        <a:graphic>
          <a:graphicData uri="http://schemas.openxmlformats.org/drawingml/2006/table">
            <a:tbl>
              <a:tblPr>
                <a:tableStyleId>{616DA210-FB5B-4158-B5E0-FEB733F419BA}</a:tableStyleId>
              </a:tblPr>
              <a:tblGrid>
                <a:gridCol w="21945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457200">
                <a:tc>
                  <a:txBody>
                    <a:bodyPr/>
                    <a:lstStyle/>
                    <a:p>
                      <a:r>
                        <a:rPr sz="1700" dirty="0"/>
                        <a:t>Item</a:t>
                      </a:r>
                      <a:endParaRPr sz="1700" b="1" i="0" dirty="0">
                        <a:solidFill>
                          <a:srgbClr val="FFFFFF"/>
                        </a:solidFill>
                      </a:endParaRPr>
                    </a:p>
                  </a:txBody>
                  <a:tcPr marL="73152" marR="73152" marT="36576" marB="36576" anchor="ctr"/>
                </a:tc>
                <a:tc>
                  <a:txBody>
                    <a:bodyPr/>
                    <a:lstStyle/>
                    <a:p>
                      <a:r>
                        <a:rPr sz="1700"/>
                        <a:t>Specification</a:t>
                      </a:r>
                      <a:endParaRPr sz="1700" b="1" i="0">
                        <a:solidFill>
                          <a:srgbClr val="FFFFFF"/>
                        </a:solidFill>
                      </a:endParaRPr>
                    </a:p>
                  </a:txBody>
                  <a:tcPr marL="73152" marR="73152" marT="36576" marB="36576" anchor="ctr"/>
                </a:tc>
                <a:extLst>
                  <a:ext uri="{0D108BD9-81ED-4DB2-BD59-A6C34878D82A}">
                    <a16:rowId xmlns:a16="http://schemas.microsoft.com/office/drawing/2014/main" val="10000"/>
                  </a:ext>
                </a:extLst>
              </a:tr>
              <a:tr h="457200">
                <a:tc>
                  <a:txBody>
                    <a:bodyPr/>
                    <a:lstStyle/>
                    <a:p>
                      <a:r>
                        <a:rPr sz="1700"/>
                        <a:t>Operating System</a:t>
                      </a:r>
                      <a:endParaRPr sz="1700" b="1" i="0">
                        <a:solidFill>
                          <a:srgbClr val="000000"/>
                        </a:solidFill>
                      </a:endParaRPr>
                    </a:p>
                  </a:txBody>
                  <a:tcPr marL="73152" marR="73152" marT="36576" marB="36576" anchor="ctr"/>
                </a:tc>
                <a:tc>
                  <a:txBody>
                    <a:bodyPr/>
                    <a:lstStyle/>
                    <a:p>
                      <a:r>
                        <a:rPr sz="1700"/>
                        <a:t>Windows 7/8/10</a:t>
                      </a:r>
                      <a:endParaRPr sz="1700" b="0" i="0">
                        <a:solidFill>
                          <a:srgbClr val="000000"/>
                        </a:solidFill>
                      </a:endParaRPr>
                    </a:p>
                  </a:txBody>
                  <a:tcPr marL="73152" marR="73152" marT="36576" marB="36576" anchor="ctr"/>
                </a:tc>
                <a:extLst>
                  <a:ext uri="{0D108BD9-81ED-4DB2-BD59-A6C34878D82A}">
                    <a16:rowId xmlns:a16="http://schemas.microsoft.com/office/drawing/2014/main" val="10001"/>
                  </a:ext>
                </a:extLst>
              </a:tr>
              <a:tr h="457200">
                <a:tc>
                  <a:txBody>
                    <a:bodyPr/>
                    <a:lstStyle/>
                    <a:p>
                      <a:r>
                        <a:rPr sz="1700"/>
                        <a:t>Server-side Script</a:t>
                      </a:r>
                      <a:endParaRPr sz="1700" b="1" i="0">
                        <a:solidFill>
                          <a:srgbClr val="000000"/>
                        </a:solidFill>
                      </a:endParaRPr>
                    </a:p>
                  </a:txBody>
                  <a:tcPr marL="73152" marR="73152" marT="36576" marB="36576" anchor="ctr"/>
                </a:tc>
                <a:tc>
                  <a:txBody>
                    <a:bodyPr/>
                    <a:lstStyle/>
                    <a:p>
                      <a:r>
                        <a:rPr sz="1700"/>
                        <a:t>HTML, CSS</a:t>
                      </a:r>
                      <a:endParaRPr sz="1700" b="0" i="0">
                        <a:solidFill>
                          <a:srgbClr val="000000"/>
                        </a:solidFill>
                      </a:endParaRPr>
                    </a:p>
                  </a:txBody>
                  <a:tcPr marL="73152" marR="73152" marT="36576" marB="36576" anchor="ctr"/>
                </a:tc>
                <a:extLst>
                  <a:ext uri="{0D108BD9-81ED-4DB2-BD59-A6C34878D82A}">
                    <a16:rowId xmlns:a16="http://schemas.microsoft.com/office/drawing/2014/main" val="10002"/>
                  </a:ext>
                </a:extLst>
              </a:tr>
              <a:tr h="457200">
                <a:tc>
                  <a:txBody>
                    <a:bodyPr/>
                    <a:lstStyle/>
                    <a:p>
                      <a:r>
                        <a:rPr sz="1700"/>
                        <a:t>Programming Language</a:t>
                      </a:r>
                      <a:endParaRPr sz="1700" b="1" i="0">
                        <a:solidFill>
                          <a:srgbClr val="000000"/>
                        </a:solidFill>
                      </a:endParaRPr>
                    </a:p>
                  </a:txBody>
                  <a:tcPr marL="73152" marR="73152" marT="36576" marB="36576" anchor="ctr"/>
                </a:tc>
                <a:tc>
                  <a:txBody>
                    <a:bodyPr/>
                    <a:lstStyle/>
                    <a:p>
                      <a:r>
                        <a:rPr sz="1700"/>
                        <a:t>Python</a:t>
                      </a:r>
                      <a:endParaRPr sz="1700" b="0" i="0">
                        <a:solidFill>
                          <a:srgbClr val="000000"/>
                        </a:solidFill>
                      </a:endParaRPr>
                    </a:p>
                  </a:txBody>
                  <a:tcPr marL="73152" marR="73152" marT="36576" marB="36576" anchor="ctr"/>
                </a:tc>
                <a:extLst>
                  <a:ext uri="{0D108BD9-81ED-4DB2-BD59-A6C34878D82A}">
                    <a16:rowId xmlns:a16="http://schemas.microsoft.com/office/drawing/2014/main" val="10003"/>
                  </a:ext>
                </a:extLst>
              </a:tr>
              <a:tr h="457200">
                <a:tc>
                  <a:txBody>
                    <a:bodyPr/>
                    <a:lstStyle/>
                    <a:p>
                      <a:r>
                        <a:rPr sz="1700"/>
                        <a:t>Libraries</a:t>
                      </a:r>
                      <a:endParaRPr sz="1700" b="1" i="0">
                        <a:solidFill>
                          <a:srgbClr val="000000"/>
                        </a:solidFill>
                      </a:endParaRPr>
                    </a:p>
                  </a:txBody>
                  <a:tcPr marL="73152" marR="73152" marT="36576" marB="36576" anchor="ctr"/>
                </a:tc>
                <a:tc>
                  <a:txBody>
                    <a:bodyPr/>
                    <a:lstStyle/>
                    <a:p>
                      <a:r>
                        <a:rPr sz="1700"/>
                        <a:t>Flask, Pandas, SQLite, NumPy, Computer Vision</a:t>
                      </a:r>
                      <a:endParaRPr sz="1700" b="0" i="0">
                        <a:solidFill>
                          <a:srgbClr val="000000"/>
                        </a:solidFill>
                      </a:endParaRPr>
                    </a:p>
                  </a:txBody>
                  <a:tcPr marL="73152" marR="73152" marT="36576" marB="36576" anchor="ctr"/>
                </a:tc>
                <a:extLst>
                  <a:ext uri="{0D108BD9-81ED-4DB2-BD59-A6C34878D82A}">
                    <a16:rowId xmlns:a16="http://schemas.microsoft.com/office/drawing/2014/main" val="10004"/>
                  </a:ext>
                </a:extLst>
              </a:tr>
              <a:tr h="457200">
                <a:tc>
                  <a:txBody>
                    <a:bodyPr/>
                    <a:lstStyle/>
                    <a:p>
                      <a:r>
                        <a:rPr sz="1700"/>
                        <a:t>IDE / Workbench</a:t>
                      </a:r>
                      <a:endParaRPr sz="1700" b="1" i="0">
                        <a:solidFill>
                          <a:srgbClr val="000000"/>
                        </a:solidFill>
                      </a:endParaRPr>
                    </a:p>
                  </a:txBody>
                  <a:tcPr marL="73152" marR="73152" marT="36576" marB="36576" anchor="ctr"/>
                </a:tc>
                <a:tc>
                  <a:txBody>
                    <a:bodyPr/>
                    <a:lstStyle/>
                    <a:p>
                      <a:r>
                        <a:rPr sz="1700"/>
                        <a:t>VS Code</a:t>
                      </a:r>
                      <a:endParaRPr sz="1700" b="0" i="0">
                        <a:solidFill>
                          <a:srgbClr val="000000"/>
                        </a:solidFill>
                      </a:endParaRPr>
                    </a:p>
                  </a:txBody>
                  <a:tcPr marL="73152" marR="73152" marT="36576" marB="36576" anchor="ctr"/>
                </a:tc>
                <a:extLst>
                  <a:ext uri="{0D108BD9-81ED-4DB2-BD59-A6C34878D82A}">
                    <a16:rowId xmlns:a16="http://schemas.microsoft.com/office/drawing/2014/main" val="10005"/>
                  </a:ext>
                </a:extLst>
              </a:tr>
              <a:tr h="457200">
                <a:tc>
                  <a:txBody>
                    <a:bodyPr/>
                    <a:lstStyle/>
                    <a:p>
                      <a:r>
                        <a:rPr sz="1700"/>
                        <a:t>Technology</a:t>
                      </a:r>
                      <a:endParaRPr sz="1700" b="1" i="0">
                        <a:solidFill>
                          <a:srgbClr val="000000"/>
                        </a:solidFill>
                      </a:endParaRPr>
                    </a:p>
                  </a:txBody>
                  <a:tcPr marL="73152" marR="73152" marT="36576" marB="36576" anchor="ctr"/>
                </a:tc>
                <a:tc>
                  <a:txBody>
                    <a:bodyPr/>
                    <a:lstStyle/>
                    <a:p>
                      <a:r>
                        <a:rPr sz="1700"/>
                        <a:t>Python 3.10+</a:t>
                      </a:r>
                      <a:endParaRPr sz="1700" b="0" i="0">
                        <a:solidFill>
                          <a:srgbClr val="000000"/>
                        </a:solidFill>
                      </a:endParaRPr>
                    </a:p>
                  </a:txBody>
                  <a:tcPr marL="73152" marR="73152" marT="36576" marB="36576" anchor="ctr"/>
                </a:tc>
                <a:extLst>
                  <a:ext uri="{0D108BD9-81ED-4DB2-BD59-A6C34878D82A}">
                    <a16:rowId xmlns:a16="http://schemas.microsoft.com/office/drawing/2014/main" val="10006"/>
                  </a:ext>
                </a:extLst>
              </a:tr>
              <a:tr h="457200">
                <a:tc>
                  <a:txBody>
                    <a:bodyPr/>
                    <a:lstStyle/>
                    <a:p>
                      <a:r>
                        <a:rPr sz="1700"/>
                        <a:t>Database</a:t>
                      </a:r>
                      <a:endParaRPr sz="1700" b="1" i="0">
                        <a:solidFill>
                          <a:srgbClr val="000000"/>
                        </a:solidFill>
                      </a:endParaRPr>
                    </a:p>
                  </a:txBody>
                  <a:tcPr marL="73152" marR="73152" marT="36576" marB="36576" anchor="ctr"/>
                </a:tc>
                <a:tc>
                  <a:txBody>
                    <a:bodyPr/>
                    <a:lstStyle/>
                    <a:p>
                      <a:r>
                        <a:rPr sz="1700" dirty="0"/>
                        <a:t>SQLite</a:t>
                      </a:r>
                      <a:endParaRPr sz="1700" b="0" i="0" dirty="0">
                        <a:solidFill>
                          <a:srgbClr val="000000"/>
                        </a:solidFill>
                      </a:endParaRPr>
                    </a:p>
                  </a:txBody>
                  <a:tcPr marL="73152" marR="73152" marT="36576" marB="36576"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17</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400" dirty="0"/>
              <a:t>Methodology: Proposed System</a:t>
            </a:r>
          </a:p>
        </p:txBody>
      </p:sp>
      <p:sp>
        <p:nvSpPr>
          <p:cNvPr id="6" name="TextBox 5"/>
          <p:cNvSpPr txBox="1"/>
          <p:nvPr/>
        </p:nvSpPr>
        <p:spPr>
          <a:xfrm>
            <a:off x="275319" y="1766831"/>
            <a:ext cx="11641361" cy="2143151"/>
          </a:xfrm>
          <a:prstGeom prst="rect">
            <a:avLst/>
          </a:prstGeom>
          <a:noFill/>
        </p:spPr>
        <p:txBody>
          <a:bodyPr wrap="square" lIns="45720" tIns="27432" rIns="45720" bIns="27432">
            <a:spAutoFit/>
          </a:bodyPr>
          <a:lstStyle/>
          <a:p>
            <a:pPr marL="256032" indent="-219456" algn="just">
              <a:spcAft>
                <a:spcPts val="400"/>
              </a:spcAft>
              <a:buFont typeface="Arial"/>
              <a:buChar char="•"/>
            </a:pPr>
            <a:r>
              <a:rPr sz="1700" b="0" i="0" dirty="0"/>
              <a:t>Framework: </a:t>
            </a:r>
            <a:r>
              <a:rPr sz="1700" b="1" i="0" dirty="0"/>
              <a:t>SGF-MobileNetV3</a:t>
            </a:r>
            <a:r>
              <a:rPr sz="1700" b="0" i="0" dirty="0"/>
              <a:t> – appearance extraction + structural stroke analysis + adaptive gated fusion</a:t>
            </a:r>
          </a:p>
          <a:p>
            <a:pPr marL="256032" indent="-219456" algn="just">
              <a:spcAft>
                <a:spcPts val="400"/>
              </a:spcAft>
              <a:buFont typeface="Arial"/>
              <a:buChar char="•"/>
            </a:pPr>
            <a:r>
              <a:rPr sz="1700" b="0" i="0" dirty="0"/>
              <a:t>Dataset: </a:t>
            </a:r>
            <a:r>
              <a:rPr sz="1700" b="1" i="0" dirty="0"/>
              <a:t>292,752</a:t>
            </a:r>
            <a:r>
              <a:rPr sz="1700" b="0" i="0" dirty="0"/>
              <a:t> images in 121 folders → class merging and balancing → </a:t>
            </a:r>
            <a:r>
              <a:rPr sz="1700" b="1" i="0" dirty="0"/>
              <a:t>73,463</a:t>
            </a:r>
            <a:r>
              <a:rPr sz="1700" b="0" i="0" dirty="0"/>
              <a:t> images, </a:t>
            </a:r>
            <a:r>
              <a:rPr sz="1700" b="1" i="0" dirty="0"/>
              <a:t>76</a:t>
            </a:r>
            <a:r>
              <a:rPr sz="1700" b="0" i="0" dirty="0"/>
              <a:t> classes; </a:t>
            </a:r>
            <a:r>
              <a:rPr sz="1700" b="1" i="0" dirty="0"/>
              <a:t>51,423 / 11,020 / 11,020</a:t>
            </a:r>
            <a:r>
              <a:rPr sz="1700" b="0" i="0" dirty="0"/>
              <a:t> train/validation/test</a:t>
            </a:r>
          </a:p>
          <a:p>
            <a:pPr marL="256032" indent="-219456" algn="just">
              <a:spcAft>
                <a:spcPts val="400"/>
              </a:spcAft>
              <a:buFont typeface="Arial"/>
              <a:buChar char="•"/>
            </a:pPr>
            <a:r>
              <a:rPr sz="1700" b="0" i="0" dirty="0"/>
              <a:t>Preprocessing: grayscale, polarity correction, ink-region cropping, square padding, </a:t>
            </a:r>
            <a:r>
              <a:rPr sz="1700" b="1" i="0" dirty="0"/>
              <a:t>96 × 96</a:t>
            </a:r>
            <a:r>
              <a:rPr sz="1700" b="0" i="0" dirty="0"/>
              <a:t>, denoising, </a:t>
            </a:r>
            <a:r>
              <a:rPr sz="1700" b="1" i="0" dirty="0"/>
              <a:t>CLAHE</a:t>
            </a:r>
          </a:p>
          <a:p>
            <a:pPr marL="256032" indent="-219456" algn="just">
              <a:spcAft>
                <a:spcPts val="400"/>
              </a:spcAft>
              <a:buFont typeface="Arial"/>
              <a:buChar char="•"/>
            </a:pPr>
            <a:r>
              <a:rPr sz="1700" b="0" i="0" dirty="0"/>
              <a:t>Augmentation: rotation, scaling, translation, shear, blur, stroke variations; </a:t>
            </a:r>
            <a:r>
              <a:rPr sz="1700" b="1" i="0" dirty="0"/>
              <a:t>class-balanced sampling</a:t>
            </a:r>
          </a:p>
          <a:p>
            <a:pPr marL="256032" indent="-219456" algn="just">
              <a:spcAft>
                <a:spcPts val="400"/>
              </a:spcAft>
              <a:buFont typeface="Arial"/>
              <a:buChar char="•"/>
            </a:pPr>
            <a:r>
              <a:rPr sz="1700" b="0" i="0" dirty="0"/>
              <a:t>Models: </a:t>
            </a:r>
            <a:r>
              <a:rPr sz="1700" b="1" i="0" dirty="0"/>
              <a:t>MobileNetV3-Small baseline</a:t>
            </a:r>
            <a:r>
              <a:rPr sz="1700" b="0" i="0" dirty="0"/>
              <a:t> and </a:t>
            </a:r>
            <a:r>
              <a:rPr sz="1700" b="1" i="0" dirty="0"/>
              <a:t>SGF-MobileNetV3</a:t>
            </a:r>
            <a:r>
              <a:rPr sz="1700" b="0" i="0" dirty="0"/>
              <a:t> (appearance branch + stroke branch + adaptive gated fusion)</a:t>
            </a:r>
          </a:p>
          <a:p>
            <a:pPr marL="256032" indent="-219456" algn="just">
              <a:spcAft>
                <a:spcPts val="400"/>
              </a:spcAft>
              <a:buFont typeface="Arial"/>
              <a:buChar char="•"/>
            </a:pPr>
            <a:r>
              <a:rPr sz="1700" b="0" i="0" dirty="0"/>
              <a:t>Telugu </a:t>
            </a:r>
            <a:r>
              <a:rPr sz="1700" b="1" i="0" dirty="0"/>
              <a:t>Unicode mapping</a:t>
            </a:r>
            <a:r>
              <a:rPr sz="1700" b="0" i="0" dirty="0"/>
              <a:t> and </a:t>
            </a:r>
            <a:r>
              <a:rPr sz="1700" b="1" i="0" dirty="0" err="1"/>
              <a:t>akshara</a:t>
            </a:r>
            <a:r>
              <a:rPr sz="1700" b="1" i="0" dirty="0"/>
              <a:t>-level dictionary correction</a:t>
            </a:r>
            <a:r>
              <a:rPr sz="1700" b="0" i="0" dirty="0"/>
              <a:t> for preliminary word recognition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18</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400" dirty="0"/>
              <a:t>Advantages of Proposed System</a:t>
            </a:r>
          </a:p>
        </p:txBody>
      </p:sp>
      <p:sp>
        <p:nvSpPr>
          <p:cNvPr id="6" name="TextBox 5"/>
          <p:cNvSpPr txBox="1"/>
          <p:nvPr/>
        </p:nvSpPr>
        <p:spPr>
          <a:xfrm>
            <a:off x="548640" y="1325880"/>
            <a:ext cx="5440680" cy="3458896"/>
          </a:xfrm>
          <a:prstGeom prst="rect">
            <a:avLst/>
          </a:prstGeom>
          <a:noFill/>
        </p:spPr>
        <p:txBody>
          <a:bodyPr wrap="square" lIns="45720" tIns="27432" rIns="45720" bIns="27432">
            <a:spAutoFit/>
          </a:bodyPr>
          <a:lstStyle/>
          <a:p>
            <a:pPr marL="256032" indent="-219456" algn="just">
              <a:spcAft>
                <a:spcPts val="700"/>
              </a:spcAft>
              <a:buFont typeface="Arial"/>
              <a:buChar char="•"/>
            </a:pPr>
            <a:r>
              <a:rPr sz="1600" b="1" i="0" dirty="0"/>
              <a:t>Enhanced Character Recognition:</a:t>
            </a:r>
            <a:r>
              <a:rPr sz="1600" b="0" i="0" dirty="0"/>
              <a:t> SGF-MobileNetV3 improves Telugu character classification</a:t>
            </a:r>
          </a:p>
          <a:p>
            <a:pPr marL="256032" indent="-219456" algn="just">
              <a:spcAft>
                <a:spcPts val="700"/>
              </a:spcAft>
              <a:buFont typeface="Arial"/>
              <a:buChar char="•"/>
            </a:pPr>
            <a:r>
              <a:rPr sz="1600" b="1" i="0" dirty="0"/>
              <a:t>Dual-Branch Feature Extraction:</a:t>
            </a:r>
            <a:r>
              <a:rPr sz="1600" b="0" i="0" dirty="0"/>
              <a:t> appearance features + structural stroke representations</a:t>
            </a:r>
          </a:p>
          <a:p>
            <a:pPr marL="256032" indent="-219456" algn="just">
              <a:spcAft>
                <a:spcPts val="700"/>
              </a:spcAft>
              <a:buFont typeface="Arial"/>
              <a:buChar char="•"/>
            </a:pPr>
            <a:r>
              <a:rPr sz="1600" b="1" i="0" dirty="0"/>
              <a:t>Stroke-Aware Recognition:</a:t>
            </a:r>
            <a:r>
              <a:rPr sz="1600" b="0" i="0" dirty="0"/>
              <a:t> skeletons, stroke width and edge magnitude separate similar characters</a:t>
            </a:r>
          </a:p>
          <a:p>
            <a:pPr marL="256032" indent="-219456" algn="just">
              <a:spcAft>
                <a:spcPts val="700"/>
              </a:spcAft>
              <a:buFont typeface="Arial"/>
              <a:buChar char="•"/>
            </a:pPr>
            <a:r>
              <a:rPr sz="1600" b="1" i="0" dirty="0"/>
              <a:t>Adaptive Gated Feature Fusion:</a:t>
            </a:r>
            <a:r>
              <a:rPr sz="1600" b="0" i="0" dirty="0"/>
              <a:t> learnable gating weights combine both feature types</a:t>
            </a:r>
          </a:p>
          <a:p>
            <a:pPr marL="256032" indent="-219456" algn="just">
              <a:spcAft>
                <a:spcPts val="700"/>
              </a:spcAft>
              <a:buFont typeface="Arial"/>
              <a:buChar char="•"/>
            </a:pPr>
            <a:r>
              <a:rPr sz="1600" b="1" i="0" dirty="0"/>
              <a:t>Improved Image Preprocessing:</a:t>
            </a:r>
            <a:r>
              <a:rPr sz="1600" b="0" i="0" dirty="0"/>
              <a:t> grayscale, cropping, denoising, resizing, CLAHE</a:t>
            </a:r>
          </a:p>
          <a:p>
            <a:pPr marL="256032" indent="-219456" algn="just">
              <a:spcAft>
                <a:spcPts val="700"/>
              </a:spcAft>
              <a:buFont typeface="Arial"/>
              <a:buChar char="•"/>
            </a:pPr>
            <a:r>
              <a:rPr sz="1600" b="1" i="0" dirty="0"/>
              <a:t>Balanced Character Learning:</a:t>
            </a:r>
            <a:r>
              <a:rPr sz="1600" b="0" i="0" dirty="0"/>
              <a:t> class merging, dataset balancing, class-balanced sampling</a:t>
            </a:r>
          </a:p>
        </p:txBody>
      </p:sp>
      <p:sp>
        <p:nvSpPr>
          <p:cNvPr id="7" name="TextBox 6"/>
          <p:cNvSpPr txBox="1"/>
          <p:nvPr/>
        </p:nvSpPr>
        <p:spPr>
          <a:xfrm>
            <a:off x="6217920" y="1325880"/>
            <a:ext cx="5440680" cy="3458896"/>
          </a:xfrm>
          <a:prstGeom prst="rect">
            <a:avLst/>
          </a:prstGeom>
          <a:noFill/>
        </p:spPr>
        <p:txBody>
          <a:bodyPr wrap="square" lIns="45720" tIns="27432" rIns="45720" bIns="27432">
            <a:spAutoFit/>
          </a:bodyPr>
          <a:lstStyle/>
          <a:p>
            <a:pPr marL="256032" indent="-219456" algn="just">
              <a:spcAft>
                <a:spcPts val="700"/>
              </a:spcAft>
              <a:buFont typeface="Arial"/>
              <a:buChar char="•"/>
            </a:pPr>
            <a:r>
              <a:rPr sz="1600" b="1" i="0" dirty="0"/>
              <a:t>Handwriting Variation Handling:</a:t>
            </a:r>
            <a:r>
              <a:rPr sz="1600" b="0" i="0" dirty="0"/>
              <a:t> augmentation for orientation, shape, stroke thickness, image conditions</a:t>
            </a:r>
          </a:p>
          <a:p>
            <a:pPr marL="256032" indent="-219456" algn="just">
              <a:spcAft>
                <a:spcPts val="700"/>
              </a:spcAft>
              <a:buFont typeface="Arial"/>
              <a:buChar char="•"/>
            </a:pPr>
            <a:r>
              <a:rPr sz="1600" b="1" i="0" dirty="0"/>
              <a:t>Improved Performance:</a:t>
            </a:r>
            <a:r>
              <a:rPr sz="1600" b="0" i="0" dirty="0"/>
              <a:t> </a:t>
            </a:r>
            <a:r>
              <a:rPr sz="1600" b="1" i="0" dirty="0"/>
              <a:t>95.90%</a:t>
            </a:r>
            <a:r>
              <a:rPr sz="1600" b="0" i="0" dirty="0"/>
              <a:t> accuracy, </a:t>
            </a:r>
            <a:r>
              <a:rPr sz="1600" b="1" i="0" dirty="0"/>
              <a:t>95.34%</a:t>
            </a:r>
            <a:r>
              <a:rPr sz="1600" b="0" i="0" dirty="0"/>
              <a:t> macro F1 vs </a:t>
            </a:r>
            <a:r>
              <a:rPr sz="1600" b="1" i="0" dirty="0"/>
              <a:t>90.74%</a:t>
            </a:r>
            <a:r>
              <a:rPr sz="1600" b="0" i="0" dirty="0"/>
              <a:t> baseline</a:t>
            </a:r>
          </a:p>
          <a:p>
            <a:pPr marL="256032" indent="-219456" algn="just">
              <a:spcAft>
                <a:spcPts val="700"/>
              </a:spcAft>
              <a:buFont typeface="Arial"/>
              <a:buChar char="•"/>
            </a:pPr>
            <a:r>
              <a:rPr sz="1600" b="1" i="0" dirty="0"/>
              <a:t>Robustness:</a:t>
            </a:r>
            <a:r>
              <a:rPr sz="1600" b="0" i="0" dirty="0"/>
              <a:t> </a:t>
            </a:r>
            <a:r>
              <a:rPr sz="1600" b="1" i="0" dirty="0"/>
              <a:t>90.63%</a:t>
            </a:r>
            <a:r>
              <a:rPr sz="1600" b="0" i="0" dirty="0"/>
              <a:t> under resizing, blur, compression, extra margins</a:t>
            </a:r>
          </a:p>
          <a:p>
            <a:pPr marL="256032" indent="-219456" algn="just">
              <a:spcAft>
                <a:spcPts val="700"/>
              </a:spcAft>
              <a:buFont typeface="Arial"/>
              <a:buChar char="•"/>
            </a:pPr>
            <a:r>
              <a:rPr sz="1600" b="1" i="0" dirty="0"/>
              <a:t>Telugu Unicode Conversion:</a:t>
            </a:r>
            <a:r>
              <a:rPr sz="1600" b="0" i="0" dirty="0"/>
              <a:t> readable Telugu text from predicted classes</a:t>
            </a:r>
          </a:p>
          <a:p>
            <a:pPr marL="256032" indent="-219456" algn="just">
              <a:spcAft>
                <a:spcPts val="700"/>
              </a:spcAft>
              <a:buFont typeface="Arial"/>
              <a:buChar char="•"/>
            </a:pPr>
            <a:r>
              <a:rPr sz="1600" b="1" i="0" dirty="0"/>
              <a:t>Dictionary-Based Correction:</a:t>
            </a:r>
            <a:r>
              <a:rPr sz="1600" b="0" i="0" dirty="0"/>
              <a:t> </a:t>
            </a:r>
            <a:r>
              <a:rPr sz="1600" b="0" i="0" dirty="0" err="1"/>
              <a:t>akshara</a:t>
            </a:r>
            <a:r>
              <a:rPr sz="1600" b="0" i="0" dirty="0"/>
              <a:t>-level edit-distance correction of character sequences</a:t>
            </a:r>
          </a:p>
          <a:p>
            <a:pPr marL="256032" indent="-219456" algn="just">
              <a:spcAft>
                <a:spcPts val="700"/>
              </a:spcAft>
              <a:buFont typeface="Arial"/>
              <a:buChar char="•"/>
            </a:pPr>
            <a:r>
              <a:rPr sz="1600" b="1" i="0" dirty="0"/>
              <a:t>Comprehensive Evaluation:</a:t>
            </a:r>
            <a:r>
              <a:rPr sz="1600" b="0" i="0" dirty="0"/>
              <a:t> accuracy, precision, recall, F1, top-3, confusion matrices, latency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19</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Project Flow</a:t>
            </a:r>
          </a:p>
        </p:txBody>
      </p:sp>
      <p:pic>
        <p:nvPicPr>
          <p:cNvPr id="6" name="Picture 5" descr="image2.png"/>
          <p:cNvPicPr>
            <a:picLocks noChangeAspect="1"/>
          </p:cNvPicPr>
          <p:nvPr/>
        </p:nvPicPr>
        <p:blipFill>
          <a:blip r:embed="rId4"/>
          <a:stretch>
            <a:fillRect/>
          </a:stretch>
        </p:blipFill>
        <p:spPr>
          <a:xfrm>
            <a:off x="1438895" y="1234440"/>
            <a:ext cx="2791488" cy="4526280"/>
          </a:xfrm>
          <a:prstGeom prst="rect">
            <a:avLst/>
          </a:prstGeom>
          <a:ln w="9525">
            <a:solidFill>
              <a:srgbClr val="BFBFBF"/>
            </a:solidFill>
          </a:ln>
        </p:spPr>
      </p:pic>
      <p:sp>
        <p:nvSpPr>
          <p:cNvPr id="7" name="TextBox 6"/>
          <p:cNvSpPr txBox="1"/>
          <p:nvPr/>
        </p:nvSpPr>
        <p:spPr>
          <a:xfrm>
            <a:off x="5120640" y="1371600"/>
            <a:ext cx="6400800" cy="457200"/>
          </a:xfrm>
          <a:prstGeom prst="rect">
            <a:avLst/>
          </a:prstGeom>
          <a:noFill/>
        </p:spPr>
        <p:txBody>
          <a:bodyPr wrap="square" lIns="45720" tIns="27432" rIns="45720" bIns="27432">
            <a:spAutoFit/>
          </a:bodyPr>
          <a:lstStyle/>
          <a:p>
            <a:pPr marL="0" indent="0">
              <a:spcAft>
                <a:spcPts val="400"/>
              </a:spcAft>
              <a:buNone/>
            </a:pPr>
            <a:r>
              <a:rPr sz="2300" b="1" i="0">
                <a:solidFill>
                  <a:srgbClr val="1F3864"/>
                </a:solidFill>
              </a:rPr>
              <a:t>Processing stages</a:t>
            </a:r>
          </a:p>
        </p:txBody>
      </p:sp>
      <p:sp>
        <p:nvSpPr>
          <p:cNvPr id="8" name="TextBox 7"/>
          <p:cNvSpPr txBox="1"/>
          <p:nvPr/>
        </p:nvSpPr>
        <p:spPr>
          <a:xfrm>
            <a:off x="5120640" y="1874519"/>
            <a:ext cx="6492240" cy="4023360"/>
          </a:xfrm>
          <a:prstGeom prst="rect">
            <a:avLst/>
          </a:prstGeom>
          <a:noFill/>
        </p:spPr>
        <p:txBody>
          <a:bodyPr wrap="square" lIns="45720" tIns="27432" rIns="45720" bIns="27432">
            <a:spAutoFit/>
          </a:bodyPr>
          <a:lstStyle/>
          <a:p>
            <a:pPr marL="0" indent="0">
              <a:spcAft>
                <a:spcPts val="900"/>
              </a:spcAft>
              <a:buNone/>
            </a:pPr>
            <a:r>
              <a:rPr sz="1900" b="1" i="0"/>
              <a:t>1.</a:t>
            </a:r>
            <a:r>
              <a:rPr sz="1900" b="0" i="0"/>
              <a:t> Telugu Handwritten Character Dataset</a:t>
            </a:r>
          </a:p>
          <a:p>
            <a:pPr marL="0" indent="0">
              <a:spcAft>
                <a:spcPts val="900"/>
              </a:spcAft>
              <a:buNone/>
            </a:pPr>
            <a:r>
              <a:rPr sz="1900" b="1" i="0"/>
              <a:t>2.</a:t>
            </a:r>
            <a:r>
              <a:rPr sz="1900" b="0" i="0"/>
              <a:t> Image Preprocessing</a:t>
            </a:r>
          </a:p>
          <a:p>
            <a:pPr marL="0" indent="0">
              <a:spcAft>
                <a:spcPts val="900"/>
              </a:spcAft>
              <a:buNone/>
            </a:pPr>
            <a:r>
              <a:rPr sz="1900" b="1" i="0"/>
              <a:t>3.</a:t>
            </a:r>
            <a:r>
              <a:rPr sz="1900" b="0" i="0"/>
              <a:t> Stroke Feature Extraction  ‖  MobileNetV3-Small Appearance Features</a:t>
            </a:r>
          </a:p>
          <a:p>
            <a:pPr marL="0" indent="0">
              <a:spcAft>
                <a:spcPts val="900"/>
              </a:spcAft>
              <a:buNone/>
            </a:pPr>
            <a:r>
              <a:rPr sz="1900" b="1" i="0"/>
              <a:t>4.</a:t>
            </a:r>
            <a:r>
              <a:rPr sz="1900" b="0" i="0"/>
              <a:t> Adaptive Gated Feature Fusion</a:t>
            </a:r>
          </a:p>
          <a:p>
            <a:pPr marL="0" indent="0">
              <a:spcAft>
                <a:spcPts val="900"/>
              </a:spcAft>
              <a:buNone/>
            </a:pPr>
            <a:r>
              <a:rPr sz="1900" b="1" i="0"/>
              <a:t>5.</a:t>
            </a:r>
            <a:r>
              <a:rPr sz="1900" b="0" i="0"/>
              <a:t> SGF-MobileNetV3 Classification</a:t>
            </a:r>
          </a:p>
          <a:p>
            <a:pPr marL="0" indent="0">
              <a:spcAft>
                <a:spcPts val="900"/>
              </a:spcAft>
              <a:buNone/>
            </a:pPr>
            <a:r>
              <a:rPr sz="1900" b="1" i="0"/>
              <a:t>6.</a:t>
            </a:r>
            <a:r>
              <a:rPr sz="1900" b="0" i="0"/>
              <a:t> Telugu Unicode Conversion</a:t>
            </a:r>
          </a:p>
          <a:p>
            <a:pPr marL="0" indent="0">
              <a:spcAft>
                <a:spcPts val="900"/>
              </a:spcAft>
              <a:buNone/>
            </a:pPr>
            <a:r>
              <a:rPr sz="1900" b="1" i="0"/>
              <a:t>7.</a:t>
            </a:r>
            <a:r>
              <a:rPr sz="1900" b="0" i="0"/>
              <a:t> Dictionary-Based Word Correction</a:t>
            </a:r>
          </a:p>
          <a:p>
            <a:pPr marL="0" indent="0">
              <a:spcAft>
                <a:spcPts val="900"/>
              </a:spcAft>
              <a:buNone/>
            </a:pPr>
            <a:r>
              <a:rPr sz="1900" b="1" i="0"/>
              <a:t>8.</a:t>
            </a:r>
            <a:r>
              <a:rPr sz="1900" b="0" i="0"/>
              <a:t> Recognized Telugu Text</a:t>
            </a:r>
          </a:p>
        </p:txBody>
      </p:sp>
      <p:sp>
        <p:nvSpPr>
          <p:cNvPr id="9" name="TextBox 8"/>
          <p:cNvSpPr txBox="1"/>
          <p:nvPr/>
        </p:nvSpPr>
        <p:spPr>
          <a:xfrm>
            <a:off x="548640" y="5852160"/>
            <a:ext cx="4754880" cy="27432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1: Project flow</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20</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Architecture</a:t>
            </a:r>
          </a:p>
        </p:txBody>
      </p:sp>
      <p:pic>
        <p:nvPicPr>
          <p:cNvPr id="6" name="Picture 5" descr="image3.png"/>
          <p:cNvPicPr>
            <a:picLocks noChangeAspect="1"/>
          </p:cNvPicPr>
          <p:nvPr/>
        </p:nvPicPr>
        <p:blipFill>
          <a:blip r:embed="rId4"/>
          <a:stretch>
            <a:fillRect/>
          </a:stretch>
        </p:blipFill>
        <p:spPr>
          <a:xfrm>
            <a:off x="1065634" y="1234440"/>
            <a:ext cx="2440730" cy="4526280"/>
          </a:xfrm>
          <a:prstGeom prst="rect">
            <a:avLst/>
          </a:prstGeom>
          <a:ln w="9525">
            <a:solidFill>
              <a:srgbClr val="BFBFBF"/>
            </a:solidFill>
          </a:ln>
        </p:spPr>
      </p:pic>
      <p:sp>
        <p:nvSpPr>
          <p:cNvPr id="7" name="TextBox 6"/>
          <p:cNvSpPr txBox="1"/>
          <p:nvPr/>
        </p:nvSpPr>
        <p:spPr>
          <a:xfrm>
            <a:off x="3841002" y="1371600"/>
            <a:ext cx="7818120" cy="3451201"/>
          </a:xfrm>
          <a:prstGeom prst="rect">
            <a:avLst/>
          </a:prstGeom>
          <a:noFill/>
        </p:spPr>
        <p:txBody>
          <a:bodyPr wrap="square" lIns="45720" tIns="27432" rIns="45720" bIns="27432">
            <a:spAutoFit/>
          </a:bodyPr>
          <a:lstStyle/>
          <a:p>
            <a:pPr marL="256032" indent="-219456" algn="just">
              <a:spcAft>
                <a:spcPts val="400"/>
              </a:spcAft>
              <a:buFont typeface="Arial"/>
              <a:buChar char="•"/>
            </a:pPr>
            <a:r>
              <a:rPr sz="1700" b="0" i="0" dirty="0"/>
              <a:t>Deep learning framework for automated Telugu handwritten character recognition using </a:t>
            </a:r>
            <a:r>
              <a:rPr sz="1700" b="1" i="0" dirty="0"/>
              <a:t>visual appearance</a:t>
            </a:r>
            <a:r>
              <a:rPr sz="1700" b="0" i="0" dirty="0"/>
              <a:t> and </a:t>
            </a:r>
            <a:r>
              <a:rPr sz="1700" b="1" i="0" dirty="0"/>
              <a:t>structural stroke</a:t>
            </a:r>
            <a:r>
              <a:rPr sz="1700" b="0" i="0" dirty="0"/>
              <a:t> information</a:t>
            </a:r>
          </a:p>
          <a:p>
            <a:pPr marL="256032" indent="-219456" algn="just">
              <a:spcAft>
                <a:spcPts val="400"/>
              </a:spcAft>
              <a:buFont typeface="Arial"/>
              <a:buChar char="•"/>
            </a:pPr>
            <a:r>
              <a:rPr sz="1700" b="0" i="0" dirty="0"/>
              <a:t>Two models: reduced-capacity </a:t>
            </a:r>
            <a:r>
              <a:rPr sz="1700" b="1" i="0" dirty="0"/>
              <a:t>MobileNetV3-Small baseline</a:t>
            </a:r>
            <a:r>
              <a:rPr sz="1700" b="0" i="0" dirty="0"/>
              <a:t> and proposed </a:t>
            </a:r>
            <a:r>
              <a:rPr sz="1700" b="1" i="0" dirty="0"/>
              <a:t>SGF-MobileNetV3</a:t>
            </a:r>
          </a:p>
          <a:p>
            <a:pPr marL="256032" indent="-219456" algn="just">
              <a:spcAft>
                <a:spcPts val="400"/>
              </a:spcAft>
              <a:buFont typeface="Arial"/>
              <a:buChar char="•"/>
            </a:pPr>
            <a:r>
              <a:rPr sz="1700" b="1" i="0" dirty="0"/>
              <a:t>Appearance branch</a:t>
            </a:r>
            <a:r>
              <a:rPr sz="1700" b="0" i="0" dirty="0"/>
              <a:t> (MobileNetV3-Small) → 576-d visual features; </a:t>
            </a:r>
            <a:r>
              <a:rPr sz="1700" b="1" i="0" dirty="0"/>
              <a:t>stroke branch</a:t>
            </a:r>
            <a:r>
              <a:rPr sz="1700" b="0" i="0" dirty="0"/>
              <a:t> (skeleton, stroke width, edge magnitude) → 128-d structural features</a:t>
            </a:r>
          </a:p>
          <a:p>
            <a:pPr marL="256032" indent="-219456" algn="just">
              <a:spcAft>
                <a:spcPts val="400"/>
              </a:spcAft>
              <a:buFont typeface="Arial"/>
              <a:buChar char="•"/>
            </a:pPr>
            <a:r>
              <a:rPr sz="1700" b="1" i="0" dirty="0"/>
              <a:t>Adaptive gated feature fusion</a:t>
            </a:r>
            <a:r>
              <a:rPr sz="1700" b="0" i="0" dirty="0"/>
              <a:t> → dropout + fully connected layer → </a:t>
            </a:r>
            <a:r>
              <a:rPr sz="1700" b="1" i="0" dirty="0" err="1"/>
              <a:t>Softmax</a:t>
            </a:r>
            <a:r>
              <a:rPr sz="1700" b="1" i="0" dirty="0"/>
              <a:t> over 76 classes</a:t>
            </a:r>
            <a:r>
              <a:rPr sz="1700" b="0" i="0" dirty="0"/>
              <a:t> → predicted Telugu Unicode character</a:t>
            </a:r>
          </a:p>
          <a:p>
            <a:pPr marL="256032" indent="-219456" algn="just">
              <a:spcAft>
                <a:spcPts val="400"/>
              </a:spcAft>
              <a:buFont typeface="Arial"/>
              <a:buChar char="•"/>
            </a:pPr>
            <a:r>
              <a:rPr sz="1700" b="0" i="0" dirty="0"/>
              <a:t>Methodology stages: dataset preparation, EDA, preprocessing, Unicode-based class merging, augmentation, class-balanced sampling, training, evaluation, robustness testing and prediction</a:t>
            </a:r>
          </a:p>
          <a:p>
            <a:pPr marL="256032" indent="-219456" algn="just">
              <a:spcAft>
                <a:spcPts val="400"/>
              </a:spcAft>
              <a:buFont typeface="Arial"/>
              <a:buChar char="•"/>
            </a:pPr>
            <a:r>
              <a:rPr sz="1700" b="0" i="0" dirty="0"/>
              <a:t>Unicode mapping and dictionary correction generate text from character sequences</a:t>
            </a:r>
          </a:p>
        </p:txBody>
      </p:sp>
      <p:sp>
        <p:nvSpPr>
          <p:cNvPr id="8" name="TextBox 7"/>
          <p:cNvSpPr txBox="1"/>
          <p:nvPr/>
        </p:nvSpPr>
        <p:spPr>
          <a:xfrm>
            <a:off x="548640" y="5852160"/>
            <a:ext cx="3474720" cy="27432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2: Architecture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21</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400" dirty="0"/>
              <a:t>Overview of Model Architectures</a:t>
            </a:r>
          </a:p>
        </p:txBody>
      </p:sp>
      <p:sp>
        <p:nvSpPr>
          <p:cNvPr id="6" name="TextBox 5"/>
          <p:cNvSpPr txBox="1"/>
          <p:nvPr/>
        </p:nvSpPr>
        <p:spPr>
          <a:xfrm>
            <a:off x="548640" y="1280160"/>
            <a:ext cx="5394960" cy="409343"/>
          </a:xfrm>
          <a:prstGeom prst="rect">
            <a:avLst/>
          </a:prstGeom>
          <a:noFill/>
        </p:spPr>
        <p:txBody>
          <a:bodyPr wrap="square" lIns="45720" tIns="27432" rIns="45720" bIns="27432">
            <a:spAutoFit/>
          </a:bodyPr>
          <a:lstStyle/>
          <a:p>
            <a:pPr marL="0" indent="0">
              <a:spcAft>
                <a:spcPts val="400"/>
              </a:spcAft>
              <a:buNone/>
            </a:pPr>
            <a:r>
              <a:rPr sz="2300" b="1" i="0" dirty="0">
                <a:solidFill>
                  <a:srgbClr val="1F3864"/>
                </a:solidFill>
              </a:rPr>
              <a:t>MobileNetV3-Small</a:t>
            </a:r>
          </a:p>
        </p:txBody>
      </p:sp>
      <p:sp>
        <p:nvSpPr>
          <p:cNvPr id="7" name="TextBox 6"/>
          <p:cNvSpPr txBox="1"/>
          <p:nvPr/>
        </p:nvSpPr>
        <p:spPr>
          <a:xfrm>
            <a:off x="548640" y="1737360"/>
            <a:ext cx="5394960" cy="3138295"/>
          </a:xfrm>
          <a:prstGeom prst="rect">
            <a:avLst/>
          </a:prstGeom>
          <a:noFill/>
        </p:spPr>
        <p:txBody>
          <a:bodyPr wrap="square" lIns="45720" tIns="27432" rIns="45720" bIns="27432">
            <a:spAutoFit/>
          </a:bodyPr>
          <a:lstStyle/>
          <a:p>
            <a:pPr marL="256032" indent="-219456" algn="just">
              <a:spcAft>
                <a:spcPts val="400"/>
              </a:spcAft>
              <a:buFont typeface="Arial"/>
              <a:buChar char="•"/>
            </a:pPr>
            <a:r>
              <a:rPr sz="1700" b="0" i="0" dirty="0"/>
              <a:t>ImageNet-pretrained </a:t>
            </a:r>
            <a:r>
              <a:rPr sz="1700" b="1" i="0" dirty="0"/>
              <a:t>MobileNetV3-Small</a:t>
            </a:r>
            <a:r>
              <a:rPr sz="1700" b="0" i="0" dirty="0"/>
              <a:t>; inverted residual blocks, lightweight feature extraction</a:t>
            </a:r>
          </a:p>
          <a:p>
            <a:pPr marL="256032" indent="-219456" algn="just">
              <a:spcAft>
                <a:spcPts val="400"/>
              </a:spcAft>
              <a:buFont typeface="Arial"/>
              <a:buChar char="•"/>
            </a:pPr>
            <a:r>
              <a:rPr sz="1700" b="0" i="0" dirty="0"/>
              <a:t>First </a:t>
            </a:r>
            <a:r>
              <a:rPr sz="1700" b="1" i="0" dirty="0"/>
              <a:t>nine feature-extraction stages</a:t>
            </a:r>
            <a:r>
              <a:rPr sz="1700" b="0" i="0" dirty="0"/>
              <a:t> give a </a:t>
            </a:r>
            <a:r>
              <a:rPr sz="1700" b="1" i="0" dirty="0"/>
              <a:t>96-dimensional</a:t>
            </a:r>
            <a:r>
              <a:rPr sz="1700" b="0" i="0" dirty="0"/>
              <a:t> representation; Adaptive Average Pooling → fixed-length vector</a:t>
            </a:r>
          </a:p>
          <a:p>
            <a:pPr marL="256032" indent="-219456" algn="just">
              <a:spcAft>
                <a:spcPts val="400"/>
              </a:spcAft>
              <a:buFont typeface="Arial"/>
              <a:buChar char="•"/>
            </a:pPr>
            <a:r>
              <a:rPr sz="1700" b="0" i="0" dirty="0"/>
              <a:t>Head: </a:t>
            </a:r>
            <a:r>
              <a:rPr sz="1700" b="1" i="0" dirty="0"/>
              <a:t>Dropout (0.35)</a:t>
            </a:r>
            <a:r>
              <a:rPr sz="1700" b="0" i="0" dirty="0"/>
              <a:t> + fully connected layer with </a:t>
            </a:r>
            <a:r>
              <a:rPr sz="1700" b="1" i="0" dirty="0"/>
              <a:t>76 outputs</a:t>
            </a:r>
          </a:p>
          <a:p>
            <a:pPr marL="256032" indent="-219456" algn="just">
              <a:spcAft>
                <a:spcPts val="400"/>
              </a:spcAft>
              <a:buFont typeface="Arial"/>
              <a:buChar char="•"/>
            </a:pPr>
            <a:r>
              <a:rPr sz="1700" b="0" i="0" dirty="0"/>
              <a:t>Input: grayscale </a:t>
            </a:r>
            <a:r>
              <a:rPr sz="1700" b="1" i="0" dirty="0"/>
              <a:t>96 × 96</a:t>
            </a:r>
            <a:r>
              <a:rPr sz="1700" b="0" i="0" dirty="0"/>
              <a:t> images, converted to normalized three-channel form for the pretrained backbone</a:t>
            </a:r>
          </a:p>
          <a:p>
            <a:pPr marL="256032" indent="-219456" algn="just">
              <a:spcAft>
                <a:spcPts val="400"/>
              </a:spcAft>
              <a:buFont typeface="Arial"/>
              <a:buChar char="•"/>
            </a:pPr>
            <a:r>
              <a:rPr sz="1700" b="0" i="0" dirty="0"/>
              <a:t>Serves as the reference model for the proposed architecture</a:t>
            </a:r>
          </a:p>
        </p:txBody>
      </p:sp>
      <p:sp>
        <p:nvSpPr>
          <p:cNvPr id="8" name="TextBox 7"/>
          <p:cNvSpPr txBox="1"/>
          <p:nvPr/>
        </p:nvSpPr>
        <p:spPr>
          <a:xfrm>
            <a:off x="6263640" y="1280160"/>
            <a:ext cx="5394960" cy="457200"/>
          </a:xfrm>
          <a:prstGeom prst="rect">
            <a:avLst/>
          </a:prstGeom>
          <a:noFill/>
        </p:spPr>
        <p:txBody>
          <a:bodyPr wrap="square" lIns="45720" tIns="27432" rIns="45720" bIns="27432">
            <a:spAutoFit/>
          </a:bodyPr>
          <a:lstStyle/>
          <a:p>
            <a:pPr marL="0" indent="0">
              <a:spcAft>
                <a:spcPts val="400"/>
              </a:spcAft>
              <a:buNone/>
            </a:pPr>
            <a:r>
              <a:rPr sz="2300" b="1" i="0">
                <a:solidFill>
                  <a:srgbClr val="1F3864"/>
                </a:solidFill>
              </a:rPr>
              <a:t>SGF-MobileNetV3</a:t>
            </a:r>
          </a:p>
        </p:txBody>
      </p:sp>
      <p:sp>
        <p:nvSpPr>
          <p:cNvPr id="9" name="TextBox 8"/>
          <p:cNvSpPr txBox="1"/>
          <p:nvPr/>
        </p:nvSpPr>
        <p:spPr>
          <a:xfrm>
            <a:off x="6263640" y="1737360"/>
            <a:ext cx="5394960" cy="3138295"/>
          </a:xfrm>
          <a:prstGeom prst="rect">
            <a:avLst/>
          </a:prstGeom>
          <a:noFill/>
        </p:spPr>
        <p:txBody>
          <a:bodyPr wrap="square" lIns="45720" tIns="27432" rIns="45720" bIns="27432">
            <a:spAutoFit/>
          </a:bodyPr>
          <a:lstStyle/>
          <a:p>
            <a:pPr marL="256032" indent="-219456" algn="just">
              <a:spcAft>
                <a:spcPts val="400"/>
              </a:spcAft>
              <a:buFont typeface="Arial"/>
              <a:buChar char="•"/>
            </a:pPr>
            <a:r>
              <a:rPr sz="1700" b="1" i="0" dirty="0"/>
              <a:t>Appearance branch:</a:t>
            </a:r>
            <a:r>
              <a:rPr sz="1700" b="0" i="0" dirty="0"/>
              <a:t> full MobileNetV3-Small backbone → </a:t>
            </a:r>
            <a:r>
              <a:rPr sz="1700" b="1" i="0" dirty="0"/>
              <a:t>576-d</a:t>
            </a:r>
            <a:r>
              <a:rPr sz="1700" b="0" i="0" dirty="0"/>
              <a:t> vector (Adaptive Average Pooling)</a:t>
            </a:r>
          </a:p>
          <a:p>
            <a:pPr marL="256032" indent="-219456" algn="just">
              <a:spcAft>
                <a:spcPts val="400"/>
              </a:spcAft>
              <a:buFont typeface="Arial"/>
              <a:buChar char="•"/>
            </a:pPr>
            <a:r>
              <a:rPr sz="1700" b="1" i="0" dirty="0"/>
              <a:t>Stroke branch:</a:t>
            </a:r>
            <a:r>
              <a:rPr sz="1700" b="0" i="0" dirty="0"/>
              <a:t> 3 maps (skeleton, normalized stroke width, edge magnitude) → 4 conv blocks (</a:t>
            </a:r>
            <a:r>
              <a:rPr sz="1700" b="1" i="0" dirty="0"/>
              <a:t>16, 32, 64, 128</a:t>
            </a:r>
            <a:r>
              <a:rPr sz="1700" b="0" i="0" dirty="0"/>
              <a:t> channels; 3 × 3 conv + </a:t>
            </a:r>
            <a:r>
              <a:rPr sz="1700" b="0" i="0" dirty="0" err="1"/>
              <a:t>BatchNorm</a:t>
            </a:r>
            <a:r>
              <a:rPr sz="1700" b="0" i="0" dirty="0"/>
              <a:t> + </a:t>
            </a:r>
            <a:r>
              <a:rPr sz="1700" b="0" i="0" dirty="0" err="1"/>
              <a:t>ReLU</a:t>
            </a:r>
            <a:r>
              <a:rPr sz="1700" b="0" i="0" dirty="0"/>
              <a:t>) → </a:t>
            </a:r>
            <a:r>
              <a:rPr sz="1700" b="1" i="0" dirty="0"/>
              <a:t>128-d</a:t>
            </a:r>
            <a:r>
              <a:rPr sz="1700" b="0" i="0" dirty="0"/>
              <a:t> vector</a:t>
            </a:r>
          </a:p>
          <a:p>
            <a:pPr marL="256032" indent="-219456" algn="just">
              <a:spcAft>
                <a:spcPts val="400"/>
              </a:spcAft>
              <a:buFont typeface="Arial"/>
              <a:buChar char="•"/>
            </a:pPr>
            <a:r>
              <a:rPr sz="1700" b="0" i="0" dirty="0"/>
              <a:t>Both projected to a common </a:t>
            </a:r>
            <a:r>
              <a:rPr sz="1700" b="1" i="0" dirty="0"/>
              <a:t>256-d</a:t>
            </a:r>
            <a:r>
              <a:rPr sz="1700" b="0" i="0" dirty="0"/>
              <a:t> space (FC + </a:t>
            </a:r>
            <a:r>
              <a:rPr sz="1700" b="0" i="0" dirty="0" err="1"/>
              <a:t>BatchNorm</a:t>
            </a:r>
            <a:r>
              <a:rPr sz="1700" b="0" i="0" dirty="0"/>
              <a:t> + </a:t>
            </a:r>
            <a:r>
              <a:rPr sz="1700" b="0" i="0" dirty="0" err="1"/>
              <a:t>ReLU</a:t>
            </a:r>
            <a:r>
              <a:rPr sz="1700" b="0" i="0" dirty="0"/>
              <a:t>)</a:t>
            </a:r>
          </a:p>
          <a:p>
            <a:pPr marL="256032" indent="-219456" algn="just">
              <a:spcAft>
                <a:spcPts val="400"/>
              </a:spcAft>
              <a:buFont typeface="Arial"/>
              <a:buChar char="•"/>
            </a:pPr>
            <a:r>
              <a:rPr sz="1700" b="1" i="0" dirty="0"/>
              <a:t>Gated fusion</a:t>
            </a:r>
            <a:r>
              <a:rPr sz="1700" b="0" i="0" dirty="0"/>
              <a:t> → Dropout (</a:t>
            </a:r>
            <a:r>
              <a:rPr sz="1700" b="1" i="0" dirty="0"/>
              <a:t>0.2</a:t>
            </a:r>
            <a:r>
              <a:rPr sz="1700" b="0" i="0" dirty="0"/>
              <a:t>) + FC (</a:t>
            </a:r>
            <a:r>
              <a:rPr sz="1700" b="1" i="0" dirty="0"/>
              <a:t>76</a:t>
            </a:r>
            <a:r>
              <a:rPr sz="1700" b="0" i="0" dirty="0"/>
              <a:t> outputs) → </a:t>
            </a:r>
            <a:r>
              <a:rPr sz="1700" b="0" i="0" dirty="0" err="1"/>
              <a:t>Softmax</a:t>
            </a:r>
            <a:endParaRPr sz="1700" b="0" i="0" dirty="0"/>
          </a:p>
          <a:p>
            <a:pPr marL="256032" indent="-219456" algn="just">
              <a:spcAft>
                <a:spcPts val="400"/>
              </a:spcAft>
              <a:buFont typeface="Arial"/>
              <a:buChar char="•"/>
            </a:pPr>
            <a:r>
              <a:rPr sz="1700" b="0" i="0" dirty="0"/>
              <a:t>Highest probability selects the final character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22</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400" dirty="0"/>
              <a:t>Adaptive Gated Feature Fusion</a:t>
            </a:r>
          </a:p>
        </p:txBody>
      </p:sp>
      <p:sp>
        <p:nvSpPr>
          <p:cNvPr id="6" name="TextBox 5"/>
          <p:cNvSpPr txBox="1"/>
          <p:nvPr/>
        </p:nvSpPr>
        <p:spPr>
          <a:xfrm>
            <a:off x="548640" y="1280160"/>
            <a:ext cx="5029200" cy="3348609"/>
          </a:xfrm>
          <a:prstGeom prst="rect">
            <a:avLst/>
          </a:prstGeom>
          <a:noFill/>
        </p:spPr>
        <p:txBody>
          <a:bodyPr wrap="square" lIns="45720" tIns="27432" rIns="45720" bIns="27432">
            <a:spAutoFit/>
          </a:bodyPr>
          <a:lstStyle/>
          <a:p>
            <a:pPr marL="256032" indent="-219456" algn="just">
              <a:spcAft>
                <a:spcPts val="400"/>
              </a:spcAft>
              <a:buFont typeface="Arial"/>
              <a:buChar char="•"/>
            </a:pPr>
            <a:r>
              <a:rPr sz="1700" b="0" i="0" dirty="0"/>
              <a:t>Feature extraction: F</a:t>
            </a:r>
            <a:r>
              <a:rPr sz="1700" b="0" i="0" baseline="-25000" dirty="0"/>
              <a:t>a</a:t>
            </a:r>
            <a:r>
              <a:rPr sz="1700" b="0" i="0" dirty="0"/>
              <a:t> = appearance (576-d), F</a:t>
            </a:r>
            <a:r>
              <a:rPr sz="1700" b="0" i="0" baseline="-25000" dirty="0"/>
              <a:t>s</a:t>
            </a:r>
            <a:r>
              <a:rPr sz="1700" b="0" i="0" dirty="0"/>
              <a:t> = stroke (128-d); X = input image, S = three stroke descriptor maps</a:t>
            </a:r>
          </a:p>
          <a:p>
            <a:pPr marL="256032" indent="-219456" algn="just">
              <a:spcAft>
                <a:spcPts val="400"/>
              </a:spcAft>
              <a:buFont typeface="Arial"/>
              <a:buChar char="•"/>
            </a:pPr>
            <a:r>
              <a:rPr sz="1700" b="0" i="0" dirty="0"/>
              <a:t>Original vectors are </a:t>
            </a:r>
            <a:r>
              <a:rPr sz="1700" b="1" i="0" dirty="0"/>
              <a:t>concatenated</a:t>
            </a:r>
            <a:r>
              <a:rPr sz="1700" b="0" i="0" dirty="0"/>
              <a:t> and passed through a fully connected layer with </a:t>
            </a:r>
            <a:r>
              <a:rPr sz="1700" b="1" i="0" dirty="0"/>
              <a:t>sigmoid</a:t>
            </a:r>
            <a:r>
              <a:rPr sz="1700" b="0" i="0" dirty="0"/>
              <a:t> to give </a:t>
            </a:r>
            <a:r>
              <a:rPr sz="1700" b="1" i="0" dirty="0"/>
              <a:t>256 gating weights</a:t>
            </a:r>
          </a:p>
          <a:p>
            <a:pPr marL="256032" indent="-219456" algn="just">
              <a:spcAft>
                <a:spcPts val="400"/>
              </a:spcAft>
              <a:buFont typeface="Arial"/>
              <a:buChar char="•"/>
            </a:pPr>
            <a:r>
              <a:rPr sz="1700" b="0" i="0" dirty="0"/>
              <a:t>G = learned gating vector; </a:t>
            </a:r>
            <a:r>
              <a:rPr sz="1700" b="0" i="0" dirty="0" err="1"/>
              <a:t>W</a:t>
            </a:r>
            <a:r>
              <a:rPr sz="1700" b="0" i="0" baseline="-25000" dirty="0" err="1"/>
              <a:t>g</a:t>
            </a:r>
            <a:r>
              <a:rPr sz="1700" b="0" i="0" dirty="0"/>
              <a:t>, </a:t>
            </a:r>
            <a:r>
              <a:rPr sz="1700" b="0" i="0" dirty="0" err="1"/>
              <a:t>b</a:t>
            </a:r>
            <a:r>
              <a:rPr sz="1700" b="0" i="0" baseline="-25000" dirty="0" err="1"/>
              <a:t>g</a:t>
            </a:r>
            <a:r>
              <a:rPr sz="1700" b="0" i="0" dirty="0"/>
              <a:t> = trainable parameters; σ = sigmoid; P</a:t>
            </a:r>
            <a:r>
              <a:rPr sz="1700" b="0" i="0" baseline="-25000" dirty="0"/>
              <a:t>a</a:t>
            </a:r>
            <a:r>
              <a:rPr sz="1700" b="0" i="0" dirty="0"/>
              <a:t>, P</a:t>
            </a:r>
            <a:r>
              <a:rPr sz="1700" b="0" i="0" baseline="-25000" dirty="0"/>
              <a:t>s</a:t>
            </a:r>
            <a:r>
              <a:rPr sz="1700" b="0" i="0" dirty="0"/>
              <a:t> = projection functions; ⊙ = element-wise product</a:t>
            </a:r>
          </a:p>
          <a:p>
            <a:pPr marL="256032" indent="-219456" algn="just">
              <a:spcAft>
                <a:spcPts val="400"/>
              </a:spcAft>
              <a:buFont typeface="Arial"/>
              <a:buChar char="•"/>
            </a:pPr>
            <a:r>
              <a:rPr sz="1700" b="0" i="0" dirty="0"/>
              <a:t>The fused 256-d vector goes to Dropout (0.2) and a 76-neuron layer; </a:t>
            </a:r>
            <a:r>
              <a:rPr sz="1700" b="1" i="0" dirty="0" err="1"/>
              <a:t>Softmax</a:t>
            </a:r>
            <a:r>
              <a:rPr sz="1700" b="0" i="0" dirty="0"/>
              <a:t> gives class probabilities (</a:t>
            </a:r>
            <a:r>
              <a:rPr sz="1700" b="0" i="0" dirty="0" err="1"/>
              <a:t>z</a:t>
            </a:r>
            <a:r>
              <a:rPr sz="1700" b="0" i="0" baseline="-25000" dirty="0" err="1"/>
              <a:t>i</a:t>
            </a:r>
            <a:r>
              <a:rPr sz="1700" b="0" i="0" dirty="0"/>
              <a:t> = logit of class </a:t>
            </a:r>
            <a:r>
              <a:rPr sz="1700" b="0" i="0" dirty="0" err="1"/>
              <a:t>i</a:t>
            </a:r>
            <a:r>
              <a:rPr sz="1700" b="0" i="0" dirty="0"/>
              <a:t>)</a:t>
            </a:r>
          </a:p>
        </p:txBody>
      </p:sp>
      <p:sp>
        <p:nvSpPr>
          <p:cNvPr id="7" name="Rounded Rectangle 6"/>
          <p:cNvSpPr/>
          <p:nvPr/>
        </p:nvSpPr>
        <p:spPr>
          <a:xfrm>
            <a:off x="5852160" y="1417320"/>
            <a:ext cx="5806440" cy="23774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89320" y="1472184"/>
            <a:ext cx="4800600" cy="411480"/>
          </a:xfrm>
          <a:prstGeom prst="rect">
            <a:avLst/>
          </a:prstGeom>
          <a:noFill/>
        </p:spPr>
        <p:txBody>
          <a:bodyPr wrap="square" lIns="45720" tIns="27432" rIns="45720" bIns="27432" anchor="ctr">
            <a:spAutoFit/>
          </a:bodyPr>
          <a:lstStyle/>
          <a:p>
            <a:pPr marL="0" indent="0">
              <a:spcAft>
                <a:spcPts val="400"/>
              </a:spcAft>
              <a:buNone/>
            </a:pPr>
            <a:r>
              <a:rPr sz="1900" b="0" i="1">
                <a:latin typeface="Cambria"/>
              </a:rPr>
              <a:t>F</a:t>
            </a:r>
            <a:r>
              <a:rPr sz="1900" b="0" i="1" baseline="-25000">
                <a:latin typeface="Cambria"/>
              </a:rPr>
              <a:t>a</a:t>
            </a:r>
            <a:r>
              <a:rPr sz="1900" b="0" i="1">
                <a:latin typeface="Cambria"/>
              </a:rPr>
              <a:t> = MobileNetV3(X)</a:t>
            </a:r>
          </a:p>
        </p:txBody>
      </p:sp>
      <p:sp>
        <p:nvSpPr>
          <p:cNvPr id="9" name="TextBox 8"/>
          <p:cNvSpPr txBox="1"/>
          <p:nvPr/>
        </p:nvSpPr>
        <p:spPr>
          <a:xfrm>
            <a:off x="10835640" y="1472184"/>
            <a:ext cx="731520" cy="411480"/>
          </a:xfrm>
          <a:prstGeom prst="rect">
            <a:avLst/>
          </a:prstGeom>
          <a:noFill/>
        </p:spPr>
        <p:txBody>
          <a:bodyPr wrap="square" lIns="45720" tIns="27432" rIns="45720" bIns="27432" anchor="ctr">
            <a:spAutoFit/>
          </a:bodyPr>
          <a:lstStyle/>
          <a:p>
            <a:pPr marL="0" indent="0" algn="r">
              <a:spcAft>
                <a:spcPts val="400"/>
              </a:spcAft>
              <a:buNone/>
            </a:pPr>
            <a:r>
              <a:rPr sz="1700" b="0" i="0"/>
              <a:t>(1)</a:t>
            </a:r>
          </a:p>
        </p:txBody>
      </p:sp>
      <p:sp>
        <p:nvSpPr>
          <p:cNvPr id="10" name="TextBox 9"/>
          <p:cNvSpPr txBox="1"/>
          <p:nvPr/>
        </p:nvSpPr>
        <p:spPr>
          <a:xfrm>
            <a:off x="5989320" y="1929384"/>
            <a:ext cx="4800600" cy="411480"/>
          </a:xfrm>
          <a:prstGeom prst="rect">
            <a:avLst/>
          </a:prstGeom>
          <a:noFill/>
        </p:spPr>
        <p:txBody>
          <a:bodyPr wrap="square" lIns="45720" tIns="27432" rIns="45720" bIns="27432" anchor="ctr">
            <a:spAutoFit/>
          </a:bodyPr>
          <a:lstStyle/>
          <a:p>
            <a:pPr marL="0" indent="0">
              <a:spcAft>
                <a:spcPts val="400"/>
              </a:spcAft>
              <a:buNone/>
            </a:pPr>
            <a:r>
              <a:rPr sz="1900" b="0" i="1">
                <a:latin typeface="Cambria"/>
              </a:rPr>
              <a:t>F</a:t>
            </a:r>
            <a:r>
              <a:rPr sz="1900" b="0" i="1" baseline="-25000">
                <a:latin typeface="Cambria"/>
              </a:rPr>
              <a:t>s</a:t>
            </a:r>
            <a:r>
              <a:rPr sz="1900" b="0" i="1">
                <a:latin typeface="Cambria"/>
              </a:rPr>
              <a:t> = StrokeBranch(S)</a:t>
            </a:r>
          </a:p>
        </p:txBody>
      </p:sp>
      <p:sp>
        <p:nvSpPr>
          <p:cNvPr id="11" name="TextBox 10"/>
          <p:cNvSpPr txBox="1"/>
          <p:nvPr/>
        </p:nvSpPr>
        <p:spPr>
          <a:xfrm>
            <a:off x="10835640" y="1929384"/>
            <a:ext cx="731520" cy="411480"/>
          </a:xfrm>
          <a:prstGeom prst="rect">
            <a:avLst/>
          </a:prstGeom>
          <a:noFill/>
        </p:spPr>
        <p:txBody>
          <a:bodyPr wrap="square" lIns="45720" tIns="27432" rIns="45720" bIns="27432" anchor="ctr">
            <a:spAutoFit/>
          </a:bodyPr>
          <a:lstStyle/>
          <a:p>
            <a:pPr marL="0" indent="0" algn="r">
              <a:spcAft>
                <a:spcPts val="400"/>
              </a:spcAft>
              <a:buNone/>
            </a:pPr>
            <a:r>
              <a:rPr sz="1700" b="0" i="0"/>
              <a:t>(2)</a:t>
            </a:r>
          </a:p>
        </p:txBody>
      </p:sp>
      <p:sp>
        <p:nvSpPr>
          <p:cNvPr id="12" name="TextBox 11"/>
          <p:cNvSpPr txBox="1"/>
          <p:nvPr/>
        </p:nvSpPr>
        <p:spPr>
          <a:xfrm>
            <a:off x="5989320" y="2386584"/>
            <a:ext cx="4800600" cy="411480"/>
          </a:xfrm>
          <a:prstGeom prst="rect">
            <a:avLst/>
          </a:prstGeom>
          <a:noFill/>
        </p:spPr>
        <p:txBody>
          <a:bodyPr wrap="square" lIns="45720" tIns="27432" rIns="45720" bIns="27432" anchor="ctr">
            <a:spAutoFit/>
          </a:bodyPr>
          <a:lstStyle/>
          <a:p>
            <a:pPr marL="0" indent="0">
              <a:spcAft>
                <a:spcPts val="400"/>
              </a:spcAft>
              <a:buNone/>
            </a:pPr>
            <a:r>
              <a:rPr sz="1900" b="0" i="1">
                <a:latin typeface="Cambria"/>
              </a:rPr>
              <a:t>G = σ( W</a:t>
            </a:r>
            <a:r>
              <a:rPr sz="1900" b="0" i="1" baseline="-25000">
                <a:latin typeface="Cambria"/>
              </a:rPr>
              <a:t>g</a:t>
            </a:r>
            <a:r>
              <a:rPr sz="1900" b="0" i="1">
                <a:latin typeface="Cambria"/>
              </a:rPr>
              <a:t>[F</a:t>
            </a:r>
            <a:r>
              <a:rPr sz="1900" b="0" i="1" baseline="-25000">
                <a:latin typeface="Cambria"/>
              </a:rPr>
              <a:t>a</a:t>
            </a:r>
            <a:r>
              <a:rPr sz="1900" b="0" i="1">
                <a:latin typeface="Cambria"/>
              </a:rPr>
              <a:t>, F</a:t>
            </a:r>
            <a:r>
              <a:rPr sz="1900" b="0" i="1" baseline="-25000">
                <a:latin typeface="Cambria"/>
              </a:rPr>
              <a:t>s</a:t>
            </a:r>
            <a:r>
              <a:rPr sz="1900" b="0" i="1">
                <a:latin typeface="Cambria"/>
              </a:rPr>
              <a:t>] + b</a:t>
            </a:r>
            <a:r>
              <a:rPr sz="1900" b="0" i="1" baseline="-25000">
                <a:latin typeface="Cambria"/>
              </a:rPr>
              <a:t>g</a:t>
            </a:r>
            <a:r>
              <a:rPr sz="1900" b="0" i="1">
                <a:latin typeface="Cambria"/>
              </a:rPr>
              <a:t> )</a:t>
            </a:r>
          </a:p>
        </p:txBody>
      </p:sp>
      <p:sp>
        <p:nvSpPr>
          <p:cNvPr id="13" name="TextBox 12"/>
          <p:cNvSpPr txBox="1"/>
          <p:nvPr/>
        </p:nvSpPr>
        <p:spPr>
          <a:xfrm>
            <a:off x="10835640" y="2386584"/>
            <a:ext cx="731520" cy="411480"/>
          </a:xfrm>
          <a:prstGeom prst="rect">
            <a:avLst/>
          </a:prstGeom>
          <a:noFill/>
        </p:spPr>
        <p:txBody>
          <a:bodyPr wrap="square" lIns="45720" tIns="27432" rIns="45720" bIns="27432" anchor="ctr">
            <a:spAutoFit/>
          </a:bodyPr>
          <a:lstStyle/>
          <a:p>
            <a:pPr marL="0" indent="0" algn="r">
              <a:spcAft>
                <a:spcPts val="400"/>
              </a:spcAft>
              <a:buNone/>
            </a:pPr>
            <a:r>
              <a:rPr sz="1700" b="0" i="0"/>
              <a:t>(3)</a:t>
            </a:r>
          </a:p>
        </p:txBody>
      </p:sp>
      <p:sp>
        <p:nvSpPr>
          <p:cNvPr id="14" name="TextBox 13"/>
          <p:cNvSpPr txBox="1"/>
          <p:nvPr/>
        </p:nvSpPr>
        <p:spPr>
          <a:xfrm>
            <a:off x="5989320" y="2843784"/>
            <a:ext cx="4800600" cy="411480"/>
          </a:xfrm>
          <a:prstGeom prst="rect">
            <a:avLst/>
          </a:prstGeom>
          <a:noFill/>
        </p:spPr>
        <p:txBody>
          <a:bodyPr wrap="square" lIns="45720" tIns="27432" rIns="45720" bIns="27432" anchor="ctr">
            <a:spAutoFit/>
          </a:bodyPr>
          <a:lstStyle/>
          <a:p>
            <a:pPr marL="0" indent="0">
              <a:spcAft>
                <a:spcPts val="400"/>
              </a:spcAft>
              <a:buNone/>
            </a:pPr>
            <a:r>
              <a:rPr sz="1900" b="0" i="1">
                <a:latin typeface="Cambria"/>
              </a:rPr>
              <a:t>F</a:t>
            </a:r>
            <a:r>
              <a:rPr sz="1900" b="0" i="1" baseline="-25000">
                <a:latin typeface="Cambria"/>
              </a:rPr>
              <a:t>fusion</a:t>
            </a:r>
            <a:r>
              <a:rPr sz="1900" b="0" i="1">
                <a:latin typeface="Cambria"/>
              </a:rPr>
              <a:t> = G ⊙ P</a:t>
            </a:r>
            <a:r>
              <a:rPr sz="1900" b="0" i="1" baseline="-25000">
                <a:latin typeface="Cambria"/>
              </a:rPr>
              <a:t>a</a:t>
            </a:r>
            <a:r>
              <a:rPr sz="1900" b="0" i="1">
                <a:latin typeface="Cambria"/>
              </a:rPr>
              <a:t>(F</a:t>
            </a:r>
            <a:r>
              <a:rPr sz="1900" b="0" i="1" baseline="-25000">
                <a:latin typeface="Cambria"/>
              </a:rPr>
              <a:t>a</a:t>
            </a:r>
            <a:r>
              <a:rPr sz="1900" b="0" i="1">
                <a:latin typeface="Cambria"/>
              </a:rPr>
              <a:t>) + (1 − G) ⊙ P</a:t>
            </a:r>
            <a:r>
              <a:rPr sz="1900" b="0" i="1" baseline="-25000">
                <a:latin typeface="Cambria"/>
              </a:rPr>
              <a:t>s</a:t>
            </a:r>
            <a:r>
              <a:rPr sz="1900" b="0" i="1">
                <a:latin typeface="Cambria"/>
              </a:rPr>
              <a:t>(F</a:t>
            </a:r>
            <a:r>
              <a:rPr sz="1900" b="0" i="1" baseline="-25000">
                <a:latin typeface="Cambria"/>
              </a:rPr>
              <a:t>s</a:t>
            </a:r>
            <a:r>
              <a:rPr sz="1900" b="0" i="1">
                <a:latin typeface="Cambria"/>
              </a:rPr>
              <a:t>)</a:t>
            </a:r>
          </a:p>
        </p:txBody>
      </p:sp>
      <p:sp>
        <p:nvSpPr>
          <p:cNvPr id="15" name="TextBox 14"/>
          <p:cNvSpPr txBox="1"/>
          <p:nvPr/>
        </p:nvSpPr>
        <p:spPr>
          <a:xfrm>
            <a:off x="10835640" y="2843784"/>
            <a:ext cx="731520" cy="411480"/>
          </a:xfrm>
          <a:prstGeom prst="rect">
            <a:avLst/>
          </a:prstGeom>
          <a:noFill/>
        </p:spPr>
        <p:txBody>
          <a:bodyPr wrap="square" lIns="45720" tIns="27432" rIns="45720" bIns="27432" anchor="ctr">
            <a:spAutoFit/>
          </a:bodyPr>
          <a:lstStyle/>
          <a:p>
            <a:pPr marL="0" indent="0" algn="r">
              <a:spcAft>
                <a:spcPts val="400"/>
              </a:spcAft>
              <a:buNone/>
            </a:pPr>
            <a:r>
              <a:rPr sz="1700" b="0" i="0"/>
              <a:t>(4)</a:t>
            </a:r>
          </a:p>
        </p:txBody>
      </p:sp>
      <p:sp>
        <p:nvSpPr>
          <p:cNvPr id="16" name="TextBox 15"/>
          <p:cNvSpPr txBox="1"/>
          <p:nvPr/>
        </p:nvSpPr>
        <p:spPr>
          <a:xfrm>
            <a:off x="5989320" y="3300984"/>
            <a:ext cx="4800600" cy="411480"/>
          </a:xfrm>
          <a:prstGeom prst="rect">
            <a:avLst/>
          </a:prstGeom>
          <a:noFill/>
        </p:spPr>
        <p:txBody>
          <a:bodyPr wrap="square" lIns="45720" tIns="27432" rIns="45720" bIns="27432" anchor="ctr">
            <a:spAutoFit/>
          </a:bodyPr>
          <a:lstStyle/>
          <a:p>
            <a:pPr marL="0" indent="0">
              <a:spcAft>
                <a:spcPts val="400"/>
              </a:spcAft>
              <a:buNone/>
            </a:pPr>
            <a:r>
              <a:rPr sz="1900" b="0" i="1">
                <a:latin typeface="Cambria"/>
              </a:rPr>
              <a:t>P(i) = exp(z</a:t>
            </a:r>
            <a:r>
              <a:rPr sz="1900" b="0" i="1" baseline="-25000">
                <a:latin typeface="Cambria"/>
              </a:rPr>
              <a:t>i</a:t>
            </a:r>
            <a:r>
              <a:rPr sz="1900" b="0" i="1">
                <a:latin typeface="Cambria"/>
              </a:rPr>
              <a:t>) / Σ</a:t>
            </a:r>
            <a:r>
              <a:rPr sz="1900" b="0" i="1" baseline="-25000">
                <a:latin typeface="Cambria"/>
              </a:rPr>
              <a:t>j</a:t>
            </a:r>
            <a:r>
              <a:rPr sz="1900" b="0" i="1">
                <a:latin typeface="Cambria"/>
              </a:rPr>
              <a:t> exp(z</a:t>
            </a:r>
            <a:r>
              <a:rPr sz="1900" b="0" i="1" baseline="-25000">
                <a:latin typeface="Cambria"/>
              </a:rPr>
              <a:t>j</a:t>
            </a:r>
            <a:r>
              <a:rPr sz="1900" b="0" i="1">
                <a:latin typeface="Cambria"/>
              </a:rPr>
              <a:t>)</a:t>
            </a:r>
          </a:p>
        </p:txBody>
      </p:sp>
      <p:sp>
        <p:nvSpPr>
          <p:cNvPr id="17" name="TextBox 16"/>
          <p:cNvSpPr txBox="1"/>
          <p:nvPr/>
        </p:nvSpPr>
        <p:spPr>
          <a:xfrm>
            <a:off x="10835640" y="3300984"/>
            <a:ext cx="731520" cy="411480"/>
          </a:xfrm>
          <a:prstGeom prst="rect">
            <a:avLst/>
          </a:prstGeom>
          <a:noFill/>
        </p:spPr>
        <p:txBody>
          <a:bodyPr wrap="square" lIns="45720" tIns="27432" rIns="45720" bIns="27432" anchor="ctr">
            <a:spAutoFit/>
          </a:bodyPr>
          <a:lstStyle/>
          <a:p>
            <a:pPr marL="0" indent="0" algn="r">
              <a:spcAft>
                <a:spcPts val="400"/>
              </a:spcAft>
              <a:buNone/>
            </a:pPr>
            <a:r>
              <a:rPr sz="1700" b="0" i="0"/>
              <a:t>(5)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23</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Dataset Preparation</a:t>
            </a:r>
          </a:p>
        </p:txBody>
      </p:sp>
      <p:sp>
        <p:nvSpPr>
          <p:cNvPr id="6" name="TextBox 5"/>
          <p:cNvSpPr txBox="1"/>
          <p:nvPr/>
        </p:nvSpPr>
        <p:spPr>
          <a:xfrm>
            <a:off x="548640" y="1280160"/>
            <a:ext cx="5760720" cy="3712811"/>
          </a:xfrm>
          <a:prstGeom prst="rect">
            <a:avLst/>
          </a:prstGeom>
          <a:noFill/>
        </p:spPr>
        <p:txBody>
          <a:bodyPr wrap="square" lIns="45720" tIns="27432" rIns="45720" bIns="27432">
            <a:spAutoFit/>
          </a:bodyPr>
          <a:lstStyle/>
          <a:p>
            <a:pPr marL="256032" indent="-219456" algn="just">
              <a:spcAft>
                <a:spcPts val="400"/>
              </a:spcAft>
              <a:buFont typeface="Arial"/>
              <a:buChar char="•"/>
            </a:pPr>
            <a:r>
              <a:rPr sz="1700" b="0" i="0" dirty="0"/>
              <a:t>Telugu handwritten character dataset (Kaggle) – four groups: </a:t>
            </a:r>
            <a:r>
              <a:rPr sz="1700" b="1" i="0" dirty="0" err="1"/>
              <a:t>Guninthamulu</a:t>
            </a:r>
            <a:r>
              <a:rPr sz="1700" b="1" i="0" dirty="0"/>
              <a:t>, </a:t>
            </a:r>
            <a:r>
              <a:rPr sz="1700" b="1" i="0" dirty="0" err="1"/>
              <a:t>Achulu</a:t>
            </a:r>
            <a:r>
              <a:rPr sz="1700" b="1" i="0" dirty="0"/>
              <a:t>, </a:t>
            </a:r>
            <a:r>
              <a:rPr sz="1700" b="1" i="0" dirty="0" err="1"/>
              <a:t>Hallulu</a:t>
            </a:r>
            <a:r>
              <a:rPr sz="1700" b="1" i="0" dirty="0"/>
              <a:t>, </a:t>
            </a:r>
            <a:r>
              <a:rPr sz="1700" b="1" i="0" dirty="0" err="1"/>
              <a:t>Othulu</a:t>
            </a:r>
            <a:endParaRPr sz="1700" b="1" i="0" dirty="0"/>
          </a:p>
          <a:p>
            <a:pPr marL="256032" indent="-219456" algn="just">
              <a:spcAft>
                <a:spcPts val="400"/>
              </a:spcAft>
              <a:buFont typeface="Arial"/>
              <a:buChar char="•"/>
            </a:pPr>
            <a:r>
              <a:rPr sz="1700" b="1" i="0" dirty="0"/>
              <a:t>292,752</a:t>
            </a:r>
            <a:r>
              <a:rPr sz="1700" b="0" i="0" dirty="0"/>
              <a:t> image files in </a:t>
            </a:r>
            <a:r>
              <a:rPr sz="1700" b="1" i="0" dirty="0"/>
              <a:t>121</a:t>
            </a:r>
            <a:r>
              <a:rPr sz="1700" b="0" i="0" dirty="0"/>
              <a:t> character folders; folder names resolved to Telugu Unicode; duplicate folders merged</a:t>
            </a:r>
          </a:p>
          <a:p>
            <a:pPr marL="256032" indent="-219456" algn="just">
              <a:spcAft>
                <a:spcPts val="400"/>
              </a:spcAft>
              <a:buFont typeface="Arial"/>
              <a:buChar char="•"/>
            </a:pPr>
            <a:r>
              <a:rPr sz="1700" b="1" i="0" dirty="0"/>
              <a:t>33</a:t>
            </a:r>
            <a:r>
              <a:rPr sz="1700" b="0" i="0" dirty="0"/>
              <a:t> characters appear in several folders → </a:t>
            </a:r>
            <a:r>
              <a:rPr sz="1700" b="1" i="0" dirty="0"/>
              <a:t>76</a:t>
            </a:r>
            <a:r>
              <a:rPr sz="1700" b="0" i="0" dirty="0"/>
              <a:t> distinct classes after merging</a:t>
            </a:r>
          </a:p>
          <a:p>
            <a:pPr marL="256032" indent="-219456" algn="just">
              <a:spcAft>
                <a:spcPts val="400"/>
              </a:spcAft>
              <a:buFont typeface="Arial"/>
              <a:buChar char="•"/>
            </a:pPr>
            <a:r>
              <a:rPr sz="1700" b="0" i="0" dirty="0"/>
              <a:t>Class imbalance reduced by limiting to </a:t>
            </a:r>
            <a:r>
              <a:rPr sz="1700" b="1" i="0" dirty="0"/>
              <a:t>1,000 images per character and source-group combination</a:t>
            </a:r>
            <a:r>
              <a:rPr sz="1700" b="0" i="0" dirty="0"/>
              <a:t> → </a:t>
            </a:r>
            <a:r>
              <a:rPr sz="1700" b="1" i="0" dirty="0"/>
              <a:t>73,463</a:t>
            </a:r>
            <a:r>
              <a:rPr sz="1700" b="0" i="0" dirty="0"/>
              <a:t> images</a:t>
            </a:r>
          </a:p>
          <a:p>
            <a:pPr marL="256032" indent="-219456" algn="just">
              <a:spcAft>
                <a:spcPts val="400"/>
              </a:spcAft>
              <a:buFont typeface="Arial"/>
              <a:buChar char="•"/>
            </a:pPr>
            <a:r>
              <a:rPr sz="1700" b="0" i="0" dirty="0"/>
              <a:t>Stratified sampling preserves class distribution; labels 0–75 with Unicode mapping retained</a:t>
            </a:r>
          </a:p>
          <a:p>
            <a:pPr marL="256032" indent="-219456" algn="just">
              <a:spcAft>
                <a:spcPts val="400"/>
              </a:spcAft>
              <a:buFont typeface="Arial"/>
              <a:buChar char="•"/>
            </a:pPr>
            <a:r>
              <a:rPr sz="1700" b="1" i="0" dirty="0" err="1"/>
              <a:t>Achulu</a:t>
            </a:r>
            <a:r>
              <a:rPr sz="1700" b="1" i="0" dirty="0"/>
              <a:t>:</a:t>
            </a:r>
            <a:r>
              <a:rPr sz="1700" b="0" i="0" dirty="0"/>
              <a:t> vowels   </a:t>
            </a:r>
            <a:r>
              <a:rPr sz="1700" b="1" i="0" dirty="0" err="1"/>
              <a:t>Hallulu</a:t>
            </a:r>
            <a:r>
              <a:rPr sz="1700" b="1" i="0" dirty="0"/>
              <a:t>:</a:t>
            </a:r>
            <a:r>
              <a:rPr sz="1700" b="0" i="0" dirty="0"/>
              <a:t> consonants   </a:t>
            </a:r>
            <a:r>
              <a:rPr sz="1700" b="1" i="0" dirty="0" err="1"/>
              <a:t>Guninthamulu</a:t>
            </a:r>
            <a:r>
              <a:rPr sz="1700" b="1" i="0" dirty="0"/>
              <a:t>:</a:t>
            </a:r>
            <a:r>
              <a:rPr sz="1700" b="0" i="0" dirty="0"/>
              <a:t> consonant-related incl. vowel-modified forms   </a:t>
            </a:r>
            <a:r>
              <a:rPr sz="1700" b="1" i="0" dirty="0" err="1"/>
              <a:t>Othulu</a:t>
            </a:r>
            <a:r>
              <a:rPr sz="1700" b="1" i="0" dirty="0"/>
              <a:t>:</a:t>
            </a:r>
            <a:r>
              <a:rPr sz="1700" b="0" i="0" dirty="0"/>
              <a:t> conjunct and subscript consonant forms</a:t>
            </a:r>
          </a:p>
        </p:txBody>
      </p:sp>
      <p:sp>
        <p:nvSpPr>
          <p:cNvPr id="7" name="TextBox 6"/>
          <p:cNvSpPr txBox="1"/>
          <p:nvPr/>
        </p:nvSpPr>
        <p:spPr>
          <a:xfrm>
            <a:off x="6629400" y="1325880"/>
            <a:ext cx="5029200" cy="457200"/>
          </a:xfrm>
          <a:prstGeom prst="rect">
            <a:avLst/>
          </a:prstGeom>
          <a:noFill/>
        </p:spPr>
        <p:txBody>
          <a:bodyPr wrap="square" lIns="45720" tIns="27432" rIns="45720" bIns="27432">
            <a:spAutoFit/>
          </a:bodyPr>
          <a:lstStyle/>
          <a:p>
            <a:pPr marL="0" indent="0">
              <a:spcAft>
                <a:spcPts val="400"/>
              </a:spcAft>
              <a:buNone/>
            </a:pPr>
            <a:r>
              <a:rPr sz="2000" b="1" i="0">
                <a:solidFill>
                  <a:srgbClr val="1F3864"/>
                </a:solidFill>
              </a:rPr>
              <a:t>Table 6.1  Dataset distribution</a:t>
            </a:r>
          </a:p>
        </p:txBody>
      </p:sp>
      <p:graphicFrame>
        <p:nvGraphicFramePr>
          <p:cNvPr id="8" name="Table 7"/>
          <p:cNvGraphicFramePr>
            <a:graphicFrameLocks noGrp="1"/>
          </p:cNvGraphicFramePr>
          <p:nvPr>
            <p:extLst>
              <p:ext uri="{D42A27DB-BD31-4B8C-83A1-F6EECF244321}">
                <p14:modId xmlns:p14="http://schemas.microsoft.com/office/powerpoint/2010/main" val="1427172456"/>
              </p:ext>
            </p:extLst>
          </p:nvPr>
        </p:nvGraphicFramePr>
        <p:xfrm>
          <a:off x="6629400" y="1828800"/>
          <a:ext cx="5029200" cy="2286000"/>
        </p:xfrm>
        <a:graphic>
          <a:graphicData uri="http://schemas.openxmlformats.org/drawingml/2006/table">
            <a:tbl>
              <a:tblPr>
                <a:tableStyleId>{616DA210-FB5B-4158-B5E0-FEB733F419BA}</a:tableStyleId>
              </a:tblPr>
              <a:tblGrid>
                <a:gridCol w="18288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57200">
                <a:tc>
                  <a:txBody>
                    <a:bodyPr/>
                    <a:lstStyle/>
                    <a:p>
                      <a:pPr algn="l"/>
                      <a:r>
                        <a:rPr sz="1800"/>
                        <a:t>Dataset</a:t>
                      </a:r>
                      <a:endParaRPr sz="1800" b="1" i="0">
                        <a:solidFill>
                          <a:srgbClr val="FFFFFF"/>
                        </a:solidFill>
                      </a:endParaRPr>
                    </a:p>
                  </a:txBody>
                  <a:tcPr marL="73152" marR="73152" marT="36576" marB="36576" anchor="ctr"/>
                </a:tc>
                <a:tc>
                  <a:txBody>
                    <a:bodyPr/>
                    <a:lstStyle/>
                    <a:p>
                      <a:pPr algn="ctr"/>
                      <a:r>
                        <a:rPr sz="1800"/>
                        <a:t>Images</a:t>
                      </a:r>
                      <a:endParaRPr sz="1800" b="1" i="0">
                        <a:solidFill>
                          <a:srgbClr val="FFFFFF"/>
                        </a:solidFill>
                      </a:endParaRPr>
                    </a:p>
                  </a:txBody>
                  <a:tcPr marL="73152" marR="73152" marT="36576" marB="36576" anchor="ctr"/>
                </a:tc>
                <a:tc>
                  <a:txBody>
                    <a:bodyPr/>
                    <a:lstStyle/>
                    <a:p>
                      <a:pPr algn="ctr"/>
                      <a:r>
                        <a:rPr sz="1800"/>
                        <a:t>Percentage</a:t>
                      </a:r>
                      <a:endParaRPr sz="1800" b="1" i="0">
                        <a:solidFill>
                          <a:srgbClr val="FFFFFF"/>
                        </a:solidFill>
                      </a:endParaRPr>
                    </a:p>
                  </a:txBody>
                  <a:tcPr marL="73152" marR="73152" marT="36576" marB="36576" anchor="ctr"/>
                </a:tc>
                <a:extLst>
                  <a:ext uri="{0D108BD9-81ED-4DB2-BD59-A6C34878D82A}">
                    <a16:rowId xmlns:a16="http://schemas.microsoft.com/office/drawing/2014/main" val="10000"/>
                  </a:ext>
                </a:extLst>
              </a:tr>
              <a:tr h="457200">
                <a:tc>
                  <a:txBody>
                    <a:bodyPr/>
                    <a:lstStyle/>
                    <a:p>
                      <a:pPr algn="l"/>
                      <a:r>
                        <a:rPr sz="1800" dirty="0"/>
                        <a:t>Training</a:t>
                      </a:r>
                      <a:endParaRPr sz="1800" b="0" i="0" dirty="0">
                        <a:solidFill>
                          <a:srgbClr val="000000"/>
                        </a:solidFill>
                      </a:endParaRPr>
                    </a:p>
                  </a:txBody>
                  <a:tcPr marL="73152" marR="73152" marT="36576" marB="36576" anchor="ctr"/>
                </a:tc>
                <a:tc>
                  <a:txBody>
                    <a:bodyPr/>
                    <a:lstStyle/>
                    <a:p>
                      <a:pPr algn="ctr"/>
                      <a:r>
                        <a:rPr sz="1800"/>
                        <a:t>51,423</a:t>
                      </a:r>
                      <a:endParaRPr sz="1800" b="0" i="0">
                        <a:solidFill>
                          <a:srgbClr val="000000"/>
                        </a:solidFill>
                      </a:endParaRPr>
                    </a:p>
                  </a:txBody>
                  <a:tcPr marL="73152" marR="73152" marT="36576" marB="36576" anchor="ctr"/>
                </a:tc>
                <a:tc>
                  <a:txBody>
                    <a:bodyPr/>
                    <a:lstStyle/>
                    <a:p>
                      <a:pPr algn="ctr"/>
                      <a:r>
                        <a:rPr sz="1800"/>
                        <a:t>70%</a:t>
                      </a:r>
                      <a:endParaRPr sz="1800" b="0" i="0">
                        <a:solidFill>
                          <a:srgbClr val="000000"/>
                        </a:solidFill>
                      </a:endParaRPr>
                    </a:p>
                  </a:txBody>
                  <a:tcPr marL="73152" marR="73152" marT="36576" marB="36576" anchor="ctr"/>
                </a:tc>
                <a:extLst>
                  <a:ext uri="{0D108BD9-81ED-4DB2-BD59-A6C34878D82A}">
                    <a16:rowId xmlns:a16="http://schemas.microsoft.com/office/drawing/2014/main" val="10001"/>
                  </a:ext>
                </a:extLst>
              </a:tr>
              <a:tr h="457200">
                <a:tc>
                  <a:txBody>
                    <a:bodyPr/>
                    <a:lstStyle/>
                    <a:p>
                      <a:pPr algn="l"/>
                      <a:r>
                        <a:rPr sz="1800"/>
                        <a:t>Validation</a:t>
                      </a:r>
                      <a:endParaRPr sz="1800" b="0" i="0">
                        <a:solidFill>
                          <a:srgbClr val="000000"/>
                        </a:solidFill>
                      </a:endParaRPr>
                    </a:p>
                  </a:txBody>
                  <a:tcPr marL="73152" marR="73152" marT="36576" marB="36576" anchor="ctr"/>
                </a:tc>
                <a:tc>
                  <a:txBody>
                    <a:bodyPr/>
                    <a:lstStyle/>
                    <a:p>
                      <a:pPr algn="ctr"/>
                      <a:r>
                        <a:rPr sz="1800"/>
                        <a:t>11,020</a:t>
                      </a:r>
                      <a:endParaRPr sz="1800" b="0" i="0">
                        <a:solidFill>
                          <a:srgbClr val="000000"/>
                        </a:solidFill>
                      </a:endParaRPr>
                    </a:p>
                  </a:txBody>
                  <a:tcPr marL="73152" marR="73152" marT="36576" marB="36576" anchor="ctr"/>
                </a:tc>
                <a:tc>
                  <a:txBody>
                    <a:bodyPr/>
                    <a:lstStyle/>
                    <a:p>
                      <a:pPr algn="ctr"/>
                      <a:r>
                        <a:rPr sz="1800"/>
                        <a:t>15%</a:t>
                      </a:r>
                      <a:endParaRPr sz="1800" b="0" i="0">
                        <a:solidFill>
                          <a:srgbClr val="000000"/>
                        </a:solidFill>
                      </a:endParaRPr>
                    </a:p>
                  </a:txBody>
                  <a:tcPr marL="73152" marR="73152" marT="36576" marB="36576" anchor="ctr"/>
                </a:tc>
                <a:extLst>
                  <a:ext uri="{0D108BD9-81ED-4DB2-BD59-A6C34878D82A}">
                    <a16:rowId xmlns:a16="http://schemas.microsoft.com/office/drawing/2014/main" val="10002"/>
                  </a:ext>
                </a:extLst>
              </a:tr>
              <a:tr h="457200">
                <a:tc>
                  <a:txBody>
                    <a:bodyPr/>
                    <a:lstStyle/>
                    <a:p>
                      <a:pPr algn="l"/>
                      <a:r>
                        <a:rPr sz="1800"/>
                        <a:t>Testing</a:t>
                      </a:r>
                      <a:endParaRPr sz="1800" b="0" i="0">
                        <a:solidFill>
                          <a:srgbClr val="000000"/>
                        </a:solidFill>
                      </a:endParaRPr>
                    </a:p>
                  </a:txBody>
                  <a:tcPr marL="73152" marR="73152" marT="36576" marB="36576" anchor="ctr"/>
                </a:tc>
                <a:tc>
                  <a:txBody>
                    <a:bodyPr/>
                    <a:lstStyle/>
                    <a:p>
                      <a:pPr algn="ctr"/>
                      <a:r>
                        <a:rPr sz="1800"/>
                        <a:t>11,020</a:t>
                      </a:r>
                      <a:endParaRPr sz="1800" b="0" i="0">
                        <a:solidFill>
                          <a:srgbClr val="000000"/>
                        </a:solidFill>
                      </a:endParaRPr>
                    </a:p>
                  </a:txBody>
                  <a:tcPr marL="73152" marR="73152" marT="36576" marB="36576" anchor="ctr"/>
                </a:tc>
                <a:tc>
                  <a:txBody>
                    <a:bodyPr/>
                    <a:lstStyle/>
                    <a:p>
                      <a:pPr algn="ctr"/>
                      <a:r>
                        <a:rPr sz="1800"/>
                        <a:t>15%</a:t>
                      </a:r>
                      <a:endParaRPr sz="1800" b="0" i="0">
                        <a:solidFill>
                          <a:srgbClr val="000000"/>
                        </a:solidFill>
                      </a:endParaRPr>
                    </a:p>
                  </a:txBody>
                  <a:tcPr marL="73152" marR="73152" marT="36576" marB="36576" anchor="ctr"/>
                </a:tc>
                <a:extLst>
                  <a:ext uri="{0D108BD9-81ED-4DB2-BD59-A6C34878D82A}">
                    <a16:rowId xmlns:a16="http://schemas.microsoft.com/office/drawing/2014/main" val="10003"/>
                  </a:ext>
                </a:extLst>
              </a:tr>
              <a:tr h="457200">
                <a:tc>
                  <a:txBody>
                    <a:bodyPr/>
                    <a:lstStyle/>
                    <a:p>
                      <a:pPr algn="l"/>
                      <a:r>
                        <a:rPr sz="1800"/>
                        <a:t>Total</a:t>
                      </a:r>
                      <a:endParaRPr sz="1800" b="1" i="0">
                        <a:solidFill>
                          <a:srgbClr val="000000"/>
                        </a:solidFill>
                      </a:endParaRPr>
                    </a:p>
                  </a:txBody>
                  <a:tcPr marL="73152" marR="73152" marT="36576" marB="36576" anchor="ctr"/>
                </a:tc>
                <a:tc>
                  <a:txBody>
                    <a:bodyPr/>
                    <a:lstStyle/>
                    <a:p>
                      <a:pPr algn="ctr"/>
                      <a:r>
                        <a:rPr sz="1800"/>
                        <a:t>73,463</a:t>
                      </a:r>
                      <a:endParaRPr sz="1800" b="1" i="0">
                        <a:solidFill>
                          <a:srgbClr val="000000"/>
                        </a:solidFill>
                      </a:endParaRPr>
                    </a:p>
                  </a:txBody>
                  <a:tcPr marL="73152" marR="73152" marT="36576" marB="36576" anchor="ctr"/>
                </a:tc>
                <a:tc>
                  <a:txBody>
                    <a:bodyPr/>
                    <a:lstStyle/>
                    <a:p>
                      <a:pPr algn="ctr"/>
                      <a:r>
                        <a:rPr sz="1800" dirty="0"/>
                        <a:t>100%</a:t>
                      </a:r>
                      <a:endParaRPr sz="1800" b="1" i="0" dirty="0">
                        <a:solidFill>
                          <a:srgbClr val="000000"/>
                        </a:solidFill>
                      </a:endParaRPr>
                    </a:p>
                  </a:txBody>
                  <a:tcPr marL="73152" marR="73152" marT="36576" marB="36576"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24</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Exploratory Data Analysis</a:t>
            </a:r>
          </a:p>
        </p:txBody>
      </p:sp>
      <p:sp>
        <p:nvSpPr>
          <p:cNvPr id="6" name="TextBox 5"/>
          <p:cNvSpPr txBox="1"/>
          <p:nvPr/>
        </p:nvSpPr>
        <p:spPr>
          <a:xfrm>
            <a:off x="680851" y="1625683"/>
            <a:ext cx="11323570" cy="2443233"/>
          </a:xfrm>
          <a:prstGeom prst="rect">
            <a:avLst/>
          </a:prstGeom>
          <a:noFill/>
        </p:spPr>
        <p:txBody>
          <a:bodyPr wrap="square" lIns="45720" tIns="27432" rIns="45720" bIns="27432">
            <a:spAutoFit/>
          </a:bodyPr>
          <a:lstStyle/>
          <a:p>
            <a:pPr marL="256032" indent="-219456" algn="just">
              <a:spcAft>
                <a:spcPts val="700"/>
              </a:spcAft>
              <a:buFont typeface="Arial"/>
              <a:buChar char="•"/>
            </a:pPr>
            <a:r>
              <a:rPr sz="1800" b="0" i="0" dirty="0"/>
              <a:t>Number of images and character folders counted for each source group</a:t>
            </a:r>
          </a:p>
          <a:p>
            <a:pPr marL="256032" indent="-219456" algn="just">
              <a:spcAft>
                <a:spcPts val="700"/>
              </a:spcAft>
              <a:buFont typeface="Arial"/>
              <a:buChar char="•"/>
            </a:pPr>
            <a:r>
              <a:rPr sz="1800" b="0" i="0" dirty="0"/>
              <a:t>Class-distribution plots show highly represented and underrepresented characters</a:t>
            </a:r>
          </a:p>
          <a:p>
            <a:pPr marL="256032" indent="-219456" algn="just">
              <a:spcAft>
                <a:spcPts val="700"/>
              </a:spcAft>
              <a:buFont typeface="Arial"/>
              <a:buChar char="•"/>
            </a:pPr>
            <a:r>
              <a:rPr sz="1800" b="0" i="0" dirty="0"/>
              <a:t>Initial imbalance is considerable – </a:t>
            </a:r>
            <a:r>
              <a:rPr sz="1800" b="1" i="0" dirty="0" err="1"/>
              <a:t>Guninthamulu</a:t>
            </a:r>
            <a:r>
              <a:rPr sz="1800" b="0" i="0" dirty="0"/>
              <a:t> contributes a larger share; Unicode-based merging and image-count limiting reduce it</a:t>
            </a:r>
          </a:p>
          <a:p>
            <a:pPr marL="256032" indent="-219456" algn="just">
              <a:spcAft>
                <a:spcPts val="700"/>
              </a:spcAft>
              <a:buFont typeface="Arial"/>
              <a:buChar char="•"/>
            </a:pPr>
            <a:r>
              <a:rPr sz="1800" b="0" i="0" dirty="0"/>
              <a:t>Representative images show variation in handwriting style, stroke thickness, image quality, alignment and structure</a:t>
            </a:r>
          </a:p>
          <a:p>
            <a:pPr marL="256032" indent="-219456" algn="just">
              <a:spcAft>
                <a:spcPts val="700"/>
              </a:spcAft>
              <a:buFont typeface="Arial"/>
              <a:buChar char="•"/>
            </a:pPr>
            <a:r>
              <a:rPr sz="1800" b="0" i="0" dirty="0"/>
              <a:t>Before / after preprocessing comparisons</a:t>
            </a:r>
          </a:p>
          <a:p>
            <a:pPr marL="256032" indent="-219456" algn="just">
              <a:spcAft>
                <a:spcPts val="700"/>
              </a:spcAft>
              <a:buFont typeface="Arial"/>
              <a:buChar char="•"/>
            </a:pPr>
            <a:r>
              <a:rPr sz="1800" b="0" i="0" dirty="0"/>
              <a:t>Skeleton images, stroke-width maps and edge-magnitude maps examined as inputs to the stroke branch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25</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Image Preprocessing</a:t>
            </a:r>
          </a:p>
        </p:txBody>
      </p:sp>
      <p:sp>
        <p:nvSpPr>
          <p:cNvPr id="6" name="TextBox 5"/>
          <p:cNvSpPr txBox="1"/>
          <p:nvPr/>
        </p:nvSpPr>
        <p:spPr>
          <a:xfrm>
            <a:off x="548640" y="1280160"/>
            <a:ext cx="6400800" cy="457200"/>
          </a:xfrm>
          <a:prstGeom prst="rect">
            <a:avLst/>
          </a:prstGeom>
          <a:noFill/>
        </p:spPr>
        <p:txBody>
          <a:bodyPr wrap="square" lIns="45720" tIns="27432" rIns="45720" bIns="27432">
            <a:spAutoFit/>
          </a:bodyPr>
          <a:lstStyle/>
          <a:p>
            <a:pPr marL="0" indent="0">
              <a:spcAft>
                <a:spcPts val="400"/>
              </a:spcAft>
              <a:buNone/>
            </a:pPr>
            <a:r>
              <a:rPr sz="2300" b="1" i="0">
                <a:solidFill>
                  <a:srgbClr val="1F3864"/>
                </a:solidFill>
              </a:rPr>
              <a:t>Pipeline</a:t>
            </a:r>
          </a:p>
        </p:txBody>
      </p:sp>
      <p:sp>
        <p:nvSpPr>
          <p:cNvPr id="7" name="TextBox 6"/>
          <p:cNvSpPr txBox="1"/>
          <p:nvPr/>
        </p:nvSpPr>
        <p:spPr>
          <a:xfrm>
            <a:off x="548640" y="1737360"/>
            <a:ext cx="6583680" cy="4480560"/>
          </a:xfrm>
          <a:prstGeom prst="rect">
            <a:avLst/>
          </a:prstGeom>
          <a:noFill/>
        </p:spPr>
        <p:txBody>
          <a:bodyPr wrap="square" lIns="45720" tIns="27432" rIns="45720" bIns="27432">
            <a:spAutoFit/>
          </a:bodyPr>
          <a:lstStyle/>
          <a:p>
            <a:pPr marL="0" indent="0">
              <a:spcAft>
                <a:spcPts val="600"/>
              </a:spcAft>
              <a:buNone/>
            </a:pPr>
            <a:r>
              <a:rPr sz="1800" b="1" i="0" dirty="0"/>
              <a:t>1.</a:t>
            </a:r>
            <a:r>
              <a:rPr sz="1800" b="0" i="0" dirty="0"/>
              <a:t> Grayscale conversion</a:t>
            </a:r>
          </a:p>
          <a:p>
            <a:pPr marL="0" indent="0">
              <a:spcAft>
                <a:spcPts val="600"/>
              </a:spcAft>
              <a:buNone/>
            </a:pPr>
            <a:r>
              <a:rPr sz="1800" b="1" i="0" dirty="0"/>
              <a:t>2.</a:t>
            </a:r>
            <a:r>
              <a:rPr sz="1800" b="0" i="0" dirty="0"/>
              <a:t> Polarity correction (dark strokes on light background)</a:t>
            </a:r>
          </a:p>
          <a:p>
            <a:pPr marL="0" indent="0">
              <a:spcAft>
                <a:spcPts val="600"/>
              </a:spcAft>
              <a:buNone/>
            </a:pPr>
            <a:r>
              <a:rPr sz="1800" b="1" i="0" dirty="0"/>
              <a:t>3.</a:t>
            </a:r>
            <a:r>
              <a:rPr sz="1800" b="0" i="0" dirty="0"/>
              <a:t> Thresholding + connected-component analysis → ink region</a:t>
            </a:r>
          </a:p>
          <a:p>
            <a:pPr marL="0" indent="0">
              <a:spcAft>
                <a:spcPts val="600"/>
              </a:spcAft>
              <a:buNone/>
            </a:pPr>
            <a:r>
              <a:rPr sz="1800" b="1" i="0" dirty="0"/>
              <a:t>4.</a:t>
            </a:r>
            <a:r>
              <a:rPr sz="1800" b="0" i="0" dirty="0"/>
              <a:t> Remove margins; </a:t>
            </a:r>
            <a:r>
              <a:rPr sz="1800" b="0" i="0" dirty="0" err="1"/>
              <a:t>centre</a:t>
            </a:r>
            <a:r>
              <a:rPr sz="1800" b="0" i="0" dirty="0"/>
              <a:t> on square canvas</a:t>
            </a:r>
          </a:p>
          <a:p>
            <a:pPr marL="0" indent="0">
              <a:spcAft>
                <a:spcPts val="600"/>
              </a:spcAft>
              <a:buNone/>
            </a:pPr>
            <a:r>
              <a:rPr sz="1800" b="1" i="0" dirty="0"/>
              <a:t>5.</a:t>
            </a:r>
            <a:r>
              <a:rPr sz="1800" b="0" i="0" dirty="0"/>
              <a:t> Resize to 96 × 96</a:t>
            </a:r>
          </a:p>
          <a:p>
            <a:pPr marL="0" indent="0">
              <a:spcAft>
                <a:spcPts val="600"/>
              </a:spcAft>
              <a:buNone/>
            </a:pPr>
            <a:r>
              <a:rPr sz="1800" b="1" i="0" dirty="0"/>
              <a:t>6.</a:t>
            </a:r>
            <a:r>
              <a:rPr sz="1800" b="0" i="0" dirty="0"/>
              <a:t> Non-Local Means denoising</a:t>
            </a:r>
          </a:p>
          <a:p>
            <a:pPr marL="0" indent="0">
              <a:spcAft>
                <a:spcPts val="600"/>
              </a:spcAft>
              <a:buNone/>
            </a:pPr>
            <a:r>
              <a:rPr sz="1800" b="1" i="0" dirty="0"/>
              <a:t>7.</a:t>
            </a:r>
            <a:r>
              <a:rPr sz="1800" b="0" i="0" dirty="0"/>
              <a:t> CLAHE local contrast enhancement</a:t>
            </a:r>
          </a:p>
          <a:p>
            <a:pPr marL="0" indent="0">
              <a:spcAft>
                <a:spcPts val="600"/>
              </a:spcAft>
              <a:buNone/>
            </a:pPr>
            <a:r>
              <a:rPr sz="1800" b="1" i="0" dirty="0"/>
              <a:t>8.</a:t>
            </a:r>
            <a:r>
              <a:rPr sz="1800" b="0" i="0" dirty="0"/>
              <a:t> Scale to [0, 1]; expand to 3 channels for MobileNetV3</a:t>
            </a:r>
          </a:p>
        </p:txBody>
      </p:sp>
      <p:sp>
        <p:nvSpPr>
          <p:cNvPr id="8" name="TextBox 7"/>
          <p:cNvSpPr txBox="1"/>
          <p:nvPr/>
        </p:nvSpPr>
        <p:spPr>
          <a:xfrm>
            <a:off x="7406640" y="1280160"/>
            <a:ext cx="4206240" cy="457200"/>
          </a:xfrm>
          <a:prstGeom prst="rect">
            <a:avLst/>
          </a:prstGeom>
          <a:noFill/>
        </p:spPr>
        <p:txBody>
          <a:bodyPr wrap="square" lIns="45720" tIns="27432" rIns="45720" bIns="27432">
            <a:spAutoFit/>
          </a:bodyPr>
          <a:lstStyle/>
          <a:p>
            <a:pPr marL="0" indent="0">
              <a:spcAft>
                <a:spcPts val="400"/>
              </a:spcAft>
              <a:buNone/>
            </a:pPr>
            <a:r>
              <a:rPr sz="2300" b="1" i="0">
                <a:solidFill>
                  <a:srgbClr val="1F3864"/>
                </a:solidFill>
              </a:rPr>
              <a:t>Normalization</a:t>
            </a:r>
          </a:p>
        </p:txBody>
      </p:sp>
      <p:sp>
        <p:nvSpPr>
          <p:cNvPr id="9" name="Rounded Rectangle 8"/>
          <p:cNvSpPr/>
          <p:nvPr/>
        </p:nvSpPr>
        <p:spPr>
          <a:xfrm>
            <a:off x="7406640" y="1783080"/>
            <a:ext cx="4251960" cy="5486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43800" y="1837943"/>
            <a:ext cx="3246120" cy="411480"/>
          </a:xfrm>
          <a:prstGeom prst="rect">
            <a:avLst/>
          </a:prstGeom>
          <a:noFill/>
        </p:spPr>
        <p:txBody>
          <a:bodyPr wrap="square" lIns="45720" tIns="27432" rIns="45720" bIns="27432" anchor="ctr">
            <a:spAutoFit/>
          </a:bodyPr>
          <a:lstStyle/>
          <a:p>
            <a:pPr marL="0" indent="0">
              <a:spcAft>
                <a:spcPts val="400"/>
              </a:spcAft>
              <a:buNone/>
            </a:pPr>
            <a:r>
              <a:rPr sz="1900" b="0" i="1">
                <a:latin typeface="Cambria"/>
              </a:rPr>
              <a:t>X</a:t>
            </a:r>
            <a:r>
              <a:rPr sz="1900" b="0" i="1" baseline="-25000">
                <a:latin typeface="Cambria"/>
              </a:rPr>
              <a:t>norm</a:t>
            </a:r>
            <a:r>
              <a:rPr sz="1900" b="0" i="1">
                <a:latin typeface="Cambria"/>
              </a:rPr>
              <a:t> = (X − μ) / σ</a:t>
            </a:r>
          </a:p>
        </p:txBody>
      </p:sp>
      <p:sp>
        <p:nvSpPr>
          <p:cNvPr id="11" name="TextBox 10"/>
          <p:cNvSpPr txBox="1"/>
          <p:nvPr/>
        </p:nvSpPr>
        <p:spPr>
          <a:xfrm>
            <a:off x="10835640" y="1837943"/>
            <a:ext cx="731520" cy="411480"/>
          </a:xfrm>
          <a:prstGeom prst="rect">
            <a:avLst/>
          </a:prstGeom>
          <a:noFill/>
        </p:spPr>
        <p:txBody>
          <a:bodyPr wrap="square" lIns="45720" tIns="27432" rIns="45720" bIns="27432" anchor="ctr">
            <a:spAutoFit/>
          </a:bodyPr>
          <a:lstStyle/>
          <a:p>
            <a:pPr marL="0" indent="0" algn="r">
              <a:spcAft>
                <a:spcPts val="400"/>
              </a:spcAft>
              <a:buNone/>
            </a:pPr>
            <a:r>
              <a:rPr sz="1700" b="0" i="0"/>
              <a:t>(6)</a:t>
            </a:r>
          </a:p>
        </p:txBody>
      </p:sp>
      <p:sp>
        <p:nvSpPr>
          <p:cNvPr id="12" name="TextBox 11"/>
          <p:cNvSpPr txBox="1"/>
          <p:nvPr/>
        </p:nvSpPr>
        <p:spPr>
          <a:xfrm>
            <a:off x="7406640" y="2468880"/>
            <a:ext cx="4251960" cy="2011680"/>
          </a:xfrm>
          <a:prstGeom prst="rect">
            <a:avLst/>
          </a:prstGeom>
          <a:noFill/>
        </p:spPr>
        <p:txBody>
          <a:bodyPr wrap="square" lIns="45720" tIns="27432" rIns="45720" bIns="27432">
            <a:spAutoFit/>
          </a:bodyPr>
          <a:lstStyle/>
          <a:p>
            <a:pPr marL="0" indent="0">
              <a:spcAft>
                <a:spcPts val="400"/>
              </a:spcAft>
              <a:buNone/>
            </a:pPr>
            <a:r>
              <a:rPr sz="1700" b="0" i="0"/>
              <a:t>X = normalized input image; </a:t>
            </a:r>
            <a:r>
              <a:rPr sz="1700" b="1" i="0"/>
              <a:t>μ = 0.449</a:t>
            </a:r>
            <a:r>
              <a:rPr sz="1700" b="0" i="0"/>
              <a:t>, </a:t>
            </a:r>
            <a:r>
              <a:rPr sz="1700" b="1" i="0"/>
              <a:t>σ = 0.226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26</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000" dirty="0"/>
              <a:t>Stroke Features, Augmentation, Sampling</a:t>
            </a:r>
          </a:p>
        </p:txBody>
      </p:sp>
      <p:sp>
        <p:nvSpPr>
          <p:cNvPr id="6" name="TextBox 5"/>
          <p:cNvSpPr txBox="1"/>
          <p:nvPr/>
        </p:nvSpPr>
        <p:spPr>
          <a:xfrm>
            <a:off x="548640" y="1234440"/>
            <a:ext cx="5486400" cy="457200"/>
          </a:xfrm>
          <a:prstGeom prst="rect">
            <a:avLst/>
          </a:prstGeom>
          <a:noFill/>
        </p:spPr>
        <p:txBody>
          <a:bodyPr wrap="square" lIns="45720" tIns="27432" rIns="45720" bIns="27432">
            <a:spAutoFit/>
          </a:bodyPr>
          <a:lstStyle/>
          <a:p>
            <a:pPr marL="0" indent="0">
              <a:spcAft>
                <a:spcPts val="400"/>
              </a:spcAft>
              <a:buNone/>
            </a:pPr>
            <a:r>
              <a:rPr sz="2100" b="1" i="0" dirty="0">
                <a:solidFill>
                  <a:srgbClr val="1F3864"/>
                </a:solidFill>
              </a:rPr>
              <a:t>Structural stroke features (3 channels)</a:t>
            </a:r>
          </a:p>
        </p:txBody>
      </p:sp>
      <p:sp>
        <p:nvSpPr>
          <p:cNvPr id="7" name="TextBox 6"/>
          <p:cNvSpPr txBox="1"/>
          <p:nvPr/>
        </p:nvSpPr>
        <p:spPr>
          <a:xfrm>
            <a:off x="548640" y="1645920"/>
            <a:ext cx="5486400" cy="2468880"/>
          </a:xfrm>
          <a:prstGeom prst="rect">
            <a:avLst/>
          </a:prstGeom>
          <a:noFill/>
        </p:spPr>
        <p:txBody>
          <a:bodyPr wrap="square" lIns="45720" tIns="27432" rIns="45720" bIns="27432">
            <a:spAutoFit/>
          </a:bodyPr>
          <a:lstStyle/>
          <a:p>
            <a:pPr marL="256032" indent="-219456">
              <a:spcAft>
                <a:spcPts val="400"/>
              </a:spcAft>
              <a:buFont typeface="Arial"/>
              <a:buChar char="•"/>
            </a:pPr>
            <a:r>
              <a:rPr sz="1600" b="1" i="0" dirty="0"/>
              <a:t>Skeleton:</a:t>
            </a:r>
            <a:r>
              <a:rPr sz="1600" b="0" i="0" dirty="0"/>
              <a:t> binary thresholding + skeletonization → thin structures preserving principal shapes</a:t>
            </a:r>
          </a:p>
          <a:p>
            <a:pPr marL="256032" indent="-219456">
              <a:spcAft>
                <a:spcPts val="400"/>
              </a:spcAft>
              <a:buFont typeface="Arial"/>
              <a:buChar char="•"/>
            </a:pPr>
            <a:r>
              <a:rPr sz="1600" b="1" i="0" dirty="0"/>
              <a:t>Stroke width:</a:t>
            </a:r>
            <a:r>
              <a:rPr sz="1600" b="0" i="0" dirty="0"/>
              <a:t> distance transform → normalized stroke-width map</a:t>
            </a:r>
          </a:p>
          <a:p>
            <a:pPr marL="256032" indent="-219456">
              <a:spcAft>
                <a:spcPts val="400"/>
              </a:spcAft>
              <a:buFont typeface="Arial"/>
              <a:buChar char="•"/>
            </a:pPr>
            <a:r>
              <a:rPr sz="1600" b="1" i="0" dirty="0"/>
              <a:t>Edge magnitude:</a:t>
            </a:r>
            <a:r>
              <a:rPr sz="1600" b="0" i="0" dirty="0"/>
              <a:t> Sobel gradients identify stroke boundaries</a:t>
            </a:r>
          </a:p>
        </p:txBody>
      </p:sp>
      <p:sp>
        <p:nvSpPr>
          <p:cNvPr id="8" name="Rounded Rectangle 7"/>
          <p:cNvSpPr/>
          <p:nvPr/>
        </p:nvSpPr>
        <p:spPr>
          <a:xfrm>
            <a:off x="548640" y="3794760"/>
            <a:ext cx="5486400" cy="5486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3849624"/>
            <a:ext cx="4480560" cy="411480"/>
          </a:xfrm>
          <a:prstGeom prst="rect">
            <a:avLst/>
          </a:prstGeom>
          <a:noFill/>
        </p:spPr>
        <p:txBody>
          <a:bodyPr wrap="square" lIns="45720" tIns="27432" rIns="45720" bIns="27432" anchor="ctr">
            <a:spAutoFit/>
          </a:bodyPr>
          <a:lstStyle/>
          <a:p>
            <a:pPr marL="0" indent="0">
              <a:spcAft>
                <a:spcPts val="400"/>
              </a:spcAft>
              <a:buNone/>
            </a:pPr>
            <a:r>
              <a:rPr sz="1900" b="0" i="1">
                <a:latin typeface="Cambria"/>
              </a:rPr>
              <a:t>M = √( G</a:t>
            </a:r>
            <a:r>
              <a:rPr sz="1900" b="0" i="1" baseline="-25000">
                <a:latin typeface="Cambria"/>
              </a:rPr>
              <a:t>x</a:t>
            </a:r>
            <a:r>
              <a:rPr sz="1900" b="0" i="1">
                <a:latin typeface="Cambria"/>
              </a:rPr>
              <a:t>² + G</a:t>
            </a:r>
            <a:r>
              <a:rPr sz="1900" b="0" i="1" baseline="-25000">
                <a:latin typeface="Cambria"/>
              </a:rPr>
              <a:t>y</a:t>
            </a:r>
            <a:r>
              <a:rPr sz="1900" b="0" i="1">
                <a:latin typeface="Cambria"/>
              </a:rPr>
              <a:t>² )</a:t>
            </a:r>
          </a:p>
        </p:txBody>
      </p:sp>
      <p:sp>
        <p:nvSpPr>
          <p:cNvPr id="10" name="TextBox 9"/>
          <p:cNvSpPr txBox="1"/>
          <p:nvPr/>
        </p:nvSpPr>
        <p:spPr>
          <a:xfrm>
            <a:off x="5212080" y="3849624"/>
            <a:ext cx="731520" cy="411480"/>
          </a:xfrm>
          <a:prstGeom prst="rect">
            <a:avLst/>
          </a:prstGeom>
          <a:noFill/>
        </p:spPr>
        <p:txBody>
          <a:bodyPr wrap="square" lIns="45720" tIns="27432" rIns="45720" bIns="27432" anchor="ctr">
            <a:spAutoFit/>
          </a:bodyPr>
          <a:lstStyle/>
          <a:p>
            <a:pPr marL="0" indent="0" algn="r">
              <a:spcAft>
                <a:spcPts val="400"/>
              </a:spcAft>
              <a:buNone/>
            </a:pPr>
            <a:r>
              <a:rPr sz="1700" b="0" i="0"/>
              <a:t>(7)</a:t>
            </a:r>
          </a:p>
        </p:txBody>
      </p:sp>
      <p:sp>
        <p:nvSpPr>
          <p:cNvPr id="11" name="TextBox 10"/>
          <p:cNvSpPr txBox="1"/>
          <p:nvPr/>
        </p:nvSpPr>
        <p:spPr>
          <a:xfrm>
            <a:off x="548640" y="4389120"/>
            <a:ext cx="5486400" cy="822960"/>
          </a:xfrm>
          <a:prstGeom prst="rect">
            <a:avLst/>
          </a:prstGeom>
          <a:noFill/>
        </p:spPr>
        <p:txBody>
          <a:bodyPr wrap="square" lIns="45720" tIns="27432" rIns="45720" bIns="27432">
            <a:spAutoFit/>
          </a:bodyPr>
          <a:lstStyle/>
          <a:p>
            <a:pPr marL="0" indent="0">
              <a:spcAft>
                <a:spcPts val="400"/>
              </a:spcAft>
              <a:buNone/>
            </a:pPr>
            <a:r>
              <a:rPr sz="1500" b="0" i="0" dirty="0" err="1"/>
              <a:t>G</a:t>
            </a:r>
            <a:r>
              <a:rPr sz="1500" b="0" i="0" baseline="-25000" dirty="0" err="1"/>
              <a:t>x</a:t>
            </a:r>
            <a:r>
              <a:rPr sz="1500" b="0" i="0" dirty="0"/>
              <a:t>, </a:t>
            </a:r>
            <a:r>
              <a:rPr sz="1500" b="0" i="0" dirty="0" err="1"/>
              <a:t>G</a:t>
            </a:r>
            <a:r>
              <a:rPr sz="1500" b="0" i="0" baseline="-25000" dirty="0" err="1"/>
              <a:t>y</a:t>
            </a:r>
            <a:r>
              <a:rPr sz="1500" b="0" i="0" dirty="0"/>
              <a:t> = horizontal and vertical gradients; the three maps are stacked into one three-channel stroke input.</a:t>
            </a:r>
          </a:p>
        </p:txBody>
      </p:sp>
      <p:sp>
        <p:nvSpPr>
          <p:cNvPr id="12" name="TextBox 11"/>
          <p:cNvSpPr txBox="1"/>
          <p:nvPr/>
        </p:nvSpPr>
        <p:spPr>
          <a:xfrm>
            <a:off x="6263640" y="1234440"/>
            <a:ext cx="5394960" cy="457200"/>
          </a:xfrm>
          <a:prstGeom prst="rect">
            <a:avLst/>
          </a:prstGeom>
          <a:noFill/>
        </p:spPr>
        <p:txBody>
          <a:bodyPr wrap="square" lIns="45720" tIns="27432" rIns="45720" bIns="27432">
            <a:spAutoFit/>
          </a:bodyPr>
          <a:lstStyle/>
          <a:p>
            <a:pPr marL="0" indent="0">
              <a:spcAft>
                <a:spcPts val="400"/>
              </a:spcAft>
              <a:buNone/>
            </a:pPr>
            <a:r>
              <a:rPr sz="2100" b="1" i="0">
                <a:solidFill>
                  <a:srgbClr val="1F3864"/>
                </a:solidFill>
              </a:rPr>
              <a:t>Image data augmentation (training only)</a:t>
            </a:r>
          </a:p>
        </p:txBody>
      </p:sp>
      <p:sp>
        <p:nvSpPr>
          <p:cNvPr id="13" name="TextBox 12"/>
          <p:cNvSpPr txBox="1"/>
          <p:nvPr/>
        </p:nvSpPr>
        <p:spPr>
          <a:xfrm>
            <a:off x="6263640" y="1645920"/>
            <a:ext cx="5394960" cy="2011680"/>
          </a:xfrm>
          <a:prstGeom prst="rect">
            <a:avLst/>
          </a:prstGeom>
          <a:noFill/>
        </p:spPr>
        <p:txBody>
          <a:bodyPr wrap="square" lIns="45720" tIns="27432" rIns="45720" bIns="27432">
            <a:spAutoFit/>
          </a:bodyPr>
          <a:lstStyle/>
          <a:p>
            <a:pPr marL="256032" indent="-219456">
              <a:spcAft>
                <a:spcPts val="400"/>
              </a:spcAft>
              <a:buFont typeface="Arial"/>
              <a:buChar char="•"/>
            </a:pPr>
            <a:r>
              <a:rPr sz="1600" b="0" i="0"/>
              <a:t>Rotation </a:t>
            </a:r>
            <a:r>
              <a:rPr sz="1600" b="1" i="0"/>
              <a:t>±10°</a:t>
            </a:r>
            <a:r>
              <a:rPr sz="1600" b="0" i="0"/>
              <a:t>, scaling </a:t>
            </a:r>
            <a:r>
              <a:rPr sz="1600" b="1" i="0"/>
              <a:t>0.80–1.10</a:t>
            </a:r>
            <a:r>
              <a:rPr sz="1600" b="0" i="0"/>
              <a:t>, translation, shear</a:t>
            </a:r>
          </a:p>
          <a:p>
            <a:pPr marL="256032" indent="-219456">
              <a:spcAft>
                <a:spcPts val="400"/>
              </a:spcAft>
              <a:buFont typeface="Arial"/>
              <a:buChar char="•"/>
            </a:pPr>
            <a:r>
              <a:rPr sz="1600" b="0" i="0"/>
              <a:t>Morphological erosion/dilation, Gaussian blur, resolution variation, brightness/contrast changes</a:t>
            </a:r>
          </a:p>
          <a:p>
            <a:pPr marL="256032" indent="-219456">
              <a:spcAft>
                <a:spcPts val="400"/>
              </a:spcAft>
              <a:buFont typeface="Arial"/>
              <a:buChar char="•"/>
            </a:pPr>
            <a:r>
              <a:rPr sz="1600" b="0" i="0"/>
              <a:t>Validation and test images: deterministic preprocessing, no random augmentation</a:t>
            </a:r>
          </a:p>
        </p:txBody>
      </p:sp>
      <p:sp>
        <p:nvSpPr>
          <p:cNvPr id="14" name="TextBox 13"/>
          <p:cNvSpPr txBox="1"/>
          <p:nvPr/>
        </p:nvSpPr>
        <p:spPr>
          <a:xfrm>
            <a:off x="6263640" y="3657600"/>
            <a:ext cx="5394960" cy="457200"/>
          </a:xfrm>
          <a:prstGeom prst="rect">
            <a:avLst/>
          </a:prstGeom>
          <a:noFill/>
        </p:spPr>
        <p:txBody>
          <a:bodyPr wrap="square" lIns="45720" tIns="27432" rIns="45720" bIns="27432">
            <a:spAutoFit/>
          </a:bodyPr>
          <a:lstStyle/>
          <a:p>
            <a:pPr marL="0" indent="0">
              <a:spcAft>
                <a:spcPts val="400"/>
              </a:spcAft>
              <a:buNone/>
            </a:pPr>
            <a:r>
              <a:rPr sz="2100" b="1" i="0" dirty="0">
                <a:solidFill>
                  <a:srgbClr val="1F3864"/>
                </a:solidFill>
              </a:rPr>
              <a:t>Class-balanced sampling</a:t>
            </a:r>
          </a:p>
        </p:txBody>
      </p:sp>
      <p:sp>
        <p:nvSpPr>
          <p:cNvPr id="15" name="TextBox 14"/>
          <p:cNvSpPr txBox="1"/>
          <p:nvPr/>
        </p:nvSpPr>
        <p:spPr>
          <a:xfrm>
            <a:off x="6263640" y="4069080"/>
            <a:ext cx="5394960" cy="822960"/>
          </a:xfrm>
          <a:prstGeom prst="rect">
            <a:avLst/>
          </a:prstGeom>
          <a:noFill/>
        </p:spPr>
        <p:txBody>
          <a:bodyPr wrap="square" lIns="45720" tIns="27432" rIns="45720" bIns="27432">
            <a:spAutoFit/>
          </a:bodyPr>
          <a:lstStyle/>
          <a:p>
            <a:pPr marL="0" indent="0">
              <a:spcAft>
                <a:spcPts val="400"/>
              </a:spcAft>
              <a:buNone/>
            </a:pPr>
            <a:r>
              <a:rPr sz="1500" b="0" i="0"/>
              <a:t>Weighted Random Sampler: each sample weighted by class frequency; rare classes are drawn more often, giving approximately balanced batches.</a:t>
            </a:r>
          </a:p>
        </p:txBody>
      </p:sp>
      <p:sp>
        <p:nvSpPr>
          <p:cNvPr id="16" name="Rounded Rectangle 15"/>
          <p:cNvSpPr/>
          <p:nvPr/>
        </p:nvSpPr>
        <p:spPr>
          <a:xfrm>
            <a:off x="6263640" y="5029200"/>
            <a:ext cx="5394960" cy="5486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5084064"/>
            <a:ext cx="4389120" cy="411480"/>
          </a:xfrm>
          <a:prstGeom prst="rect">
            <a:avLst/>
          </a:prstGeom>
          <a:noFill/>
        </p:spPr>
        <p:txBody>
          <a:bodyPr wrap="square" lIns="45720" tIns="27432" rIns="45720" bIns="27432" anchor="ctr">
            <a:spAutoFit/>
          </a:bodyPr>
          <a:lstStyle/>
          <a:p>
            <a:pPr marL="0" indent="0">
              <a:spcAft>
                <a:spcPts val="400"/>
              </a:spcAft>
              <a:buNone/>
            </a:pPr>
            <a:r>
              <a:rPr sz="1900" b="0" i="1">
                <a:latin typeface="Cambria"/>
              </a:rPr>
              <a:t>w</a:t>
            </a:r>
            <a:r>
              <a:rPr sz="1900" b="0" i="1" baseline="-25000">
                <a:latin typeface="Cambria"/>
              </a:rPr>
              <a:t>i</a:t>
            </a:r>
            <a:r>
              <a:rPr sz="1900" b="0" i="1">
                <a:latin typeface="Cambria"/>
              </a:rPr>
              <a:t> = 1 / n</a:t>
            </a:r>
            <a:r>
              <a:rPr sz="1900" b="0" i="1" baseline="-25000">
                <a:latin typeface="Cambria"/>
              </a:rPr>
              <a:t>i</a:t>
            </a:r>
          </a:p>
        </p:txBody>
      </p:sp>
      <p:sp>
        <p:nvSpPr>
          <p:cNvPr id="18" name="TextBox 17"/>
          <p:cNvSpPr txBox="1"/>
          <p:nvPr/>
        </p:nvSpPr>
        <p:spPr>
          <a:xfrm>
            <a:off x="10835640" y="5084064"/>
            <a:ext cx="731520" cy="411480"/>
          </a:xfrm>
          <a:prstGeom prst="rect">
            <a:avLst/>
          </a:prstGeom>
          <a:noFill/>
        </p:spPr>
        <p:txBody>
          <a:bodyPr wrap="square" lIns="45720" tIns="27432" rIns="45720" bIns="27432" anchor="ctr">
            <a:spAutoFit/>
          </a:bodyPr>
          <a:lstStyle/>
          <a:p>
            <a:pPr marL="0" indent="0" algn="r">
              <a:spcAft>
                <a:spcPts val="400"/>
              </a:spcAft>
              <a:buNone/>
            </a:pPr>
            <a:r>
              <a:rPr sz="1700" b="0" i="0"/>
              <a:t>(8)</a:t>
            </a:r>
          </a:p>
        </p:txBody>
      </p:sp>
      <p:sp>
        <p:nvSpPr>
          <p:cNvPr id="19" name="TextBox 18"/>
          <p:cNvSpPr txBox="1"/>
          <p:nvPr/>
        </p:nvSpPr>
        <p:spPr>
          <a:xfrm>
            <a:off x="6263640" y="5577840"/>
            <a:ext cx="5394960" cy="457200"/>
          </a:xfrm>
          <a:prstGeom prst="rect">
            <a:avLst/>
          </a:prstGeom>
          <a:noFill/>
        </p:spPr>
        <p:txBody>
          <a:bodyPr wrap="square" lIns="45720" tIns="27432" rIns="45720" bIns="27432">
            <a:spAutoFit/>
          </a:bodyPr>
          <a:lstStyle/>
          <a:p>
            <a:pPr marL="0" indent="0">
              <a:spcAft>
                <a:spcPts val="400"/>
              </a:spcAft>
              <a:buNone/>
            </a:pPr>
            <a:r>
              <a:rPr sz="1500" b="0" i="0"/>
              <a:t>n</a:t>
            </a:r>
            <a:r>
              <a:rPr sz="1500" b="0" i="0" baseline="-25000"/>
              <a:t>i</a:t>
            </a:r>
            <a:r>
              <a:rPr sz="1500" b="0" i="0"/>
              <a:t> = number of training samples in class i</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27</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Model Training</a:t>
            </a:r>
          </a:p>
        </p:txBody>
      </p:sp>
      <p:sp>
        <p:nvSpPr>
          <p:cNvPr id="6" name="TextBox 5"/>
          <p:cNvSpPr txBox="1"/>
          <p:nvPr/>
        </p:nvSpPr>
        <p:spPr>
          <a:xfrm>
            <a:off x="548640" y="1280160"/>
            <a:ext cx="4754880" cy="457200"/>
          </a:xfrm>
          <a:prstGeom prst="rect">
            <a:avLst/>
          </a:prstGeom>
          <a:noFill/>
        </p:spPr>
        <p:txBody>
          <a:bodyPr wrap="square" lIns="45720" tIns="27432" rIns="45720" bIns="27432">
            <a:spAutoFit/>
          </a:bodyPr>
          <a:lstStyle/>
          <a:p>
            <a:pPr marL="0" indent="0">
              <a:spcAft>
                <a:spcPts val="400"/>
              </a:spcAft>
              <a:buNone/>
            </a:pPr>
            <a:r>
              <a:rPr sz="2100" b="1" i="0">
                <a:solidFill>
                  <a:srgbClr val="1F3864"/>
                </a:solidFill>
              </a:rPr>
              <a:t>Training configuration</a:t>
            </a:r>
          </a:p>
        </p:txBody>
      </p:sp>
      <p:graphicFrame>
        <p:nvGraphicFramePr>
          <p:cNvPr id="7" name="Table 6"/>
          <p:cNvGraphicFramePr>
            <a:graphicFrameLocks noGrp="1"/>
          </p:cNvGraphicFramePr>
          <p:nvPr>
            <p:extLst>
              <p:ext uri="{D42A27DB-BD31-4B8C-83A1-F6EECF244321}">
                <p14:modId xmlns:p14="http://schemas.microsoft.com/office/powerpoint/2010/main" val="2256898397"/>
              </p:ext>
            </p:extLst>
          </p:nvPr>
        </p:nvGraphicFramePr>
        <p:xfrm>
          <a:off x="548640" y="1737360"/>
          <a:ext cx="4754880" cy="4023360"/>
        </p:xfrm>
        <a:graphic>
          <a:graphicData uri="http://schemas.openxmlformats.org/drawingml/2006/table">
            <a:tbl>
              <a:tblPr>
                <a:tableStyleId>{616DA210-FB5B-4158-B5E0-FEB733F419BA}</a:tableStyleId>
              </a:tblPr>
              <a:tblGrid>
                <a:gridCol w="26517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365760">
                <a:tc>
                  <a:txBody>
                    <a:bodyPr/>
                    <a:lstStyle/>
                    <a:p>
                      <a:r>
                        <a:rPr sz="1500"/>
                        <a:t>Training Parameter</a:t>
                      </a:r>
                      <a:endParaRPr sz="1500" b="1" i="0">
                        <a:solidFill>
                          <a:srgbClr val="FFFFFF"/>
                        </a:solidFill>
                      </a:endParaRPr>
                    </a:p>
                  </a:txBody>
                  <a:tcPr marL="73152" marR="73152" marT="36576" marB="36576" anchor="ctr"/>
                </a:tc>
                <a:tc>
                  <a:txBody>
                    <a:bodyPr/>
                    <a:lstStyle/>
                    <a:p>
                      <a:r>
                        <a:rPr sz="1500"/>
                        <a:t>Configuration</a:t>
                      </a:r>
                      <a:endParaRPr sz="1500" b="1" i="0">
                        <a:solidFill>
                          <a:srgbClr val="FFFFFF"/>
                        </a:solidFill>
                      </a:endParaRPr>
                    </a:p>
                  </a:txBody>
                  <a:tcPr marL="73152" marR="73152" marT="36576" marB="36576" anchor="ctr"/>
                </a:tc>
                <a:extLst>
                  <a:ext uri="{0D108BD9-81ED-4DB2-BD59-A6C34878D82A}">
                    <a16:rowId xmlns:a16="http://schemas.microsoft.com/office/drawing/2014/main" val="10000"/>
                  </a:ext>
                </a:extLst>
              </a:tr>
              <a:tr h="365760">
                <a:tc>
                  <a:txBody>
                    <a:bodyPr/>
                    <a:lstStyle/>
                    <a:p>
                      <a:r>
                        <a:rPr sz="1500"/>
                        <a:t>Input Image Size</a:t>
                      </a:r>
                      <a:endParaRPr sz="1500" b="1" i="0">
                        <a:solidFill>
                          <a:srgbClr val="000000"/>
                        </a:solidFill>
                      </a:endParaRPr>
                    </a:p>
                  </a:txBody>
                  <a:tcPr marL="73152" marR="73152" marT="36576" marB="36576" anchor="ctr"/>
                </a:tc>
                <a:tc>
                  <a:txBody>
                    <a:bodyPr/>
                    <a:lstStyle/>
                    <a:p>
                      <a:r>
                        <a:rPr sz="1500"/>
                        <a:t>96 × 96</a:t>
                      </a:r>
                      <a:endParaRPr sz="1500" b="0" i="0">
                        <a:solidFill>
                          <a:srgbClr val="000000"/>
                        </a:solidFill>
                      </a:endParaRPr>
                    </a:p>
                  </a:txBody>
                  <a:tcPr marL="73152" marR="73152" marT="36576" marB="36576" anchor="ctr"/>
                </a:tc>
                <a:extLst>
                  <a:ext uri="{0D108BD9-81ED-4DB2-BD59-A6C34878D82A}">
                    <a16:rowId xmlns:a16="http://schemas.microsoft.com/office/drawing/2014/main" val="10001"/>
                  </a:ext>
                </a:extLst>
              </a:tr>
              <a:tr h="365760">
                <a:tc>
                  <a:txBody>
                    <a:bodyPr/>
                    <a:lstStyle/>
                    <a:p>
                      <a:r>
                        <a:rPr sz="1500"/>
                        <a:t>Batch Size</a:t>
                      </a:r>
                      <a:endParaRPr sz="1500" b="1" i="0">
                        <a:solidFill>
                          <a:srgbClr val="000000"/>
                        </a:solidFill>
                      </a:endParaRPr>
                    </a:p>
                  </a:txBody>
                  <a:tcPr marL="73152" marR="73152" marT="36576" marB="36576" anchor="ctr"/>
                </a:tc>
                <a:tc>
                  <a:txBody>
                    <a:bodyPr/>
                    <a:lstStyle/>
                    <a:p>
                      <a:r>
                        <a:rPr sz="1500"/>
                        <a:t>64</a:t>
                      </a:r>
                      <a:endParaRPr sz="1500" b="0" i="0">
                        <a:solidFill>
                          <a:srgbClr val="000000"/>
                        </a:solidFill>
                      </a:endParaRPr>
                    </a:p>
                  </a:txBody>
                  <a:tcPr marL="73152" marR="73152" marT="36576" marB="36576" anchor="ctr"/>
                </a:tc>
                <a:extLst>
                  <a:ext uri="{0D108BD9-81ED-4DB2-BD59-A6C34878D82A}">
                    <a16:rowId xmlns:a16="http://schemas.microsoft.com/office/drawing/2014/main" val="10002"/>
                  </a:ext>
                </a:extLst>
              </a:tr>
              <a:tr h="365760">
                <a:tc>
                  <a:txBody>
                    <a:bodyPr/>
                    <a:lstStyle/>
                    <a:p>
                      <a:r>
                        <a:rPr sz="1500"/>
                        <a:t>Maximum Epochs</a:t>
                      </a:r>
                      <a:endParaRPr sz="1500" b="1" i="0">
                        <a:solidFill>
                          <a:srgbClr val="000000"/>
                        </a:solidFill>
                      </a:endParaRPr>
                    </a:p>
                  </a:txBody>
                  <a:tcPr marL="73152" marR="73152" marT="36576" marB="36576" anchor="ctr"/>
                </a:tc>
                <a:tc>
                  <a:txBody>
                    <a:bodyPr/>
                    <a:lstStyle/>
                    <a:p>
                      <a:r>
                        <a:rPr sz="1500"/>
                        <a:t>30</a:t>
                      </a:r>
                      <a:endParaRPr sz="1500" b="0" i="0">
                        <a:solidFill>
                          <a:srgbClr val="000000"/>
                        </a:solidFill>
                      </a:endParaRPr>
                    </a:p>
                  </a:txBody>
                  <a:tcPr marL="73152" marR="73152" marT="36576" marB="36576" anchor="ctr"/>
                </a:tc>
                <a:extLst>
                  <a:ext uri="{0D108BD9-81ED-4DB2-BD59-A6C34878D82A}">
                    <a16:rowId xmlns:a16="http://schemas.microsoft.com/office/drawing/2014/main" val="10003"/>
                  </a:ext>
                </a:extLst>
              </a:tr>
              <a:tr h="365760">
                <a:tc>
                  <a:txBody>
                    <a:bodyPr/>
                    <a:lstStyle/>
                    <a:p>
                      <a:r>
                        <a:rPr sz="1500"/>
                        <a:t>Initial Learning Rate</a:t>
                      </a:r>
                      <a:endParaRPr sz="1500" b="1" i="0">
                        <a:solidFill>
                          <a:srgbClr val="000000"/>
                        </a:solidFill>
                      </a:endParaRPr>
                    </a:p>
                  </a:txBody>
                  <a:tcPr marL="73152" marR="73152" marT="36576" marB="36576" anchor="ctr"/>
                </a:tc>
                <a:tc>
                  <a:txBody>
                    <a:bodyPr/>
                    <a:lstStyle/>
                    <a:p>
                      <a:r>
                        <a:rPr sz="1500"/>
                        <a:t>0.001</a:t>
                      </a:r>
                      <a:endParaRPr sz="1500" b="0" i="0">
                        <a:solidFill>
                          <a:srgbClr val="000000"/>
                        </a:solidFill>
                      </a:endParaRPr>
                    </a:p>
                  </a:txBody>
                  <a:tcPr marL="73152" marR="73152" marT="36576" marB="36576" anchor="ctr"/>
                </a:tc>
                <a:extLst>
                  <a:ext uri="{0D108BD9-81ED-4DB2-BD59-A6C34878D82A}">
                    <a16:rowId xmlns:a16="http://schemas.microsoft.com/office/drawing/2014/main" val="10004"/>
                  </a:ext>
                </a:extLst>
              </a:tr>
              <a:tr h="365760">
                <a:tc>
                  <a:txBody>
                    <a:bodyPr/>
                    <a:lstStyle/>
                    <a:p>
                      <a:r>
                        <a:rPr sz="1500"/>
                        <a:t>Weight Decay</a:t>
                      </a:r>
                      <a:endParaRPr sz="1500" b="1" i="0">
                        <a:solidFill>
                          <a:srgbClr val="000000"/>
                        </a:solidFill>
                      </a:endParaRPr>
                    </a:p>
                  </a:txBody>
                  <a:tcPr marL="73152" marR="73152" marT="36576" marB="36576" anchor="ctr"/>
                </a:tc>
                <a:tc>
                  <a:txBody>
                    <a:bodyPr/>
                    <a:lstStyle/>
                    <a:p>
                      <a:r>
                        <a:rPr sz="1500"/>
                        <a:t>0.0001</a:t>
                      </a:r>
                      <a:endParaRPr sz="1500" b="0" i="0">
                        <a:solidFill>
                          <a:srgbClr val="000000"/>
                        </a:solidFill>
                      </a:endParaRPr>
                    </a:p>
                  </a:txBody>
                  <a:tcPr marL="73152" marR="73152" marT="36576" marB="36576" anchor="ctr"/>
                </a:tc>
                <a:extLst>
                  <a:ext uri="{0D108BD9-81ED-4DB2-BD59-A6C34878D82A}">
                    <a16:rowId xmlns:a16="http://schemas.microsoft.com/office/drawing/2014/main" val="10005"/>
                  </a:ext>
                </a:extLst>
              </a:tr>
              <a:tr h="365760">
                <a:tc>
                  <a:txBody>
                    <a:bodyPr/>
                    <a:lstStyle/>
                    <a:p>
                      <a:r>
                        <a:rPr sz="1500"/>
                        <a:t>Optimizer</a:t>
                      </a:r>
                      <a:endParaRPr sz="1500" b="1" i="0">
                        <a:solidFill>
                          <a:srgbClr val="000000"/>
                        </a:solidFill>
                      </a:endParaRPr>
                    </a:p>
                  </a:txBody>
                  <a:tcPr marL="73152" marR="73152" marT="36576" marB="36576" anchor="ctr"/>
                </a:tc>
                <a:tc>
                  <a:txBody>
                    <a:bodyPr/>
                    <a:lstStyle/>
                    <a:p>
                      <a:r>
                        <a:rPr sz="1500"/>
                        <a:t>AdamW</a:t>
                      </a:r>
                      <a:endParaRPr sz="1500" b="0" i="0">
                        <a:solidFill>
                          <a:srgbClr val="000000"/>
                        </a:solidFill>
                      </a:endParaRPr>
                    </a:p>
                  </a:txBody>
                  <a:tcPr marL="73152" marR="73152" marT="36576" marB="36576" anchor="ctr"/>
                </a:tc>
                <a:extLst>
                  <a:ext uri="{0D108BD9-81ED-4DB2-BD59-A6C34878D82A}">
                    <a16:rowId xmlns:a16="http://schemas.microsoft.com/office/drawing/2014/main" val="10006"/>
                  </a:ext>
                </a:extLst>
              </a:tr>
              <a:tr h="365760">
                <a:tc>
                  <a:txBody>
                    <a:bodyPr/>
                    <a:lstStyle/>
                    <a:p>
                      <a:r>
                        <a:rPr sz="1500"/>
                        <a:t>LR Scheduler</a:t>
                      </a:r>
                      <a:endParaRPr sz="1500" b="1" i="0">
                        <a:solidFill>
                          <a:srgbClr val="000000"/>
                        </a:solidFill>
                      </a:endParaRPr>
                    </a:p>
                  </a:txBody>
                  <a:tcPr marL="73152" marR="73152" marT="36576" marB="36576" anchor="ctr"/>
                </a:tc>
                <a:tc>
                  <a:txBody>
                    <a:bodyPr/>
                    <a:lstStyle/>
                    <a:p>
                      <a:r>
                        <a:rPr sz="1500"/>
                        <a:t>OneCycleLR</a:t>
                      </a:r>
                      <a:endParaRPr sz="1500" b="0" i="0">
                        <a:solidFill>
                          <a:srgbClr val="000000"/>
                        </a:solidFill>
                      </a:endParaRPr>
                    </a:p>
                  </a:txBody>
                  <a:tcPr marL="73152" marR="73152" marT="36576" marB="36576" anchor="ctr"/>
                </a:tc>
                <a:extLst>
                  <a:ext uri="{0D108BD9-81ED-4DB2-BD59-A6C34878D82A}">
                    <a16:rowId xmlns:a16="http://schemas.microsoft.com/office/drawing/2014/main" val="10007"/>
                  </a:ext>
                </a:extLst>
              </a:tr>
              <a:tr h="365760">
                <a:tc>
                  <a:txBody>
                    <a:bodyPr/>
                    <a:lstStyle/>
                    <a:p>
                      <a:r>
                        <a:rPr sz="1500"/>
                        <a:t>Loss Function</a:t>
                      </a:r>
                      <a:endParaRPr sz="1500" b="1" i="0">
                        <a:solidFill>
                          <a:srgbClr val="000000"/>
                        </a:solidFill>
                      </a:endParaRPr>
                    </a:p>
                  </a:txBody>
                  <a:tcPr marL="73152" marR="73152" marT="36576" marB="36576" anchor="ctr"/>
                </a:tc>
                <a:tc>
                  <a:txBody>
                    <a:bodyPr/>
                    <a:lstStyle/>
                    <a:p>
                      <a:r>
                        <a:rPr sz="1500"/>
                        <a:t>Cross-Entropy</a:t>
                      </a:r>
                      <a:endParaRPr sz="1500" b="0" i="0">
                        <a:solidFill>
                          <a:srgbClr val="000000"/>
                        </a:solidFill>
                      </a:endParaRPr>
                    </a:p>
                  </a:txBody>
                  <a:tcPr marL="73152" marR="73152" marT="36576" marB="36576" anchor="ctr"/>
                </a:tc>
                <a:extLst>
                  <a:ext uri="{0D108BD9-81ED-4DB2-BD59-A6C34878D82A}">
                    <a16:rowId xmlns:a16="http://schemas.microsoft.com/office/drawing/2014/main" val="10008"/>
                  </a:ext>
                </a:extLst>
              </a:tr>
              <a:tr h="365760">
                <a:tc>
                  <a:txBody>
                    <a:bodyPr/>
                    <a:lstStyle/>
                    <a:p>
                      <a:r>
                        <a:rPr sz="1500"/>
                        <a:t>Label Smoothing</a:t>
                      </a:r>
                      <a:endParaRPr sz="1500" b="1" i="0">
                        <a:solidFill>
                          <a:srgbClr val="000000"/>
                        </a:solidFill>
                      </a:endParaRPr>
                    </a:p>
                  </a:txBody>
                  <a:tcPr marL="73152" marR="73152" marT="36576" marB="36576" anchor="ctr"/>
                </a:tc>
                <a:tc>
                  <a:txBody>
                    <a:bodyPr/>
                    <a:lstStyle/>
                    <a:p>
                      <a:r>
                        <a:rPr sz="1500"/>
                        <a:t>0.1</a:t>
                      </a:r>
                      <a:endParaRPr sz="1500" b="0" i="0">
                        <a:solidFill>
                          <a:srgbClr val="000000"/>
                        </a:solidFill>
                      </a:endParaRPr>
                    </a:p>
                  </a:txBody>
                  <a:tcPr marL="73152" marR="73152" marT="36576" marB="36576" anchor="ctr"/>
                </a:tc>
                <a:extLst>
                  <a:ext uri="{0D108BD9-81ED-4DB2-BD59-A6C34878D82A}">
                    <a16:rowId xmlns:a16="http://schemas.microsoft.com/office/drawing/2014/main" val="10009"/>
                  </a:ext>
                </a:extLst>
              </a:tr>
              <a:tr h="365760">
                <a:tc>
                  <a:txBody>
                    <a:bodyPr/>
                    <a:lstStyle/>
                    <a:p>
                      <a:r>
                        <a:rPr sz="1500"/>
                        <a:t>Early Stopping Patience</a:t>
                      </a:r>
                      <a:endParaRPr sz="1500" b="1" i="0">
                        <a:solidFill>
                          <a:srgbClr val="000000"/>
                        </a:solidFill>
                      </a:endParaRPr>
                    </a:p>
                  </a:txBody>
                  <a:tcPr marL="73152" marR="73152" marT="36576" marB="36576" anchor="ctr"/>
                </a:tc>
                <a:tc>
                  <a:txBody>
                    <a:bodyPr/>
                    <a:lstStyle/>
                    <a:p>
                      <a:r>
                        <a:rPr sz="1500" dirty="0"/>
                        <a:t>7</a:t>
                      </a:r>
                      <a:endParaRPr sz="1500" b="0" i="0" dirty="0">
                        <a:solidFill>
                          <a:srgbClr val="000000"/>
                        </a:solidFill>
                      </a:endParaRPr>
                    </a:p>
                  </a:txBody>
                  <a:tcPr marL="73152" marR="73152" marT="36576" marB="36576" anchor="ctr"/>
                </a:tc>
                <a:extLst>
                  <a:ext uri="{0D108BD9-81ED-4DB2-BD59-A6C34878D82A}">
                    <a16:rowId xmlns:a16="http://schemas.microsoft.com/office/drawing/2014/main" val="10010"/>
                  </a:ext>
                </a:extLst>
              </a:tr>
            </a:tbl>
          </a:graphicData>
        </a:graphic>
      </p:graphicFrame>
      <p:sp>
        <p:nvSpPr>
          <p:cNvPr id="8" name="TextBox 7"/>
          <p:cNvSpPr txBox="1"/>
          <p:nvPr/>
        </p:nvSpPr>
        <p:spPr>
          <a:xfrm>
            <a:off x="5577840" y="1280160"/>
            <a:ext cx="6080760" cy="3657600"/>
          </a:xfrm>
          <a:prstGeom prst="rect">
            <a:avLst/>
          </a:prstGeom>
          <a:noFill/>
        </p:spPr>
        <p:txBody>
          <a:bodyPr wrap="square" lIns="45720" tIns="27432" rIns="45720" bIns="27432">
            <a:spAutoFit/>
          </a:bodyPr>
          <a:lstStyle/>
          <a:p>
            <a:pPr marL="256032" indent="-219456">
              <a:spcAft>
                <a:spcPts val="500"/>
              </a:spcAft>
              <a:buFont typeface="Arial"/>
              <a:buChar char="•"/>
            </a:pPr>
            <a:r>
              <a:rPr sz="1600" b="0" i="0"/>
              <a:t>PyTorch, AdamW, fixed random seed </a:t>
            </a:r>
            <a:r>
              <a:rPr sz="1600" b="1" i="0"/>
              <a:t>42</a:t>
            </a:r>
          </a:p>
          <a:p>
            <a:pPr marL="256032" indent="-219456">
              <a:spcAft>
                <a:spcPts val="500"/>
              </a:spcAft>
              <a:buFont typeface="Arial"/>
              <a:buChar char="•"/>
            </a:pPr>
            <a:r>
              <a:rPr sz="1600" b="1" i="0"/>
              <a:t>Baseline:</a:t>
            </a:r>
            <a:r>
              <a:rPr sz="1600" b="0" i="0"/>
              <a:t> ImageNet-pretrained MobileNetV3-Small; global average pooling + classifier for 76 classes; best validation accuracy retained</a:t>
            </a:r>
          </a:p>
          <a:p>
            <a:pPr marL="256032" indent="-219456">
              <a:spcAft>
                <a:spcPts val="500"/>
              </a:spcAft>
              <a:buFont typeface="Arial"/>
              <a:buChar char="•"/>
            </a:pPr>
            <a:r>
              <a:rPr sz="1600" b="1" i="0"/>
              <a:t>SGF-MobileNetV3:</a:t>
            </a:r>
            <a:r>
              <a:rPr sz="1600" b="0" i="0"/>
              <a:t> appearance images + stroke maps; projection to common space; gated fusion; 76-class head</a:t>
            </a:r>
          </a:p>
          <a:p>
            <a:pPr marL="256032" indent="-219456">
              <a:spcAft>
                <a:spcPts val="500"/>
              </a:spcAft>
              <a:buFont typeface="Arial"/>
              <a:buChar char="•"/>
            </a:pPr>
            <a:r>
              <a:rPr sz="1600" b="0" i="0"/>
              <a:t>OneCycle LR schedule; early stopping on validation accuracy (validation loss resolves ties)</a:t>
            </a:r>
          </a:p>
          <a:p>
            <a:pPr marL="256032" indent="-219456">
              <a:spcAft>
                <a:spcPts val="500"/>
              </a:spcAft>
              <a:buFont typeface="Arial"/>
              <a:buChar char="•"/>
            </a:pPr>
            <a:r>
              <a:rPr sz="1600" b="0" i="0"/>
              <a:t>Automatic mixed precision on compatible GPUs; best parameters kept for evaluation and inference</a:t>
            </a:r>
          </a:p>
        </p:txBody>
      </p:sp>
      <p:sp>
        <p:nvSpPr>
          <p:cNvPr id="9" name="Rounded Rectangle 8"/>
          <p:cNvSpPr/>
          <p:nvPr/>
        </p:nvSpPr>
        <p:spPr>
          <a:xfrm>
            <a:off x="5577840" y="4937760"/>
            <a:ext cx="6080760" cy="5486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15000" y="4992624"/>
            <a:ext cx="5074920" cy="411480"/>
          </a:xfrm>
          <a:prstGeom prst="rect">
            <a:avLst/>
          </a:prstGeom>
          <a:noFill/>
        </p:spPr>
        <p:txBody>
          <a:bodyPr wrap="square" lIns="45720" tIns="27432" rIns="45720" bIns="27432" anchor="ctr">
            <a:spAutoFit/>
          </a:bodyPr>
          <a:lstStyle/>
          <a:p>
            <a:pPr marL="0" indent="0">
              <a:spcAft>
                <a:spcPts val="400"/>
              </a:spcAft>
              <a:buNone/>
            </a:pPr>
            <a:r>
              <a:rPr sz="1800" b="0" i="1" dirty="0">
                <a:latin typeface="Cambria"/>
              </a:rPr>
              <a:t>L = − </a:t>
            </a:r>
            <a:r>
              <a:rPr sz="1800" b="0" i="1" dirty="0" err="1">
                <a:latin typeface="Cambria"/>
              </a:rPr>
              <a:t>Σ</a:t>
            </a:r>
            <a:r>
              <a:rPr sz="1800" b="0" i="1" baseline="-25000" dirty="0" err="1">
                <a:latin typeface="Cambria"/>
              </a:rPr>
              <a:t>i</a:t>
            </a:r>
            <a:r>
              <a:rPr sz="1800" b="0" i="1" dirty="0">
                <a:latin typeface="Cambria"/>
              </a:rPr>
              <a:t> </a:t>
            </a:r>
            <a:r>
              <a:rPr sz="1800" b="0" i="1" dirty="0" err="1">
                <a:latin typeface="Cambria"/>
              </a:rPr>
              <a:t>y</a:t>
            </a:r>
            <a:r>
              <a:rPr sz="1800" b="0" i="1" baseline="-25000" dirty="0" err="1">
                <a:latin typeface="Cambria"/>
              </a:rPr>
              <a:t>i</a:t>
            </a:r>
            <a:r>
              <a:rPr sz="1800" b="0" i="1" dirty="0">
                <a:latin typeface="Cambria"/>
              </a:rPr>
              <a:t>^{LS} log(P</a:t>
            </a:r>
            <a:r>
              <a:rPr sz="1800" b="0" i="1" baseline="-25000" dirty="0">
                <a:latin typeface="Cambria"/>
              </a:rPr>
              <a:t>i</a:t>
            </a:r>
            <a:r>
              <a:rPr sz="1800" b="0" i="1" dirty="0">
                <a:latin typeface="Cambria"/>
              </a:rPr>
              <a:t>)</a:t>
            </a:r>
          </a:p>
        </p:txBody>
      </p:sp>
      <p:sp>
        <p:nvSpPr>
          <p:cNvPr id="11" name="TextBox 10"/>
          <p:cNvSpPr txBox="1"/>
          <p:nvPr/>
        </p:nvSpPr>
        <p:spPr>
          <a:xfrm>
            <a:off x="10835640" y="4992624"/>
            <a:ext cx="731520" cy="411480"/>
          </a:xfrm>
          <a:prstGeom prst="rect">
            <a:avLst/>
          </a:prstGeom>
          <a:noFill/>
        </p:spPr>
        <p:txBody>
          <a:bodyPr wrap="square" lIns="45720" tIns="27432" rIns="45720" bIns="27432" anchor="ctr">
            <a:spAutoFit/>
          </a:bodyPr>
          <a:lstStyle/>
          <a:p>
            <a:pPr marL="0" indent="0" algn="r">
              <a:spcAft>
                <a:spcPts val="400"/>
              </a:spcAft>
              <a:buNone/>
            </a:pPr>
            <a:r>
              <a:rPr sz="1600" b="0" i="0"/>
              <a:t>(9)</a:t>
            </a:r>
          </a:p>
        </p:txBody>
      </p:sp>
      <p:sp>
        <p:nvSpPr>
          <p:cNvPr id="12" name="TextBox 11"/>
          <p:cNvSpPr txBox="1"/>
          <p:nvPr/>
        </p:nvSpPr>
        <p:spPr>
          <a:xfrm>
            <a:off x="5577840" y="5532120"/>
            <a:ext cx="6080760" cy="548640"/>
          </a:xfrm>
          <a:prstGeom prst="rect">
            <a:avLst/>
          </a:prstGeom>
          <a:noFill/>
        </p:spPr>
        <p:txBody>
          <a:bodyPr wrap="square" lIns="45720" tIns="27432" rIns="45720" bIns="27432">
            <a:spAutoFit/>
          </a:bodyPr>
          <a:lstStyle/>
          <a:p>
            <a:pPr marL="0" indent="0">
              <a:spcAft>
                <a:spcPts val="400"/>
              </a:spcAft>
              <a:buNone/>
            </a:pPr>
            <a:r>
              <a:rPr sz="1200" b="0" i="0"/>
              <a:t>y</a:t>
            </a:r>
            <a:r>
              <a:rPr sz="1200" b="0" i="0" baseline="-25000"/>
              <a:t>i</a:t>
            </a:r>
            <a:r>
              <a:rPr sz="1200" b="0" i="0"/>
              <a:t>^{LS} = label-smoothed target distribution; P</a:t>
            </a:r>
            <a:r>
              <a:rPr sz="1200" b="0" i="0" baseline="-25000"/>
              <a:t>i</a:t>
            </a:r>
            <a:r>
              <a:rPr sz="1200" b="0" i="0"/>
              <a:t> = predicted probability of class i</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28</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400" dirty="0"/>
              <a:t>Evaluation Metrics and Prediction</a:t>
            </a:r>
          </a:p>
        </p:txBody>
      </p:sp>
      <p:sp>
        <p:nvSpPr>
          <p:cNvPr id="6" name="TextBox 5"/>
          <p:cNvSpPr txBox="1"/>
          <p:nvPr/>
        </p:nvSpPr>
        <p:spPr>
          <a:xfrm>
            <a:off x="548640" y="1280160"/>
            <a:ext cx="5212080" cy="1554480"/>
          </a:xfrm>
          <a:prstGeom prst="rect">
            <a:avLst/>
          </a:prstGeom>
          <a:noFill/>
        </p:spPr>
        <p:txBody>
          <a:bodyPr wrap="square" lIns="45720" tIns="27432" rIns="45720" bIns="27432">
            <a:spAutoFit/>
          </a:bodyPr>
          <a:lstStyle/>
          <a:p>
            <a:pPr marL="256032" indent="-219456">
              <a:spcAft>
                <a:spcPts val="400"/>
              </a:spcAft>
              <a:buFont typeface="Arial"/>
              <a:buChar char="•"/>
            </a:pPr>
            <a:r>
              <a:rPr sz="1700" b="0" i="0"/>
              <a:t>Evaluated on the independent test partition of </a:t>
            </a:r>
            <a:r>
              <a:rPr sz="1700" b="1" i="0"/>
              <a:t>11,020</a:t>
            </a:r>
            <a:r>
              <a:rPr sz="1700" b="0" i="0"/>
              <a:t> images</a:t>
            </a:r>
          </a:p>
          <a:p>
            <a:pPr marL="256032" indent="-219456">
              <a:spcAft>
                <a:spcPts val="400"/>
              </a:spcAft>
              <a:buFont typeface="Arial"/>
              <a:buChar char="•"/>
            </a:pPr>
            <a:r>
              <a:rPr sz="1700" b="0" i="0"/>
              <a:t>Accuracy, precision, recall, F1, weighted F1, top-3 accuracy, classification reports, confusion matrices</a:t>
            </a:r>
          </a:p>
          <a:p>
            <a:pPr marL="256032" indent="-219456">
              <a:spcAft>
                <a:spcPts val="400"/>
              </a:spcAft>
              <a:buFont typeface="Arial"/>
              <a:buChar char="•"/>
            </a:pPr>
            <a:r>
              <a:rPr sz="1700" b="0" i="0"/>
              <a:t>Macro-averaging over the </a:t>
            </a:r>
            <a:r>
              <a:rPr sz="1700" b="1" i="0"/>
              <a:t>76</a:t>
            </a:r>
            <a:r>
              <a:rPr sz="1700" b="0" i="0"/>
              <a:t> classes</a:t>
            </a:r>
          </a:p>
        </p:txBody>
      </p:sp>
      <p:sp>
        <p:nvSpPr>
          <p:cNvPr id="7" name="Rounded Rectangle 6"/>
          <p:cNvSpPr/>
          <p:nvPr/>
        </p:nvSpPr>
        <p:spPr>
          <a:xfrm>
            <a:off x="548640" y="2971800"/>
            <a:ext cx="5394960" cy="19202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3026664"/>
            <a:ext cx="4389120" cy="411480"/>
          </a:xfrm>
          <a:prstGeom prst="rect">
            <a:avLst/>
          </a:prstGeom>
          <a:noFill/>
        </p:spPr>
        <p:txBody>
          <a:bodyPr wrap="square" lIns="45720" tIns="27432" rIns="45720" bIns="27432" anchor="ctr">
            <a:spAutoFit/>
          </a:bodyPr>
          <a:lstStyle/>
          <a:p>
            <a:pPr marL="0" indent="0">
              <a:spcAft>
                <a:spcPts val="400"/>
              </a:spcAft>
              <a:buNone/>
            </a:pPr>
            <a:r>
              <a:rPr sz="1700" b="0" i="1">
                <a:latin typeface="Cambria"/>
              </a:rPr>
              <a:t>Accuracy = Correct Predictions / Total Predictions</a:t>
            </a:r>
          </a:p>
        </p:txBody>
      </p:sp>
      <p:sp>
        <p:nvSpPr>
          <p:cNvPr id="9" name="TextBox 8"/>
          <p:cNvSpPr txBox="1"/>
          <p:nvPr/>
        </p:nvSpPr>
        <p:spPr>
          <a:xfrm>
            <a:off x="5120640" y="3026664"/>
            <a:ext cx="731520" cy="411480"/>
          </a:xfrm>
          <a:prstGeom prst="rect">
            <a:avLst/>
          </a:prstGeom>
          <a:noFill/>
        </p:spPr>
        <p:txBody>
          <a:bodyPr wrap="square" lIns="45720" tIns="27432" rIns="45720" bIns="27432" anchor="ctr">
            <a:spAutoFit/>
          </a:bodyPr>
          <a:lstStyle/>
          <a:p>
            <a:pPr marL="0" indent="0" algn="r">
              <a:spcAft>
                <a:spcPts val="400"/>
              </a:spcAft>
              <a:buNone/>
            </a:pPr>
            <a:r>
              <a:rPr sz="1500" b="0" i="0"/>
              <a:t>(10)</a:t>
            </a:r>
          </a:p>
        </p:txBody>
      </p:sp>
      <p:sp>
        <p:nvSpPr>
          <p:cNvPr id="10" name="TextBox 9"/>
          <p:cNvSpPr txBox="1"/>
          <p:nvPr/>
        </p:nvSpPr>
        <p:spPr>
          <a:xfrm>
            <a:off x="685800" y="3483864"/>
            <a:ext cx="4389120" cy="411480"/>
          </a:xfrm>
          <a:prstGeom prst="rect">
            <a:avLst/>
          </a:prstGeom>
          <a:noFill/>
        </p:spPr>
        <p:txBody>
          <a:bodyPr wrap="square" lIns="45720" tIns="27432" rIns="45720" bIns="27432" anchor="ctr">
            <a:spAutoFit/>
          </a:bodyPr>
          <a:lstStyle/>
          <a:p>
            <a:pPr marL="0" indent="0">
              <a:spcAft>
                <a:spcPts val="400"/>
              </a:spcAft>
              <a:buNone/>
            </a:pPr>
            <a:r>
              <a:rPr sz="1700" b="0" i="1">
                <a:latin typeface="Cambria"/>
              </a:rPr>
              <a:t>Precision = TP / (TP + FP)</a:t>
            </a:r>
          </a:p>
        </p:txBody>
      </p:sp>
      <p:sp>
        <p:nvSpPr>
          <p:cNvPr id="11" name="TextBox 10"/>
          <p:cNvSpPr txBox="1"/>
          <p:nvPr/>
        </p:nvSpPr>
        <p:spPr>
          <a:xfrm>
            <a:off x="5120640" y="3483864"/>
            <a:ext cx="731520" cy="411480"/>
          </a:xfrm>
          <a:prstGeom prst="rect">
            <a:avLst/>
          </a:prstGeom>
          <a:noFill/>
        </p:spPr>
        <p:txBody>
          <a:bodyPr wrap="square" lIns="45720" tIns="27432" rIns="45720" bIns="27432" anchor="ctr">
            <a:spAutoFit/>
          </a:bodyPr>
          <a:lstStyle/>
          <a:p>
            <a:pPr marL="0" indent="0" algn="r">
              <a:spcAft>
                <a:spcPts val="400"/>
              </a:spcAft>
              <a:buNone/>
            </a:pPr>
            <a:r>
              <a:rPr sz="1500" b="0" i="0"/>
              <a:t>(11)</a:t>
            </a:r>
          </a:p>
        </p:txBody>
      </p:sp>
      <p:sp>
        <p:nvSpPr>
          <p:cNvPr id="12" name="TextBox 11"/>
          <p:cNvSpPr txBox="1"/>
          <p:nvPr/>
        </p:nvSpPr>
        <p:spPr>
          <a:xfrm>
            <a:off x="685800" y="3941064"/>
            <a:ext cx="4389120" cy="411480"/>
          </a:xfrm>
          <a:prstGeom prst="rect">
            <a:avLst/>
          </a:prstGeom>
          <a:noFill/>
        </p:spPr>
        <p:txBody>
          <a:bodyPr wrap="square" lIns="45720" tIns="27432" rIns="45720" bIns="27432" anchor="ctr">
            <a:spAutoFit/>
          </a:bodyPr>
          <a:lstStyle/>
          <a:p>
            <a:pPr marL="0" indent="0">
              <a:spcAft>
                <a:spcPts val="400"/>
              </a:spcAft>
              <a:buNone/>
            </a:pPr>
            <a:r>
              <a:rPr sz="1700" b="0" i="1">
                <a:latin typeface="Cambria"/>
              </a:rPr>
              <a:t>Recall = TP / (TP + FN)</a:t>
            </a:r>
          </a:p>
        </p:txBody>
      </p:sp>
      <p:sp>
        <p:nvSpPr>
          <p:cNvPr id="13" name="TextBox 12"/>
          <p:cNvSpPr txBox="1"/>
          <p:nvPr/>
        </p:nvSpPr>
        <p:spPr>
          <a:xfrm>
            <a:off x="5120640" y="3941064"/>
            <a:ext cx="731520" cy="411480"/>
          </a:xfrm>
          <a:prstGeom prst="rect">
            <a:avLst/>
          </a:prstGeom>
          <a:noFill/>
        </p:spPr>
        <p:txBody>
          <a:bodyPr wrap="square" lIns="45720" tIns="27432" rIns="45720" bIns="27432" anchor="ctr">
            <a:spAutoFit/>
          </a:bodyPr>
          <a:lstStyle/>
          <a:p>
            <a:pPr marL="0" indent="0" algn="r">
              <a:spcAft>
                <a:spcPts val="400"/>
              </a:spcAft>
              <a:buNone/>
            </a:pPr>
            <a:r>
              <a:rPr sz="1500" b="0" i="0"/>
              <a:t>(12)</a:t>
            </a:r>
          </a:p>
        </p:txBody>
      </p:sp>
      <p:sp>
        <p:nvSpPr>
          <p:cNvPr id="14" name="TextBox 13"/>
          <p:cNvSpPr txBox="1"/>
          <p:nvPr/>
        </p:nvSpPr>
        <p:spPr>
          <a:xfrm>
            <a:off x="685800" y="4398264"/>
            <a:ext cx="4389120" cy="411480"/>
          </a:xfrm>
          <a:prstGeom prst="rect">
            <a:avLst/>
          </a:prstGeom>
          <a:noFill/>
        </p:spPr>
        <p:txBody>
          <a:bodyPr wrap="square" lIns="45720" tIns="27432" rIns="45720" bIns="27432" anchor="ctr">
            <a:spAutoFit/>
          </a:bodyPr>
          <a:lstStyle/>
          <a:p>
            <a:pPr marL="0" indent="0">
              <a:spcAft>
                <a:spcPts val="400"/>
              </a:spcAft>
              <a:buNone/>
            </a:pPr>
            <a:r>
              <a:rPr sz="1700" b="0" i="1">
                <a:latin typeface="Cambria"/>
              </a:rPr>
              <a:t>F1 = 2 × Precision × Recall / (Precision + Recall)</a:t>
            </a:r>
          </a:p>
        </p:txBody>
      </p:sp>
      <p:sp>
        <p:nvSpPr>
          <p:cNvPr id="15" name="TextBox 14"/>
          <p:cNvSpPr txBox="1"/>
          <p:nvPr/>
        </p:nvSpPr>
        <p:spPr>
          <a:xfrm>
            <a:off x="5120640" y="4398264"/>
            <a:ext cx="731520" cy="411480"/>
          </a:xfrm>
          <a:prstGeom prst="rect">
            <a:avLst/>
          </a:prstGeom>
          <a:noFill/>
        </p:spPr>
        <p:txBody>
          <a:bodyPr wrap="square" lIns="45720" tIns="27432" rIns="45720" bIns="27432" anchor="ctr">
            <a:spAutoFit/>
          </a:bodyPr>
          <a:lstStyle/>
          <a:p>
            <a:pPr marL="0" indent="0" algn="r">
              <a:spcAft>
                <a:spcPts val="400"/>
              </a:spcAft>
              <a:buNone/>
            </a:pPr>
            <a:r>
              <a:rPr sz="1500" b="0" i="0"/>
              <a:t>(13)</a:t>
            </a:r>
          </a:p>
        </p:txBody>
      </p:sp>
      <p:sp>
        <p:nvSpPr>
          <p:cNvPr id="16" name="TextBox 15"/>
          <p:cNvSpPr txBox="1"/>
          <p:nvPr/>
        </p:nvSpPr>
        <p:spPr>
          <a:xfrm>
            <a:off x="548640" y="5029200"/>
            <a:ext cx="5394960" cy="548640"/>
          </a:xfrm>
          <a:prstGeom prst="rect">
            <a:avLst/>
          </a:prstGeom>
          <a:noFill/>
        </p:spPr>
        <p:txBody>
          <a:bodyPr wrap="square" lIns="45720" tIns="27432" rIns="45720" bIns="27432">
            <a:spAutoFit/>
          </a:bodyPr>
          <a:lstStyle/>
          <a:p>
            <a:pPr marL="0" indent="0">
              <a:spcAft>
                <a:spcPts val="400"/>
              </a:spcAft>
              <a:buNone/>
            </a:pPr>
            <a:r>
              <a:rPr sz="1500" b="0" i="0"/>
              <a:t>TP, FP, FN = true positives, false positives, false negatives</a:t>
            </a:r>
          </a:p>
        </p:txBody>
      </p:sp>
      <p:sp>
        <p:nvSpPr>
          <p:cNvPr id="17" name="TextBox 16"/>
          <p:cNvSpPr txBox="1"/>
          <p:nvPr/>
        </p:nvSpPr>
        <p:spPr>
          <a:xfrm>
            <a:off x="6263640" y="1280160"/>
            <a:ext cx="5394960" cy="457200"/>
          </a:xfrm>
          <a:prstGeom prst="rect">
            <a:avLst/>
          </a:prstGeom>
          <a:noFill/>
        </p:spPr>
        <p:txBody>
          <a:bodyPr wrap="square" lIns="45720" tIns="27432" rIns="45720" bIns="27432">
            <a:spAutoFit/>
          </a:bodyPr>
          <a:lstStyle/>
          <a:p>
            <a:pPr marL="0" indent="0">
              <a:spcAft>
                <a:spcPts val="400"/>
              </a:spcAft>
              <a:buNone/>
            </a:pPr>
            <a:r>
              <a:rPr sz="2100" b="1" i="0">
                <a:solidFill>
                  <a:srgbClr val="1F3864"/>
                </a:solidFill>
              </a:rPr>
              <a:t>Character prediction (inference)</a:t>
            </a:r>
          </a:p>
        </p:txBody>
      </p:sp>
      <p:sp>
        <p:nvSpPr>
          <p:cNvPr id="18" name="TextBox 17"/>
          <p:cNvSpPr txBox="1"/>
          <p:nvPr/>
        </p:nvSpPr>
        <p:spPr>
          <a:xfrm>
            <a:off x="6263640" y="1737360"/>
            <a:ext cx="5394960" cy="2468880"/>
          </a:xfrm>
          <a:prstGeom prst="rect">
            <a:avLst/>
          </a:prstGeom>
          <a:noFill/>
        </p:spPr>
        <p:txBody>
          <a:bodyPr wrap="square" lIns="45720" tIns="27432" rIns="45720" bIns="27432">
            <a:spAutoFit/>
          </a:bodyPr>
          <a:lstStyle/>
          <a:p>
            <a:pPr marL="256032" indent="-219456">
              <a:spcAft>
                <a:spcPts val="400"/>
              </a:spcAft>
              <a:buFont typeface="Arial"/>
              <a:buChar char="•"/>
            </a:pPr>
            <a:r>
              <a:rPr sz="1700" b="0" i="0"/>
              <a:t>Input is converted to grayscale, preprocessed, resized, normalized and stroke maps extracted</a:t>
            </a:r>
          </a:p>
          <a:p>
            <a:pPr marL="256032" indent="-219456">
              <a:spcAft>
                <a:spcPts val="400"/>
              </a:spcAft>
              <a:buFont typeface="Arial"/>
              <a:buChar char="•"/>
            </a:pPr>
            <a:r>
              <a:rPr sz="1700" b="0" i="0"/>
              <a:t>SGF-MobileNetV3 gives a probability distribution over 76 classes</a:t>
            </a:r>
          </a:p>
          <a:p>
            <a:pPr marL="256032" indent="-219456">
              <a:spcAft>
                <a:spcPts val="400"/>
              </a:spcAft>
              <a:buFont typeface="Arial"/>
              <a:buChar char="•"/>
            </a:pPr>
            <a:r>
              <a:rPr sz="1700" b="0" i="0"/>
              <a:t>Class index → Telugu Unicode character; </a:t>
            </a:r>
            <a:r>
              <a:rPr sz="1700" b="1" i="0"/>
              <a:t>top-3 alternatives</a:t>
            </a:r>
            <a:r>
              <a:rPr sz="1700" b="0" i="0"/>
              <a:t> reported</a:t>
            </a:r>
          </a:p>
          <a:p>
            <a:pPr marL="256032" indent="-219456">
              <a:spcAft>
                <a:spcPts val="400"/>
              </a:spcAft>
              <a:buFont typeface="Arial"/>
              <a:buChar char="•"/>
            </a:pPr>
            <a:r>
              <a:rPr sz="1700" b="0" i="0"/>
              <a:t>Confidence </a:t>
            </a:r>
            <a:r>
              <a:rPr sz="1700" b="1" i="0"/>
              <a:t>&lt; 0.50</a:t>
            </a:r>
            <a:r>
              <a:rPr sz="1700" b="0" i="0"/>
              <a:t> → marked uncertain for inspection</a:t>
            </a:r>
          </a:p>
        </p:txBody>
      </p:sp>
      <p:sp>
        <p:nvSpPr>
          <p:cNvPr id="19" name="Rounded Rectangle 18"/>
          <p:cNvSpPr/>
          <p:nvPr/>
        </p:nvSpPr>
        <p:spPr>
          <a:xfrm>
            <a:off x="6263640" y="4297680"/>
            <a:ext cx="5394960" cy="10058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4352544"/>
            <a:ext cx="4389120" cy="411480"/>
          </a:xfrm>
          <a:prstGeom prst="rect">
            <a:avLst/>
          </a:prstGeom>
          <a:noFill/>
        </p:spPr>
        <p:txBody>
          <a:bodyPr wrap="square" lIns="45720" tIns="27432" rIns="45720" bIns="27432" anchor="ctr">
            <a:spAutoFit/>
          </a:bodyPr>
          <a:lstStyle/>
          <a:p>
            <a:pPr marL="0" indent="0">
              <a:spcAft>
                <a:spcPts val="400"/>
              </a:spcAft>
              <a:buNone/>
            </a:pPr>
            <a:r>
              <a:rPr sz="1800" b="0" i="1">
                <a:latin typeface="Cambria"/>
              </a:rPr>
              <a:t>ŷ = argmax</a:t>
            </a:r>
            <a:r>
              <a:rPr sz="1800" b="0" i="1" baseline="-25000">
                <a:latin typeface="Cambria"/>
              </a:rPr>
              <a:t>i</a:t>
            </a:r>
            <a:r>
              <a:rPr sz="1800" b="0" i="1">
                <a:latin typeface="Cambria"/>
              </a:rPr>
              <a:t> P(i)</a:t>
            </a:r>
          </a:p>
        </p:txBody>
      </p:sp>
      <p:sp>
        <p:nvSpPr>
          <p:cNvPr id="21" name="TextBox 20"/>
          <p:cNvSpPr txBox="1"/>
          <p:nvPr/>
        </p:nvSpPr>
        <p:spPr>
          <a:xfrm>
            <a:off x="10835640" y="4352544"/>
            <a:ext cx="731520" cy="411480"/>
          </a:xfrm>
          <a:prstGeom prst="rect">
            <a:avLst/>
          </a:prstGeom>
          <a:noFill/>
        </p:spPr>
        <p:txBody>
          <a:bodyPr wrap="square" lIns="45720" tIns="27432" rIns="45720" bIns="27432" anchor="ctr">
            <a:spAutoFit/>
          </a:bodyPr>
          <a:lstStyle/>
          <a:p>
            <a:pPr marL="0" indent="0" algn="r">
              <a:spcAft>
                <a:spcPts val="400"/>
              </a:spcAft>
              <a:buNone/>
            </a:pPr>
            <a:r>
              <a:rPr sz="1600" b="0" i="0"/>
              <a:t>(14)</a:t>
            </a:r>
          </a:p>
        </p:txBody>
      </p:sp>
      <p:sp>
        <p:nvSpPr>
          <p:cNvPr id="22" name="TextBox 21"/>
          <p:cNvSpPr txBox="1"/>
          <p:nvPr/>
        </p:nvSpPr>
        <p:spPr>
          <a:xfrm>
            <a:off x="6400800" y="4809744"/>
            <a:ext cx="4389120" cy="411480"/>
          </a:xfrm>
          <a:prstGeom prst="rect">
            <a:avLst/>
          </a:prstGeom>
          <a:noFill/>
        </p:spPr>
        <p:txBody>
          <a:bodyPr wrap="square" lIns="45720" tIns="27432" rIns="45720" bIns="27432" anchor="ctr">
            <a:spAutoFit/>
          </a:bodyPr>
          <a:lstStyle/>
          <a:p>
            <a:pPr marL="0" indent="0">
              <a:spcAft>
                <a:spcPts val="400"/>
              </a:spcAft>
              <a:buNone/>
            </a:pPr>
            <a:r>
              <a:rPr sz="1800" b="0" i="1">
                <a:latin typeface="Cambria"/>
              </a:rPr>
              <a:t>Confidence = max</a:t>
            </a:r>
            <a:r>
              <a:rPr sz="1800" b="0" i="1" baseline="-25000">
                <a:latin typeface="Cambria"/>
              </a:rPr>
              <a:t>i</a:t>
            </a:r>
            <a:r>
              <a:rPr sz="1800" b="0" i="1">
                <a:latin typeface="Cambria"/>
              </a:rPr>
              <a:t> P(i)</a:t>
            </a:r>
          </a:p>
        </p:txBody>
      </p:sp>
      <p:sp>
        <p:nvSpPr>
          <p:cNvPr id="23" name="TextBox 22"/>
          <p:cNvSpPr txBox="1"/>
          <p:nvPr/>
        </p:nvSpPr>
        <p:spPr>
          <a:xfrm>
            <a:off x="10835640" y="4809744"/>
            <a:ext cx="731520" cy="411480"/>
          </a:xfrm>
          <a:prstGeom prst="rect">
            <a:avLst/>
          </a:prstGeom>
          <a:noFill/>
        </p:spPr>
        <p:txBody>
          <a:bodyPr wrap="square" lIns="45720" tIns="27432" rIns="45720" bIns="27432" anchor="ctr">
            <a:spAutoFit/>
          </a:bodyPr>
          <a:lstStyle/>
          <a:p>
            <a:pPr marL="0" indent="0" algn="r">
              <a:spcAft>
                <a:spcPts val="400"/>
              </a:spcAft>
              <a:buNone/>
            </a:pPr>
            <a:r>
              <a:rPr sz="1600" b="0" i="0"/>
              <a:t>(15)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29</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Input Design</a:t>
            </a:r>
          </a:p>
        </p:txBody>
      </p:sp>
      <p:sp>
        <p:nvSpPr>
          <p:cNvPr id="6" name="TextBox 5"/>
          <p:cNvSpPr txBox="1"/>
          <p:nvPr/>
        </p:nvSpPr>
        <p:spPr>
          <a:xfrm>
            <a:off x="548640" y="1280160"/>
            <a:ext cx="11091672" cy="4937760"/>
          </a:xfrm>
          <a:prstGeom prst="rect">
            <a:avLst/>
          </a:prstGeom>
          <a:noFill/>
        </p:spPr>
        <p:txBody>
          <a:bodyPr wrap="square" lIns="45720" tIns="27432" rIns="45720" bIns="27432">
            <a:spAutoFit/>
          </a:bodyPr>
          <a:lstStyle/>
          <a:p>
            <a:pPr marL="256032" indent="-219456">
              <a:spcAft>
                <a:spcPts val="800"/>
              </a:spcAft>
              <a:buFont typeface="Arial"/>
              <a:buChar char="•"/>
            </a:pPr>
            <a:r>
              <a:rPr sz="1600" b="0" i="0"/>
              <a:t>Application interface: users </a:t>
            </a:r>
            <a:r>
              <a:rPr sz="1600" b="1" i="0"/>
              <a:t>register, log in</a:t>
            </a:r>
            <a:r>
              <a:rPr sz="1600" b="0" i="0"/>
              <a:t> and choose </a:t>
            </a:r>
            <a:r>
              <a:rPr sz="1600" b="1" i="0"/>
              <a:t>Single Character Recognition</a:t>
            </a:r>
            <a:r>
              <a:rPr sz="1600" b="0" i="0"/>
              <a:t> or </a:t>
            </a:r>
            <a:r>
              <a:rPr sz="1600" b="1" i="0"/>
              <a:t>Word Recognition</a:t>
            </a:r>
            <a:r>
              <a:rPr sz="1600" b="0" i="0"/>
              <a:t> (or automatic mode selection)</a:t>
            </a:r>
          </a:p>
          <a:p>
            <a:pPr marL="256032" indent="-219456">
              <a:spcAft>
                <a:spcPts val="800"/>
              </a:spcAft>
              <a:buFont typeface="Arial"/>
              <a:buChar char="•"/>
            </a:pPr>
            <a:r>
              <a:rPr sz="1600" b="0" i="0"/>
              <a:t>Character mode takes one image; word mode takes several separately cropped character images in reading order, with optional natural filename sorting</a:t>
            </a:r>
          </a:p>
          <a:p>
            <a:pPr marL="256032" indent="-219456">
              <a:spcAft>
                <a:spcPts val="800"/>
              </a:spcAft>
              <a:buFont typeface="Arial"/>
              <a:buChar char="•"/>
            </a:pPr>
            <a:r>
              <a:rPr sz="1600" b="0" i="0"/>
              <a:t>Formats: JPG, JPEG, PNG, BMP, WEBP, TIF, TIFF; combined upload up to </a:t>
            </a:r>
            <a:r>
              <a:rPr sz="1600" b="1" i="0"/>
              <a:t>32 MB</a:t>
            </a:r>
            <a:r>
              <a:rPr sz="1600" b="0" i="0"/>
              <a:t>; up to </a:t>
            </a:r>
            <a:r>
              <a:rPr sz="1600" b="1" i="0"/>
              <a:t>40 character images</a:t>
            </a:r>
            <a:r>
              <a:rPr sz="1600" b="0" i="0"/>
              <a:t> per prediction</a:t>
            </a:r>
          </a:p>
          <a:p>
            <a:pPr marL="256032" indent="-219456">
              <a:spcAft>
                <a:spcPts val="800"/>
              </a:spcAft>
              <a:buFont typeface="Arial"/>
              <a:buChar char="•"/>
            </a:pPr>
            <a:r>
              <a:rPr sz="1600" b="0" i="0"/>
              <a:t>Preprocessing: grayscale, polarity correction, ink-region cropping, square padding, </a:t>
            </a:r>
            <a:r>
              <a:rPr sz="1600" b="1" i="0"/>
              <a:t>96 × 96</a:t>
            </a:r>
            <a:r>
              <a:rPr sz="1600" b="0" i="0"/>
              <a:t> resize, noise removal, CLAHE</a:t>
            </a:r>
          </a:p>
          <a:p>
            <a:pPr marL="256032" indent="-219456">
              <a:spcAft>
                <a:spcPts val="800"/>
              </a:spcAft>
              <a:buFont typeface="Arial"/>
              <a:buChar char="•"/>
            </a:pPr>
            <a:r>
              <a:rPr sz="1600" b="0" i="0"/>
              <a:t>SGF-MobileNetV3: appearance branch (MobileNetV3-Small) + stroke branch (skeleton, stroke width, edge magnitude) with gated fusion over </a:t>
            </a:r>
            <a:r>
              <a:rPr sz="1600" b="1" i="0"/>
              <a:t>76</a:t>
            </a:r>
            <a:r>
              <a:rPr sz="1600" b="0" i="0"/>
              <a:t> classes</a:t>
            </a:r>
          </a:p>
          <a:p>
            <a:pPr marL="256032" indent="-219456">
              <a:spcAft>
                <a:spcPts val="800"/>
              </a:spcAft>
              <a:buFont typeface="Arial"/>
              <a:buChar char="•"/>
            </a:pPr>
            <a:r>
              <a:rPr sz="1600" b="0" i="0"/>
              <a:t>Authentication through MySQL credential verification and session handling; uploads stored with unique filenames and removed after prediction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30</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600" dirty="0"/>
              <a:t>Objectives of Input Design</a:t>
            </a:r>
          </a:p>
        </p:txBody>
      </p:sp>
      <p:sp>
        <p:nvSpPr>
          <p:cNvPr id="6" name="TextBox 5"/>
          <p:cNvSpPr txBox="1"/>
          <p:nvPr/>
        </p:nvSpPr>
        <p:spPr>
          <a:xfrm>
            <a:off x="548640" y="1280160"/>
            <a:ext cx="5440680" cy="2748445"/>
          </a:xfrm>
          <a:prstGeom prst="rect">
            <a:avLst/>
          </a:prstGeom>
          <a:noFill/>
        </p:spPr>
        <p:txBody>
          <a:bodyPr wrap="square" lIns="45720" tIns="27432" rIns="45720" bIns="27432">
            <a:spAutoFit/>
          </a:bodyPr>
          <a:lstStyle/>
          <a:p>
            <a:pPr marL="256032" indent="-219456" algn="just">
              <a:spcAft>
                <a:spcPts val="600"/>
              </a:spcAft>
              <a:buFont typeface="Arial"/>
              <a:buChar char="•"/>
            </a:pPr>
            <a:r>
              <a:rPr sz="1500" b="1" i="0" dirty="0"/>
              <a:t>User-friendly interface</a:t>
            </a:r>
            <a:r>
              <a:rPr sz="1500" b="0" i="0" dirty="0"/>
              <a:t> to upload handwritten Telugu character images</a:t>
            </a:r>
          </a:p>
          <a:p>
            <a:pPr marL="256032" indent="-219456" algn="just">
              <a:spcAft>
                <a:spcPts val="600"/>
              </a:spcAft>
              <a:buFont typeface="Arial"/>
              <a:buChar char="•"/>
            </a:pPr>
            <a:r>
              <a:rPr sz="1500" b="1" i="0" dirty="0"/>
              <a:t>Registration and authentication</a:t>
            </a:r>
            <a:r>
              <a:rPr sz="1500" b="0" i="0" dirty="0"/>
              <a:t> with email, password and confirmation checked in MySQL</a:t>
            </a:r>
          </a:p>
          <a:p>
            <a:pPr marL="256032" indent="-219456" algn="just">
              <a:spcAft>
                <a:spcPts val="600"/>
              </a:spcAft>
              <a:buFont typeface="Arial"/>
              <a:buChar char="•"/>
            </a:pPr>
            <a:r>
              <a:rPr sz="1500" b="1" i="0" dirty="0"/>
              <a:t>Multiple recognition modes:</a:t>
            </a:r>
            <a:r>
              <a:rPr sz="1500" b="0" i="0" dirty="0"/>
              <a:t> Single Character, Word, or automatic selection</a:t>
            </a:r>
          </a:p>
          <a:p>
            <a:pPr marL="256032" indent="-219456" algn="just">
              <a:spcAft>
                <a:spcPts val="600"/>
              </a:spcAft>
              <a:buFont typeface="Arial"/>
              <a:buChar char="•"/>
            </a:pPr>
            <a:r>
              <a:rPr sz="1500" b="1" i="0" dirty="0"/>
              <a:t>Supported formats:</a:t>
            </a:r>
            <a:r>
              <a:rPr sz="1500" b="0" i="0" dirty="0"/>
              <a:t> JPG, JPEG, PNG, BMP, WEBP, TIF, TIFF</a:t>
            </a:r>
          </a:p>
          <a:p>
            <a:pPr marL="256032" indent="-219456" algn="just">
              <a:spcAft>
                <a:spcPts val="600"/>
              </a:spcAft>
              <a:buFont typeface="Arial"/>
              <a:buChar char="•"/>
            </a:pPr>
            <a:r>
              <a:rPr sz="1500" b="1" i="0" dirty="0"/>
              <a:t>Grayscale conversion</a:t>
            </a:r>
            <a:r>
              <a:rPr sz="1500" b="0" i="0" dirty="0"/>
              <a:t> and </a:t>
            </a:r>
            <a:r>
              <a:rPr sz="1500" b="1" i="0" dirty="0"/>
              <a:t>ink-region cropping</a:t>
            </a:r>
            <a:r>
              <a:rPr sz="1500" b="0" i="0" dirty="0"/>
              <a:t> to standardize inputs</a:t>
            </a:r>
          </a:p>
          <a:p>
            <a:pPr marL="256032" indent="-219456" algn="just">
              <a:spcAft>
                <a:spcPts val="600"/>
              </a:spcAft>
              <a:buFont typeface="Arial"/>
              <a:buChar char="•"/>
            </a:pPr>
            <a:r>
              <a:rPr sz="1500" b="1" i="0" dirty="0"/>
              <a:t>Resizing and normalization</a:t>
            </a:r>
            <a:r>
              <a:rPr sz="1500" b="0" i="0" dirty="0"/>
              <a:t> to 96 × 96 for MobileNetV3</a:t>
            </a:r>
          </a:p>
        </p:txBody>
      </p:sp>
      <p:sp>
        <p:nvSpPr>
          <p:cNvPr id="7" name="TextBox 6"/>
          <p:cNvSpPr txBox="1"/>
          <p:nvPr/>
        </p:nvSpPr>
        <p:spPr>
          <a:xfrm>
            <a:off x="6217920" y="1280160"/>
            <a:ext cx="5440680" cy="2517612"/>
          </a:xfrm>
          <a:prstGeom prst="rect">
            <a:avLst/>
          </a:prstGeom>
          <a:noFill/>
        </p:spPr>
        <p:txBody>
          <a:bodyPr wrap="square" lIns="45720" tIns="27432" rIns="45720" bIns="27432">
            <a:spAutoFit/>
          </a:bodyPr>
          <a:lstStyle/>
          <a:p>
            <a:pPr marL="256032" indent="-219456" algn="just">
              <a:spcAft>
                <a:spcPts val="600"/>
              </a:spcAft>
              <a:buFont typeface="Arial"/>
              <a:buChar char="•"/>
            </a:pPr>
            <a:r>
              <a:rPr sz="1500" b="1" i="0" dirty="0"/>
              <a:t>Noise removal and contrast enhancement:</a:t>
            </a:r>
            <a:r>
              <a:rPr sz="1500" b="0" i="0" dirty="0"/>
              <a:t> Non-Local Means denoising and CLAHE</a:t>
            </a:r>
          </a:p>
          <a:p>
            <a:pPr marL="256032" indent="-219456" algn="just">
              <a:spcAft>
                <a:spcPts val="600"/>
              </a:spcAft>
              <a:buFont typeface="Arial"/>
              <a:buChar char="•"/>
            </a:pPr>
            <a:r>
              <a:rPr sz="1500" b="1" i="0" dirty="0"/>
              <a:t>Structural stroke extraction</a:t>
            </a:r>
            <a:r>
              <a:rPr sz="1500" b="0" i="0" dirty="0"/>
              <a:t> and </a:t>
            </a:r>
            <a:r>
              <a:rPr sz="1500" b="1" i="0" dirty="0"/>
              <a:t>adaptive feature fusion</a:t>
            </a:r>
          </a:p>
          <a:p>
            <a:pPr marL="256032" indent="-219456" algn="just">
              <a:spcAft>
                <a:spcPts val="600"/>
              </a:spcAft>
              <a:buFont typeface="Arial"/>
              <a:buChar char="•"/>
            </a:pPr>
            <a:r>
              <a:rPr sz="1500" b="1" i="0" dirty="0"/>
              <a:t>Image ordering:</a:t>
            </a:r>
            <a:r>
              <a:rPr sz="1500" b="0" i="0" dirty="0"/>
              <a:t> selected sequence or filename sorting</a:t>
            </a:r>
          </a:p>
          <a:p>
            <a:pPr marL="256032" indent="-219456" algn="just">
              <a:spcAft>
                <a:spcPts val="600"/>
              </a:spcAft>
              <a:buFont typeface="Arial"/>
              <a:buChar char="•"/>
            </a:pPr>
            <a:r>
              <a:rPr sz="1500" b="1" i="0" dirty="0"/>
              <a:t>Input validation:</a:t>
            </a:r>
            <a:r>
              <a:rPr sz="1500" b="0" i="0" dirty="0"/>
              <a:t> images, extensions, modes, readability, model availability</a:t>
            </a:r>
          </a:p>
          <a:p>
            <a:pPr marL="256032" indent="-219456" algn="just">
              <a:spcAft>
                <a:spcPts val="600"/>
              </a:spcAft>
              <a:buFont typeface="Arial"/>
              <a:buChar char="•"/>
            </a:pPr>
            <a:r>
              <a:rPr sz="1500" b="1" i="0" dirty="0"/>
              <a:t>Size limits:</a:t>
            </a:r>
            <a:r>
              <a:rPr sz="1500" b="0" i="0" dirty="0"/>
              <a:t> 32 MB request; 40 images per request</a:t>
            </a:r>
          </a:p>
          <a:p>
            <a:pPr marL="256032" indent="-219456" algn="just">
              <a:spcAft>
                <a:spcPts val="600"/>
              </a:spcAft>
              <a:buFont typeface="Arial"/>
              <a:buChar char="•"/>
            </a:pPr>
            <a:r>
              <a:rPr sz="1500" b="1" i="0" dirty="0"/>
              <a:t>Temporary storage:</a:t>
            </a:r>
            <a:r>
              <a:rPr sz="1500" b="0" i="0" dirty="0"/>
              <a:t> unique secure filenames, automatically deleted after recognition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31</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Output Design</a:t>
            </a:r>
          </a:p>
        </p:txBody>
      </p:sp>
      <p:sp>
        <p:nvSpPr>
          <p:cNvPr id="6" name="TextBox 5"/>
          <p:cNvSpPr txBox="1"/>
          <p:nvPr/>
        </p:nvSpPr>
        <p:spPr>
          <a:xfrm>
            <a:off x="548640" y="1280160"/>
            <a:ext cx="11091672" cy="3212674"/>
          </a:xfrm>
          <a:prstGeom prst="rect">
            <a:avLst/>
          </a:prstGeom>
          <a:noFill/>
        </p:spPr>
        <p:txBody>
          <a:bodyPr wrap="square" lIns="45720" tIns="27432" rIns="45720" bIns="27432">
            <a:spAutoFit/>
          </a:bodyPr>
          <a:lstStyle/>
          <a:p>
            <a:pPr marL="256032" indent="-219456" algn="just">
              <a:spcAft>
                <a:spcPts val="700"/>
              </a:spcAft>
              <a:buFont typeface="Arial"/>
              <a:buChar char="•"/>
            </a:pPr>
            <a:r>
              <a:rPr sz="1600" b="1" i="0" dirty="0"/>
              <a:t>Single Character Recognition:</a:t>
            </a:r>
            <a:r>
              <a:rPr sz="1600" b="0" i="0" dirty="0"/>
              <a:t> Telugu Unicode character, character group, class ID, Unicode code points, confidence percentage and </a:t>
            </a:r>
            <a:r>
              <a:rPr sz="1600" b="1" i="0" dirty="0"/>
              <a:t>top-three alternatives</a:t>
            </a:r>
          </a:p>
          <a:p>
            <a:pPr marL="256032" indent="-219456" algn="just">
              <a:spcAft>
                <a:spcPts val="700"/>
              </a:spcAft>
              <a:buFont typeface="Arial"/>
              <a:buChar char="•"/>
            </a:pPr>
            <a:r>
              <a:rPr sz="1600" b="0" i="0" dirty="0"/>
              <a:t>Predictions below the </a:t>
            </a:r>
            <a:r>
              <a:rPr sz="1600" b="1" i="0" dirty="0"/>
              <a:t>50%</a:t>
            </a:r>
            <a:r>
              <a:rPr sz="1600" b="0" i="0" dirty="0"/>
              <a:t> threshold trigger an uncertainty warning</a:t>
            </a:r>
          </a:p>
          <a:p>
            <a:pPr marL="256032" indent="-219456" algn="just">
              <a:spcAft>
                <a:spcPts val="700"/>
              </a:spcAft>
              <a:buFont typeface="Arial"/>
              <a:buChar char="•"/>
            </a:pPr>
            <a:r>
              <a:rPr sz="1600" b="1" i="0" dirty="0"/>
              <a:t>Structural visualization:</a:t>
            </a:r>
            <a:r>
              <a:rPr sz="1600" b="0" i="0" dirty="0"/>
              <a:t> preprocessed image, skeleton, stroke-width map, edge-magnitude map, and gated-fusion contribution of appearance vs stroke features</a:t>
            </a:r>
          </a:p>
          <a:p>
            <a:pPr marL="256032" indent="-219456" algn="just">
              <a:spcAft>
                <a:spcPts val="700"/>
              </a:spcAft>
              <a:buFont typeface="Arial"/>
              <a:buChar char="•"/>
            </a:pPr>
            <a:r>
              <a:rPr sz="1600" b="1" i="0" dirty="0"/>
              <a:t>Word Recognition:</a:t>
            </a:r>
            <a:r>
              <a:rPr sz="1600" b="0" i="0" dirty="0"/>
              <a:t> raw recognized sequence and dictionary-corrected text (</a:t>
            </a:r>
            <a:r>
              <a:rPr sz="1600" b="0" i="0" dirty="0" err="1"/>
              <a:t>akshara</a:t>
            </a:r>
            <a:r>
              <a:rPr sz="1600" b="0" i="0" dirty="0"/>
              <a:t>-level edit distance), correction information, character-wise confidence, mean / minimum confidence, uncertain positions</a:t>
            </a:r>
          </a:p>
          <a:p>
            <a:pPr marL="256032" indent="-219456" algn="just">
              <a:spcAft>
                <a:spcPts val="700"/>
              </a:spcAft>
              <a:buFont typeface="Arial"/>
              <a:buChar char="•"/>
            </a:pPr>
            <a:r>
              <a:rPr sz="1600" b="1" i="0" dirty="0"/>
              <a:t>Model Performance:</a:t>
            </a:r>
            <a:r>
              <a:rPr sz="1600" b="0" i="0" dirty="0"/>
              <a:t> baseline vs SGF-MobileNetV3 – accuracy, precision, recall, F1, top-3, model size, latency, class-wise and robustness results</a:t>
            </a:r>
          </a:p>
          <a:p>
            <a:pPr marL="256032" indent="-219456" algn="just">
              <a:spcAft>
                <a:spcPts val="700"/>
              </a:spcAft>
              <a:buFont typeface="Arial"/>
              <a:buChar char="•"/>
            </a:pPr>
            <a:r>
              <a:rPr sz="1600" b="0" i="0" dirty="0"/>
              <a:t>Downloadable </a:t>
            </a:r>
            <a:r>
              <a:rPr sz="1600" b="1" i="0" dirty="0"/>
              <a:t>PDF recognition reports</a:t>
            </a:r>
            <a:r>
              <a:rPr sz="1600" b="0" i="0" dirty="0"/>
              <a:t> with recognized text, Unicode, confidence, character-wise results, alternatives and corrections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32</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600" dirty="0"/>
              <a:t>Objectives of Output Design</a:t>
            </a:r>
          </a:p>
        </p:txBody>
      </p:sp>
      <p:sp>
        <p:nvSpPr>
          <p:cNvPr id="6" name="TextBox 5"/>
          <p:cNvSpPr txBox="1"/>
          <p:nvPr/>
        </p:nvSpPr>
        <p:spPr>
          <a:xfrm>
            <a:off x="548640" y="1280160"/>
            <a:ext cx="5440680" cy="2286780"/>
          </a:xfrm>
          <a:prstGeom prst="rect">
            <a:avLst/>
          </a:prstGeom>
          <a:noFill/>
        </p:spPr>
        <p:txBody>
          <a:bodyPr wrap="square" lIns="45720" tIns="27432" rIns="45720" bIns="27432">
            <a:spAutoFit/>
          </a:bodyPr>
          <a:lstStyle/>
          <a:p>
            <a:pPr marL="256032" indent="-219456" algn="just">
              <a:spcAft>
                <a:spcPts val="600"/>
              </a:spcAft>
              <a:buFont typeface="Arial"/>
              <a:buChar char="•"/>
            </a:pPr>
            <a:r>
              <a:rPr sz="1500" b="1" i="0" dirty="0"/>
              <a:t>Clear Unicode display</a:t>
            </a:r>
            <a:r>
              <a:rPr sz="1500" b="0" i="0" dirty="0"/>
              <a:t> of the recognized character and its </a:t>
            </a:r>
            <a:r>
              <a:rPr sz="1500" b="1" i="0" dirty="0"/>
              <a:t>category</a:t>
            </a:r>
            <a:r>
              <a:rPr sz="1500" b="0" i="0" dirty="0"/>
              <a:t> (vowel / consonant / conjunct)</a:t>
            </a:r>
          </a:p>
          <a:p>
            <a:pPr marL="256032" indent="-219456" algn="just">
              <a:spcAft>
                <a:spcPts val="600"/>
              </a:spcAft>
              <a:buFont typeface="Arial"/>
              <a:buChar char="•"/>
            </a:pPr>
            <a:r>
              <a:rPr sz="1500" b="1" i="0" dirty="0"/>
              <a:t>Confidence score</a:t>
            </a:r>
            <a:r>
              <a:rPr sz="1500" b="0" i="0" dirty="0"/>
              <a:t> from the highest </a:t>
            </a:r>
            <a:r>
              <a:rPr sz="1500" b="0" i="0" dirty="0" err="1"/>
              <a:t>Softmax</a:t>
            </a:r>
            <a:r>
              <a:rPr sz="1500" b="0" i="0" dirty="0"/>
              <a:t> probability</a:t>
            </a:r>
          </a:p>
          <a:p>
            <a:pPr marL="256032" indent="-219456" algn="just">
              <a:spcAft>
                <a:spcPts val="600"/>
              </a:spcAft>
              <a:buFont typeface="Arial"/>
              <a:buChar char="•"/>
            </a:pPr>
            <a:r>
              <a:rPr sz="1500" b="1" i="0" dirty="0"/>
              <a:t>Top-three alternatives</a:t>
            </a:r>
            <a:r>
              <a:rPr sz="1500" b="0" i="0" dirty="0"/>
              <a:t> and </a:t>
            </a:r>
            <a:r>
              <a:rPr sz="1500" b="1" i="0" dirty="0"/>
              <a:t>uncertainty indication</a:t>
            </a:r>
            <a:r>
              <a:rPr sz="1500" b="0" i="0" dirty="0"/>
              <a:t> below 50%</a:t>
            </a:r>
          </a:p>
          <a:p>
            <a:pPr marL="256032" indent="-219456" algn="just">
              <a:spcAft>
                <a:spcPts val="600"/>
              </a:spcAft>
              <a:buFont typeface="Arial"/>
              <a:buChar char="•"/>
            </a:pPr>
            <a:r>
              <a:rPr sz="1500" b="1" i="0" dirty="0"/>
              <a:t>Stroke visualization</a:t>
            </a:r>
            <a:r>
              <a:rPr sz="1500" b="0" i="0" dirty="0"/>
              <a:t> and </a:t>
            </a:r>
            <a:r>
              <a:rPr sz="1500" b="1" i="0" dirty="0"/>
              <a:t>preprocessed image</a:t>
            </a:r>
            <a:r>
              <a:rPr sz="1500" b="0" i="0" dirty="0"/>
              <a:t> display</a:t>
            </a:r>
          </a:p>
          <a:p>
            <a:pPr marL="256032" indent="-219456" algn="just">
              <a:spcAft>
                <a:spcPts val="600"/>
              </a:spcAft>
              <a:buFont typeface="Arial"/>
              <a:buChar char="•"/>
            </a:pPr>
            <a:r>
              <a:rPr sz="1500" b="1" i="0" dirty="0"/>
              <a:t>Adaptive gated feature analysis</a:t>
            </a:r>
            <a:r>
              <a:rPr sz="1500" b="0" i="0" dirty="0"/>
              <a:t> of appearance vs stroke contribution</a:t>
            </a:r>
          </a:p>
          <a:p>
            <a:pPr marL="256032" indent="-219456" algn="just">
              <a:spcAft>
                <a:spcPts val="600"/>
              </a:spcAft>
              <a:buFont typeface="Arial"/>
              <a:buChar char="•"/>
            </a:pPr>
            <a:r>
              <a:rPr sz="1500" b="1" i="0" dirty="0"/>
              <a:t>Raw text</a:t>
            </a:r>
            <a:r>
              <a:rPr sz="1500" b="0" i="0" dirty="0"/>
              <a:t> and </a:t>
            </a:r>
            <a:r>
              <a:rPr sz="1500" b="1" i="0" dirty="0"/>
              <a:t>dictionary-based correction</a:t>
            </a:r>
            <a:r>
              <a:rPr sz="1500" b="0" i="0" dirty="0"/>
              <a:t> with edit distance</a:t>
            </a:r>
          </a:p>
        </p:txBody>
      </p:sp>
      <p:sp>
        <p:nvSpPr>
          <p:cNvPr id="7" name="TextBox 6"/>
          <p:cNvSpPr txBox="1"/>
          <p:nvPr/>
        </p:nvSpPr>
        <p:spPr>
          <a:xfrm>
            <a:off x="6217920" y="1280160"/>
            <a:ext cx="5440680" cy="2671501"/>
          </a:xfrm>
          <a:prstGeom prst="rect">
            <a:avLst/>
          </a:prstGeom>
          <a:noFill/>
        </p:spPr>
        <p:txBody>
          <a:bodyPr wrap="square" lIns="45720" tIns="27432" rIns="45720" bIns="27432">
            <a:spAutoFit/>
          </a:bodyPr>
          <a:lstStyle/>
          <a:p>
            <a:pPr marL="256032" indent="-219456" algn="just">
              <a:spcAft>
                <a:spcPts val="600"/>
              </a:spcAft>
              <a:buFont typeface="Arial"/>
              <a:buChar char="•"/>
            </a:pPr>
            <a:r>
              <a:rPr sz="1500" b="1" i="0" dirty="0"/>
              <a:t>Character-wise details:</a:t>
            </a:r>
            <a:r>
              <a:rPr sz="1500" b="0" i="0" dirty="0"/>
              <a:t> position, filename, character, Unicode, confidence, alternatives; mean and minimum confidence; uncertain positions</a:t>
            </a:r>
          </a:p>
          <a:p>
            <a:pPr marL="256032" indent="-219456" algn="just">
              <a:spcAft>
                <a:spcPts val="600"/>
              </a:spcAft>
              <a:buFont typeface="Arial"/>
              <a:buChar char="•"/>
            </a:pPr>
            <a:r>
              <a:rPr sz="1500" b="1" i="0" dirty="0"/>
              <a:t>Processing time</a:t>
            </a:r>
            <a:r>
              <a:rPr sz="1500" b="0" i="0" dirty="0"/>
              <a:t>, model comparison, group-wise and class-wise results, robustness results</a:t>
            </a:r>
          </a:p>
          <a:p>
            <a:pPr marL="256032" indent="-219456" algn="just">
              <a:spcAft>
                <a:spcPts val="600"/>
              </a:spcAft>
              <a:buFont typeface="Arial"/>
              <a:buChar char="•"/>
            </a:pPr>
            <a:r>
              <a:rPr sz="1500" b="1" i="0" dirty="0"/>
              <a:t>PDF report</a:t>
            </a:r>
            <a:r>
              <a:rPr sz="1500" b="0" i="0" dirty="0"/>
              <a:t> and </a:t>
            </a:r>
            <a:r>
              <a:rPr sz="1500" b="1" i="0" dirty="0"/>
              <a:t>user-friendly error messages</a:t>
            </a:r>
          </a:p>
          <a:p>
            <a:pPr marL="256032" indent="-219456" algn="just">
              <a:spcAft>
                <a:spcPts val="600"/>
              </a:spcAft>
              <a:buFont typeface="Arial"/>
              <a:buChar char="•"/>
            </a:pPr>
            <a:r>
              <a:rPr sz="1500" b="1" i="0" dirty="0"/>
              <a:t>Result management:</a:t>
            </a:r>
            <a:r>
              <a:rPr sz="1500" b="0" i="0" dirty="0"/>
              <a:t> unique filenames, periodic cleanup of old files</a:t>
            </a:r>
          </a:p>
          <a:p>
            <a:pPr marL="256032" indent="-219456" algn="just">
              <a:spcAft>
                <a:spcPts val="600"/>
              </a:spcAft>
              <a:buFont typeface="Arial"/>
              <a:buChar char="•"/>
            </a:pPr>
            <a:r>
              <a:rPr sz="1500" b="1" i="0" dirty="0"/>
              <a:t>Reliability warning:</a:t>
            </a:r>
            <a:r>
              <a:rPr sz="1500" b="0" i="0" dirty="0"/>
              <a:t> errors possible for unclear handwriting and similar characters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33</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800" dirty="0"/>
              <a:t>UML Diagrams – Overview</a:t>
            </a:r>
          </a:p>
        </p:txBody>
      </p:sp>
      <p:sp>
        <p:nvSpPr>
          <p:cNvPr id="6" name="TextBox 5"/>
          <p:cNvSpPr txBox="1"/>
          <p:nvPr/>
        </p:nvSpPr>
        <p:spPr>
          <a:xfrm>
            <a:off x="516661" y="1633976"/>
            <a:ext cx="11158678" cy="1517338"/>
          </a:xfrm>
          <a:prstGeom prst="rect">
            <a:avLst/>
          </a:prstGeom>
          <a:noFill/>
        </p:spPr>
        <p:txBody>
          <a:bodyPr wrap="square" lIns="45720" tIns="27432" rIns="45720" bIns="27432">
            <a:spAutoFit/>
          </a:bodyPr>
          <a:lstStyle/>
          <a:p>
            <a:pPr marL="256032" indent="-219456" algn="just">
              <a:spcAft>
                <a:spcPts val="600"/>
              </a:spcAft>
              <a:buFont typeface="Arial"/>
              <a:buChar char="•"/>
            </a:pPr>
            <a:r>
              <a:rPr sz="1700" b="1" i="0" dirty="0"/>
              <a:t>UML</a:t>
            </a:r>
            <a:r>
              <a:rPr sz="1700" b="0" i="0" dirty="0"/>
              <a:t> – Unified Modelling Language: a standardized general-purpose modelling language for object-oriented software engineering, created and managed by the Object Management Group</a:t>
            </a:r>
          </a:p>
          <a:p>
            <a:pPr marL="256032" indent="-219456" algn="just">
              <a:spcAft>
                <a:spcPts val="600"/>
              </a:spcAft>
              <a:buFont typeface="Arial"/>
              <a:buChar char="•"/>
            </a:pPr>
            <a:r>
              <a:rPr sz="1700" b="0" i="0" dirty="0"/>
              <a:t>Comprises a </a:t>
            </a:r>
            <a:r>
              <a:rPr sz="1700" b="1" i="0" dirty="0"/>
              <a:t>meta-model</a:t>
            </a:r>
            <a:r>
              <a:rPr sz="1700" b="0" i="0" dirty="0"/>
              <a:t> and a </a:t>
            </a:r>
            <a:r>
              <a:rPr sz="1700" b="1" i="0" dirty="0"/>
              <a:t>notation</a:t>
            </a:r>
            <a:r>
              <a:rPr sz="1700" b="0" i="0" dirty="0"/>
              <a:t>; used for specifying, visualizing, constructing and documenting software artefacts, and for business modelling</a:t>
            </a:r>
          </a:p>
          <a:p>
            <a:pPr marL="256032" indent="-219456" algn="just">
              <a:spcAft>
                <a:spcPts val="600"/>
              </a:spcAft>
              <a:buFont typeface="Arial"/>
              <a:buChar char="•"/>
            </a:pPr>
            <a:r>
              <a:rPr sz="1700" b="0" i="0" dirty="0"/>
              <a:t>Represents proven engineering practices for modelling large and complex systems; uses mostly graphical notations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34</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Use Case Diagram</a:t>
            </a:r>
          </a:p>
        </p:txBody>
      </p:sp>
      <p:pic>
        <p:nvPicPr>
          <p:cNvPr id="6" name="Picture 5" descr="image4.png"/>
          <p:cNvPicPr>
            <a:picLocks noChangeAspect="1"/>
          </p:cNvPicPr>
          <p:nvPr/>
        </p:nvPicPr>
        <p:blipFill>
          <a:blip r:embed="rId4"/>
          <a:stretch>
            <a:fillRect/>
          </a:stretch>
        </p:blipFill>
        <p:spPr>
          <a:xfrm>
            <a:off x="1501191" y="1234440"/>
            <a:ext cx="2666897" cy="4434840"/>
          </a:xfrm>
          <a:prstGeom prst="rect">
            <a:avLst/>
          </a:prstGeom>
          <a:ln w="9525">
            <a:solidFill>
              <a:srgbClr val="BFBFBF"/>
            </a:solidFill>
          </a:ln>
        </p:spPr>
      </p:pic>
      <p:sp>
        <p:nvSpPr>
          <p:cNvPr id="7" name="TextBox 6"/>
          <p:cNvSpPr txBox="1"/>
          <p:nvPr/>
        </p:nvSpPr>
        <p:spPr>
          <a:xfrm>
            <a:off x="822959" y="5705855"/>
            <a:ext cx="402336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3: Use case diagram</a:t>
            </a:r>
          </a:p>
        </p:txBody>
      </p:sp>
      <p:sp>
        <p:nvSpPr>
          <p:cNvPr id="8" name="TextBox 7"/>
          <p:cNvSpPr txBox="1"/>
          <p:nvPr/>
        </p:nvSpPr>
        <p:spPr>
          <a:xfrm>
            <a:off x="5486400" y="1554480"/>
            <a:ext cx="6172200" cy="1414746"/>
          </a:xfrm>
          <a:prstGeom prst="rect">
            <a:avLst/>
          </a:prstGeom>
          <a:noFill/>
        </p:spPr>
        <p:txBody>
          <a:bodyPr wrap="square" lIns="45720" tIns="27432" rIns="45720" bIns="27432">
            <a:spAutoFit/>
          </a:bodyPr>
          <a:lstStyle/>
          <a:p>
            <a:pPr marL="256032" indent="-219456">
              <a:spcAft>
                <a:spcPts val="1000"/>
              </a:spcAft>
              <a:buFont typeface="Arial"/>
              <a:buChar char="•"/>
            </a:pPr>
            <a:r>
              <a:rPr sz="1600" i="0" dirty="0"/>
              <a:t>Shows how a user interacts with the Telugu handwritten character recognition system</a:t>
            </a:r>
          </a:p>
          <a:p>
            <a:pPr marL="256032" indent="-219456">
              <a:spcAft>
                <a:spcPts val="1000"/>
              </a:spcAft>
              <a:buFont typeface="Arial"/>
              <a:buChar char="•"/>
            </a:pPr>
            <a:r>
              <a:rPr sz="1600" i="0" dirty="0"/>
              <a:t>Use cases: Register, Login, Upload Character Images, Recognize Character, Recognize Word, View Model Performance, Download PDF Report, Logout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35</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Class Diagram</a:t>
            </a:r>
          </a:p>
        </p:txBody>
      </p:sp>
      <p:pic>
        <p:nvPicPr>
          <p:cNvPr id="6" name="Picture 5" descr="image5.png"/>
          <p:cNvPicPr>
            <a:picLocks noChangeAspect="1"/>
          </p:cNvPicPr>
          <p:nvPr/>
        </p:nvPicPr>
        <p:blipFill>
          <a:blip r:embed="rId4"/>
          <a:stretch>
            <a:fillRect/>
          </a:stretch>
        </p:blipFill>
        <p:spPr>
          <a:xfrm>
            <a:off x="548640" y="1413703"/>
            <a:ext cx="6949440" cy="3847712"/>
          </a:xfrm>
          <a:prstGeom prst="rect">
            <a:avLst/>
          </a:prstGeom>
          <a:ln w="9525">
            <a:solidFill>
              <a:srgbClr val="BFBFBF"/>
            </a:solidFill>
          </a:ln>
        </p:spPr>
      </p:pic>
      <p:sp>
        <p:nvSpPr>
          <p:cNvPr id="7" name="TextBox 6"/>
          <p:cNvSpPr txBox="1"/>
          <p:nvPr/>
        </p:nvSpPr>
        <p:spPr>
          <a:xfrm>
            <a:off x="548640" y="5297992"/>
            <a:ext cx="694944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4: Class diagram</a:t>
            </a:r>
          </a:p>
        </p:txBody>
      </p:sp>
      <p:sp>
        <p:nvSpPr>
          <p:cNvPr id="8" name="TextBox 7"/>
          <p:cNvSpPr txBox="1"/>
          <p:nvPr/>
        </p:nvSpPr>
        <p:spPr>
          <a:xfrm>
            <a:off x="7772400" y="1554480"/>
            <a:ext cx="3886200" cy="4114800"/>
          </a:xfrm>
          <a:prstGeom prst="rect">
            <a:avLst/>
          </a:prstGeom>
          <a:noFill/>
        </p:spPr>
        <p:txBody>
          <a:bodyPr wrap="square" lIns="45720" tIns="27432" rIns="45720" bIns="27432">
            <a:spAutoFit/>
          </a:bodyPr>
          <a:lstStyle/>
          <a:p>
            <a:pPr marL="256032" indent="-219456">
              <a:spcAft>
                <a:spcPts val="800"/>
              </a:spcAft>
              <a:buFont typeface="Arial"/>
              <a:buChar char="•"/>
            </a:pPr>
            <a:r>
              <a:rPr sz="1800" b="0" i="0" dirty="0"/>
              <a:t>Main deep learning model classes of the project</a:t>
            </a:r>
          </a:p>
          <a:p>
            <a:pPr marL="256032" indent="-219456">
              <a:spcAft>
                <a:spcPts val="800"/>
              </a:spcAft>
              <a:buFont typeface="Arial"/>
              <a:buChar char="•"/>
            </a:pPr>
            <a:r>
              <a:rPr sz="1800" b="1" i="0" dirty="0"/>
              <a:t>BaselineMNV3</a:t>
            </a:r>
            <a:r>
              <a:rPr sz="1800" b="0" i="0" dirty="0"/>
              <a:t> – baseline MobileNetV3 model</a:t>
            </a:r>
          </a:p>
          <a:p>
            <a:pPr marL="256032" indent="-219456">
              <a:spcAft>
                <a:spcPts val="800"/>
              </a:spcAft>
              <a:buFont typeface="Arial"/>
              <a:buChar char="•"/>
            </a:pPr>
            <a:r>
              <a:rPr sz="1800" b="1" i="0" dirty="0"/>
              <a:t>SGFMobileNetV3</a:t>
            </a:r>
            <a:r>
              <a:rPr sz="1800" b="0" i="0" dirty="0"/>
              <a:t> – proposed model with a dedicated </a:t>
            </a:r>
            <a:r>
              <a:rPr sz="1800" b="1" i="0" dirty="0" err="1"/>
              <a:t>StrokeBranch</a:t>
            </a:r>
            <a:r>
              <a:rPr sz="1800" b="0" i="0" dirty="0"/>
              <a:t> (composition)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36</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Sequence Diagram</a:t>
            </a:r>
          </a:p>
        </p:txBody>
      </p:sp>
      <p:pic>
        <p:nvPicPr>
          <p:cNvPr id="6" name="Picture 5" descr="image6.png"/>
          <p:cNvPicPr>
            <a:picLocks noChangeAspect="1"/>
          </p:cNvPicPr>
          <p:nvPr/>
        </p:nvPicPr>
        <p:blipFill>
          <a:blip r:embed="rId4"/>
          <a:stretch>
            <a:fillRect/>
          </a:stretch>
        </p:blipFill>
        <p:spPr>
          <a:xfrm>
            <a:off x="548640" y="1335369"/>
            <a:ext cx="7315200" cy="4278701"/>
          </a:xfrm>
          <a:prstGeom prst="rect">
            <a:avLst/>
          </a:prstGeom>
          <a:ln w="9525">
            <a:solidFill>
              <a:srgbClr val="BFBFBF"/>
            </a:solidFill>
          </a:ln>
        </p:spPr>
      </p:pic>
      <p:sp>
        <p:nvSpPr>
          <p:cNvPr id="7" name="TextBox 6"/>
          <p:cNvSpPr txBox="1"/>
          <p:nvPr/>
        </p:nvSpPr>
        <p:spPr>
          <a:xfrm>
            <a:off x="548640" y="5650646"/>
            <a:ext cx="731520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5: Sequence diagram</a:t>
            </a:r>
          </a:p>
        </p:txBody>
      </p:sp>
      <p:sp>
        <p:nvSpPr>
          <p:cNvPr id="8" name="TextBox 7"/>
          <p:cNvSpPr txBox="1"/>
          <p:nvPr/>
        </p:nvSpPr>
        <p:spPr>
          <a:xfrm>
            <a:off x="8138160" y="1554480"/>
            <a:ext cx="3520440" cy="4114800"/>
          </a:xfrm>
          <a:prstGeom prst="rect">
            <a:avLst/>
          </a:prstGeom>
          <a:noFill/>
        </p:spPr>
        <p:txBody>
          <a:bodyPr wrap="square" lIns="45720" tIns="27432" rIns="45720" bIns="27432">
            <a:spAutoFit/>
          </a:bodyPr>
          <a:lstStyle/>
          <a:p>
            <a:pPr marL="256032" indent="-219456">
              <a:spcAft>
                <a:spcPts val="800"/>
              </a:spcAft>
              <a:buFont typeface="Arial"/>
              <a:buChar char="•"/>
            </a:pPr>
            <a:r>
              <a:rPr sz="1700" b="0" i="0" dirty="0"/>
              <a:t>Order of interactions between the </a:t>
            </a:r>
            <a:r>
              <a:rPr sz="1700" b="1" i="0" dirty="0"/>
              <a:t>user, Flask application, preprocessing utilities and recognition model</a:t>
            </a:r>
          </a:p>
          <a:p>
            <a:pPr marL="256032" indent="-219456">
              <a:spcAft>
                <a:spcPts val="800"/>
              </a:spcAft>
              <a:buFont typeface="Arial"/>
              <a:buChar char="•"/>
            </a:pPr>
            <a:r>
              <a:rPr sz="1700" b="0" i="0" dirty="0"/>
              <a:t>Uploaded character images are processed and converted into Telugu text with confidence scores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37</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Collaboration Diagram</a:t>
            </a:r>
          </a:p>
        </p:txBody>
      </p:sp>
      <p:pic>
        <p:nvPicPr>
          <p:cNvPr id="6" name="Picture 5" descr="image7.png"/>
          <p:cNvPicPr>
            <a:picLocks noChangeAspect="1"/>
          </p:cNvPicPr>
          <p:nvPr/>
        </p:nvPicPr>
        <p:blipFill>
          <a:blip r:embed="rId4"/>
          <a:stretch>
            <a:fillRect/>
          </a:stretch>
        </p:blipFill>
        <p:spPr>
          <a:xfrm>
            <a:off x="548640" y="1655515"/>
            <a:ext cx="7315200" cy="3364088"/>
          </a:xfrm>
          <a:prstGeom prst="rect">
            <a:avLst/>
          </a:prstGeom>
          <a:ln w="9525">
            <a:solidFill>
              <a:srgbClr val="BFBFBF"/>
            </a:solidFill>
          </a:ln>
        </p:spPr>
      </p:pic>
      <p:sp>
        <p:nvSpPr>
          <p:cNvPr id="7" name="TextBox 6"/>
          <p:cNvSpPr txBox="1"/>
          <p:nvPr/>
        </p:nvSpPr>
        <p:spPr>
          <a:xfrm>
            <a:off x="548640" y="5056180"/>
            <a:ext cx="731520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6: Collaboration diagram</a:t>
            </a:r>
          </a:p>
        </p:txBody>
      </p:sp>
      <p:sp>
        <p:nvSpPr>
          <p:cNvPr id="8" name="TextBox 7"/>
          <p:cNvSpPr txBox="1"/>
          <p:nvPr/>
        </p:nvSpPr>
        <p:spPr>
          <a:xfrm>
            <a:off x="8138160" y="1554480"/>
            <a:ext cx="3520440" cy="4114800"/>
          </a:xfrm>
          <a:prstGeom prst="rect">
            <a:avLst/>
          </a:prstGeom>
          <a:noFill/>
        </p:spPr>
        <p:txBody>
          <a:bodyPr wrap="square" lIns="45720" tIns="27432" rIns="45720" bIns="27432">
            <a:spAutoFit/>
          </a:bodyPr>
          <a:lstStyle/>
          <a:p>
            <a:pPr marL="256032" indent="-219456">
              <a:spcAft>
                <a:spcPts val="800"/>
              </a:spcAft>
              <a:buFont typeface="Arial"/>
              <a:buChar char="•"/>
            </a:pPr>
            <a:r>
              <a:rPr sz="1700" b="0" i="0"/>
              <a:t>Communication among the main components in Telugu character recognition</a:t>
            </a:r>
          </a:p>
          <a:p>
            <a:pPr marL="256032" indent="-219456">
              <a:spcAft>
                <a:spcPts val="800"/>
              </a:spcAft>
              <a:buFont typeface="Arial"/>
              <a:buChar char="•"/>
            </a:pPr>
            <a:r>
              <a:rPr sz="1700" b="0" i="0"/>
              <a:t>The user request travels through </a:t>
            </a:r>
            <a:r>
              <a:rPr sz="1700" b="1" i="0"/>
              <a:t>preprocessing, classification and Unicode conversion</a:t>
            </a:r>
            <a:r>
              <a:rPr sz="1700" b="0" i="0"/>
              <a:t> before the result returns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38</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400" dirty="0"/>
              <a:t>Deployment and ER Diagrams</a:t>
            </a:r>
          </a:p>
        </p:txBody>
      </p:sp>
      <p:sp>
        <p:nvSpPr>
          <p:cNvPr id="6" name="TextBox 5"/>
          <p:cNvSpPr txBox="1"/>
          <p:nvPr/>
        </p:nvSpPr>
        <p:spPr>
          <a:xfrm>
            <a:off x="548640" y="1234440"/>
            <a:ext cx="11091672" cy="457200"/>
          </a:xfrm>
          <a:prstGeom prst="rect">
            <a:avLst/>
          </a:prstGeom>
          <a:noFill/>
        </p:spPr>
        <p:txBody>
          <a:bodyPr wrap="square" lIns="45720" tIns="27432" rIns="45720" bIns="27432">
            <a:spAutoFit/>
          </a:bodyPr>
          <a:lstStyle/>
          <a:p>
            <a:pPr marL="0" indent="0">
              <a:spcAft>
                <a:spcPts val="400"/>
              </a:spcAft>
              <a:buNone/>
            </a:pPr>
            <a:r>
              <a:rPr sz="2000" b="1" i="0">
                <a:solidFill>
                  <a:srgbClr val="1F3864"/>
                </a:solidFill>
              </a:rPr>
              <a:t>7.1.3.4 Deployment diagram</a:t>
            </a:r>
          </a:p>
        </p:txBody>
      </p:sp>
      <p:pic>
        <p:nvPicPr>
          <p:cNvPr id="7" name="Picture 6" descr="image8.png"/>
          <p:cNvPicPr>
            <a:picLocks noChangeAspect="1"/>
          </p:cNvPicPr>
          <p:nvPr/>
        </p:nvPicPr>
        <p:blipFill>
          <a:blip r:embed="rId4"/>
          <a:stretch>
            <a:fillRect/>
          </a:stretch>
        </p:blipFill>
        <p:spPr>
          <a:xfrm>
            <a:off x="548640" y="1656550"/>
            <a:ext cx="6675120" cy="1716098"/>
          </a:xfrm>
          <a:prstGeom prst="rect">
            <a:avLst/>
          </a:prstGeom>
          <a:ln w="9525">
            <a:solidFill>
              <a:srgbClr val="BFBFBF"/>
            </a:solidFill>
          </a:ln>
        </p:spPr>
      </p:pic>
      <p:sp>
        <p:nvSpPr>
          <p:cNvPr id="8" name="TextBox 7"/>
          <p:cNvSpPr txBox="1"/>
          <p:nvPr/>
        </p:nvSpPr>
        <p:spPr>
          <a:xfrm>
            <a:off x="548640" y="3409225"/>
            <a:ext cx="667512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7: Deployment diagram</a:t>
            </a:r>
          </a:p>
        </p:txBody>
      </p:sp>
      <p:sp>
        <p:nvSpPr>
          <p:cNvPr id="9" name="TextBox 8"/>
          <p:cNvSpPr txBox="1"/>
          <p:nvPr/>
        </p:nvSpPr>
        <p:spPr>
          <a:xfrm>
            <a:off x="7498079" y="1691640"/>
            <a:ext cx="4160520" cy="1828800"/>
          </a:xfrm>
          <a:prstGeom prst="rect">
            <a:avLst/>
          </a:prstGeom>
          <a:noFill/>
        </p:spPr>
        <p:txBody>
          <a:bodyPr wrap="square" lIns="45720" tIns="27432" rIns="45720" bIns="27432">
            <a:spAutoFit/>
          </a:bodyPr>
          <a:lstStyle/>
          <a:p>
            <a:pPr marL="0" indent="0">
              <a:spcAft>
                <a:spcPts val="400"/>
              </a:spcAft>
              <a:buNone/>
            </a:pPr>
            <a:r>
              <a:rPr sz="1600" b="0" i="0"/>
              <a:t>User’s browser communicates with the Flask application and its resources: PyTorch recognition model, saved model files, PDF reports and MySQL database.</a:t>
            </a:r>
          </a:p>
        </p:txBody>
      </p:sp>
      <p:sp>
        <p:nvSpPr>
          <p:cNvPr id="10" name="TextBox 9"/>
          <p:cNvSpPr txBox="1"/>
          <p:nvPr/>
        </p:nvSpPr>
        <p:spPr>
          <a:xfrm>
            <a:off x="548640" y="3794760"/>
            <a:ext cx="11091672" cy="457200"/>
          </a:xfrm>
          <a:prstGeom prst="rect">
            <a:avLst/>
          </a:prstGeom>
          <a:noFill/>
        </p:spPr>
        <p:txBody>
          <a:bodyPr wrap="square" lIns="45720" tIns="27432" rIns="45720" bIns="27432">
            <a:spAutoFit/>
          </a:bodyPr>
          <a:lstStyle/>
          <a:p>
            <a:pPr marL="0" indent="0">
              <a:spcAft>
                <a:spcPts val="400"/>
              </a:spcAft>
              <a:buNone/>
            </a:pPr>
            <a:r>
              <a:rPr sz="2000" b="1" i="0">
                <a:solidFill>
                  <a:srgbClr val="1F3864"/>
                </a:solidFill>
              </a:rPr>
              <a:t>7.1.3.7 ER diagram</a:t>
            </a:r>
          </a:p>
        </p:txBody>
      </p:sp>
      <p:pic>
        <p:nvPicPr>
          <p:cNvPr id="11" name="Picture 10" descr="image10.png"/>
          <p:cNvPicPr>
            <a:picLocks noChangeAspect="1"/>
          </p:cNvPicPr>
          <p:nvPr/>
        </p:nvPicPr>
        <p:blipFill>
          <a:blip r:embed="rId5"/>
          <a:stretch>
            <a:fillRect/>
          </a:stretch>
        </p:blipFill>
        <p:spPr>
          <a:xfrm>
            <a:off x="548640" y="4247735"/>
            <a:ext cx="4572000" cy="1105728"/>
          </a:xfrm>
          <a:prstGeom prst="rect">
            <a:avLst/>
          </a:prstGeom>
          <a:ln w="9525">
            <a:solidFill>
              <a:srgbClr val="BFBFBF"/>
            </a:solidFill>
          </a:ln>
        </p:spPr>
      </p:pic>
      <p:sp>
        <p:nvSpPr>
          <p:cNvPr id="12" name="TextBox 11"/>
          <p:cNvSpPr txBox="1"/>
          <p:nvPr/>
        </p:nvSpPr>
        <p:spPr>
          <a:xfrm>
            <a:off x="548640" y="5390040"/>
            <a:ext cx="457200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8: ER diagram</a:t>
            </a:r>
          </a:p>
        </p:txBody>
      </p:sp>
      <p:sp>
        <p:nvSpPr>
          <p:cNvPr id="13" name="TextBox 12"/>
          <p:cNvSpPr txBox="1"/>
          <p:nvPr/>
        </p:nvSpPr>
        <p:spPr>
          <a:xfrm>
            <a:off x="5486400" y="4206240"/>
            <a:ext cx="6172200" cy="1554480"/>
          </a:xfrm>
          <a:prstGeom prst="rect">
            <a:avLst/>
          </a:prstGeom>
          <a:noFill/>
        </p:spPr>
        <p:txBody>
          <a:bodyPr wrap="square" lIns="45720" tIns="27432" rIns="45720" bIns="27432">
            <a:spAutoFit/>
          </a:bodyPr>
          <a:lstStyle/>
          <a:p>
            <a:pPr marL="0" indent="0">
              <a:spcAft>
                <a:spcPts val="400"/>
              </a:spcAft>
              <a:buNone/>
            </a:pPr>
            <a:r>
              <a:rPr sz="1600" b="0" i="0"/>
              <a:t>Database structure for registration and authentication: a MySQL </a:t>
            </a:r>
            <a:r>
              <a:rPr sz="1600" b="1" i="0"/>
              <a:t>users</a:t>
            </a:r>
            <a:r>
              <a:rPr sz="1600" b="0" i="0"/>
              <a:t> table with </a:t>
            </a:r>
            <a:r>
              <a:rPr sz="1600" b="1" i="0"/>
              <a:t>email</a:t>
            </a:r>
            <a:r>
              <a:rPr sz="1600" b="0" i="0"/>
              <a:t> and </a:t>
            </a:r>
            <a:r>
              <a:rPr sz="1600" b="1" i="0"/>
              <a:t>password</a:t>
            </a:r>
            <a:r>
              <a:rPr sz="1600" b="0" i="0"/>
              <a:t> fields. Predictions and reports are not stored as relational database records.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39</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Activity Diagram</a:t>
            </a:r>
          </a:p>
        </p:txBody>
      </p:sp>
      <p:pic>
        <p:nvPicPr>
          <p:cNvPr id="6" name="Picture 5" descr="image9.png"/>
          <p:cNvPicPr>
            <a:picLocks noChangeAspect="1"/>
          </p:cNvPicPr>
          <p:nvPr/>
        </p:nvPicPr>
        <p:blipFill>
          <a:blip r:embed="rId4"/>
          <a:stretch>
            <a:fillRect/>
          </a:stretch>
        </p:blipFill>
        <p:spPr>
          <a:xfrm>
            <a:off x="1423090" y="1234440"/>
            <a:ext cx="2274459" cy="4434840"/>
          </a:xfrm>
          <a:prstGeom prst="rect">
            <a:avLst/>
          </a:prstGeom>
          <a:ln w="9525">
            <a:solidFill>
              <a:srgbClr val="BFBFBF"/>
            </a:solidFill>
          </a:ln>
        </p:spPr>
      </p:pic>
      <p:sp>
        <p:nvSpPr>
          <p:cNvPr id="7" name="TextBox 6"/>
          <p:cNvSpPr txBox="1"/>
          <p:nvPr/>
        </p:nvSpPr>
        <p:spPr>
          <a:xfrm>
            <a:off x="548640" y="5852160"/>
            <a:ext cx="4023360" cy="27432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9: Activity diagram</a:t>
            </a:r>
          </a:p>
        </p:txBody>
      </p:sp>
      <p:sp>
        <p:nvSpPr>
          <p:cNvPr id="8" name="TextBox 7"/>
          <p:cNvSpPr txBox="1"/>
          <p:nvPr/>
        </p:nvSpPr>
        <p:spPr>
          <a:xfrm>
            <a:off x="5120640" y="1554480"/>
            <a:ext cx="6537960" cy="2035429"/>
          </a:xfrm>
          <a:prstGeom prst="rect">
            <a:avLst/>
          </a:prstGeom>
          <a:noFill/>
        </p:spPr>
        <p:txBody>
          <a:bodyPr wrap="square" lIns="45720" tIns="27432" rIns="45720" bIns="27432">
            <a:spAutoFit/>
          </a:bodyPr>
          <a:lstStyle/>
          <a:p>
            <a:pPr marL="256032" indent="-219456">
              <a:spcAft>
                <a:spcPts val="1000"/>
              </a:spcAft>
              <a:buFont typeface="Arial"/>
              <a:buChar char="•"/>
            </a:pPr>
            <a:r>
              <a:rPr sz="1600" b="0" i="0" dirty="0"/>
              <a:t>Step-by-step process of recognizing handwritten Telugu characters and word sequences</a:t>
            </a:r>
          </a:p>
          <a:p>
            <a:pPr marL="256032" indent="-219456">
              <a:spcAft>
                <a:spcPts val="1000"/>
              </a:spcAft>
              <a:buFont typeface="Arial"/>
              <a:buChar char="•"/>
            </a:pPr>
            <a:r>
              <a:rPr sz="1600" b="0" i="0" dirty="0"/>
              <a:t>Includes </a:t>
            </a:r>
            <a:r>
              <a:rPr sz="1600" b="1" i="0" dirty="0"/>
              <a:t>image validation</a:t>
            </a:r>
            <a:r>
              <a:rPr sz="1600" b="0" i="0" dirty="0"/>
              <a:t> (invalid images → error message), </a:t>
            </a:r>
            <a:r>
              <a:rPr sz="1600" b="1" i="0" dirty="0"/>
              <a:t>preprocessing</a:t>
            </a:r>
            <a:r>
              <a:rPr sz="1600" b="0" i="0" dirty="0"/>
              <a:t>, </a:t>
            </a:r>
            <a:r>
              <a:rPr sz="1600" b="1" i="0" dirty="0"/>
              <a:t>stroke extraction</a:t>
            </a:r>
            <a:r>
              <a:rPr sz="1600" b="0" i="0" dirty="0"/>
              <a:t>, </a:t>
            </a:r>
            <a:r>
              <a:rPr sz="1600" b="1" i="0" dirty="0"/>
              <a:t>classification</a:t>
            </a:r>
            <a:r>
              <a:rPr sz="1600" b="0" i="0" dirty="0"/>
              <a:t>, </a:t>
            </a:r>
            <a:r>
              <a:rPr sz="1600" b="1" i="0" dirty="0"/>
              <a:t>Unicode conversion</a:t>
            </a:r>
            <a:r>
              <a:rPr sz="1600" b="0" i="0" dirty="0"/>
              <a:t> and </a:t>
            </a:r>
            <a:r>
              <a:rPr sz="1600" b="1" i="0" dirty="0"/>
              <a:t>result generation</a:t>
            </a:r>
          </a:p>
          <a:p>
            <a:pPr marL="256032" indent="-219456">
              <a:spcAft>
                <a:spcPts val="1000"/>
              </a:spcAft>
              <a:buFont typeface="Arial"/>
              <a:buChar char="•"/>
            </a:pPr>
            <a:r>
              <a:rPr sz="1600" b="0" i="0" dirty="0"/>
              <a:t>Word mode combines recognized characters and applies </a:t>
            </a:r>
            <a:r>
              <a:rPr sz="1600" b="1" i="0" dirty="0"/>
              <a:t>dictionary-based correction</a:t>
            </a:r>
            <a:r>
              <a:rPr sz="1600" b="0" i="0" dirty="0"/>
              <a:t> before confidence calculation, result display and PDF generation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40</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Data Flow Diagrams</a:t>
            </a:r>
          </a:p>
        </p:txBody>
      </p:sp>
      <p:pic>
        <p:nvPicPr>
          <p:cNvPr id="6" name="Picture 5" descr="image12.png"/>
          <p:cNvPicPr>
            <a:picLocks noChangeAspect="1"/>
          </p:cNvPicPr>
          <p:nvPr/>
        </p:nvPicPr>
        <p:blipFill>
          <a:blip r:embed="rId4"/>
          <a:stretch>
            <a:fillRect/>
          </a:stretch>
        </p:blipFill>
        <p:spPr>
          <a:xfrm>
            <a:off x="548640" y="1375877"/>
            <a:ext cx="4572000" cy="4197684"/>
          </a:xfrm>
          <a:prstGeom prst="rect">
            <a:avLst/>
          </a:prstGeom>
          <a:ln w="9525">
            <a:solidFill>
              <a:srgbClr val="BFBFBF"/>
            </a:solidFill>
          </a:ln>
        </p:spPr>
      </p:pic>
      <p:sp>
        <p:nvSpPr>
          <p:cNvPr id="7" name="TextBox 6"/>
          <p:cNvSpPr txBox="1"/>
          <p:nvPr/>
        </p:nvSpPr>
        <p:spPr>
          <a:xfrm>
            <a:off x="548640" y="5610138"/>
            <a:ext cx="457200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11: DFD Level 2</a:t>
            </a:r>
          </a:p>
        </p:txBody>
      </p:sp>
      <p:pic>
        <p:nvPicPr>
          <p:cNvPr id="8" name="Picture 7" descr="image11.png"/>
          <p:cNvPicPr>
            <a:picLocks noChangeAspect="1"/>
          </p:cNvPicPr>
          <p:nvPr/>
        </p:nvPicPr>
        <p:blipFill>
          <a:blip r:embed="rId5"/>
          <a:stretch>
            <a:fillRect/>
          </a:stretch>
        </p:blipFill>
        <p:spPr>
          <a:xfrm>
            <a:off x="5508377" y="1325880"/>
            <a:ext cx="6128245" cy="2011680"/>
          </a:xfrm>
          <a:prstGeom prst="rect">
            <a:avLst/>
          </a:prstGeom>
          <a:ln w="9525">
            <a:solidFill>
              <a:srgbClr val="BFBFBF"/>
            </a:solidFill>
          </a:ln>
        </p:spPr>
      </p:pic>
      <p:sp>
        <p:nvSpPr>
          <p:cNvPr id="9" name="TextBox 8"/>
          <p:cNvSpPr txBox="1"/>
          <p:nvPr/>
        </p:nvSpPr>
        <p:spPr>
          <a:xfrm>
            <a:off x="5486400" y="3374136"/>
            <a:ext cx="617220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10: DFD Level 1</a:t>
            </a:r>
          </a:p>
        </p:txBody>
      </p:sp>
      <p:sp>
        <p:nvSpPr>
          <p:cNvPr id="10" name="TextBox 9"/>
          <p:cNvSpPr txBox="1"/>
          <p:nvPr/>
        </p:nvSpPr>
        <p:spPr>
          <a:xfrm>
            <a:off x="5486400" y="3657600"/>
            <a:ext cx="6172200" cy="2560320"/>
          </a:xfrm>
          <a:prstGeom prst="rect">
            <a:avLst/>
          </a:prstGeom>
          <a:noFill/>
        </p:spPr>
        <p:txBody>
          <a:bodyPr wrap="square" lIns="45720" tIns="27432" rIns="45720" bIns="27432">
            <a:spAutoFit/>
          </a:bodyPr>
          <a:lstStyle/>
          <a:p>
            <a:pPr marL="256032" indent="-219456">
              <a:spcAft>
                <a:spcPts val="600"/>
              </a:spcAft>
              <a:buFont typeface="Arial"/>
              <a:buChar char="•"/>
            </a:pPr>
            <a:r>
              <a:rPr sz="1600" b="1" i="0"/>
              <a:t>Level 1:</a:t>
            </a:r>
            <a:r>
              <a:rPr sz="1600" b="0" i="0"/>
              <a:t> major processes – user authentication, image recognition, result generation; interactions with model files and the database</a:t>
            </a:r>
          </a:p>
          <a:p>
            <a:pPr marL="256032" indent="-219456">
              <a:spcAft>
                <a:spcPts val="600"/>
              </a:spcAft>
              <a:buFont typeface="Arial"/>
              <a:buChar char="•"/>
            </a:pPr>
            <a:r>
              <a:rPr sz="1600" b="1" i="0"/>
              <a:t>Level 2:</a:t>
            </a:r>
            <a:r>
              <a:rPr sz="1600" b="0" i="0"/>
              <a:t> internals of the character recognition module – image validation, preprocessing, parallel appearance and stroke extraction, gated classification, Unicode conversion and output generation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41</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System Workflow</a:t>
            </a:r>
          </a:p>
        </p:txBody>
      </p:sp>
      <p:sp>
        <p:nvSpPr>
          <p:cNvPr id="6" name="TextBox 5"/>
          <p:cNvSpPr txBox="1"/>
          <p:nvPr/>
        </p:nvSpPr>
        <p:spPr>
          <a:xfrm>
            <a:off x="548640" y="1280160"/>
            <a:ext cx="11091672" cy="1280160"/>
          </a:xfrm>
          <a:prstGeom prst="rect">
            <a:avLst/>
          </a:prstGeom>
          <a:noFill/>
        </p:spPr>
        <p:txBody>
          <a:bodyPr wrap="square" lIns="45720" tIns="27432" rIns="45720" bIns="27432">
            <a:spAutoFit/>
          </a:bodyPr>
          <a:lstStyle/>
          <a:p>
            <a:pPr marL="0" indent="0">
              <a:spcAft>
                <a:spcPts val="400"/>
              </a:spcAft>
              <a:buNone/>
            </a:pPr>
            <a:r>
              <a:rPr sz="1700" b="0" i="0"/>
              <a:t>Complete process of Telugu handwritten character recognition using </a:t>
            </a:r>
            <a:r>
              <a:rPr sz="1700" b="1" i="0"/>
              <a:t>SGF-MobileNetV3</a:t>
            </a:r>
            <a:r>
              <a:rPr sz="1700" b="0" i="0"/>
              <a:t>, integrating deep learning, preprocessing, stroke features, gated fusion, Unicode conversion and dictionary correction. The trained model runs in a </a:t>
            </a:r>
            <a:r>
              <a:rPr sz="1700" b="1" i="0"/>
              <a:t>Flask web application</a:t>
            </a:r>
            <a:r>
              <a:rPr sz="1700" b="0" i="0"/>
              <a:t> (single character and word recognition, confidence analysis, top-three alternatives, stroke visualization, performance comparison, PDF reports).</a:t>
            </a:r>
          </a:p>
        </p:txBody>
      </p:sp>
      <p:sp>
        <p:nvSpPr>
          <p:cNvPr id="7" name="Rounded Rectangle 6"/>
          <p:cNvSpPr/>
          <p:nvPr/>
        </p:nvSpPr>
        <p:spPr>
          <a:xfrm>
            <a:off x="548640" y="2926080"/>
            <a:ext cx="2057400" cy="137160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3017520"/>
            <a:ext cx="2057400" cy="548640"/>
          </a:xfrm>
          <a:prstGeom prst="rect">
            <a:avLst/>
          </a:prstGeom>
          <a:noFill/>
        </p:spPr>
        <p:txBody>
          <a:bodyPr wrap="square" lIns="45720" tIns="27432" rIns="45720" bIns="27432">
            <a:spAutoFit/>
          </a:bodyPr>
          <a:lstStyle/>
          <a:p>
            <a:pPr marL="0" indent="0" algn="ctr">
              <a:spcAft>
                <a:spcPts val="400"/>
              </a:spcAft>
              <a:buNone/>
            </a:pPr>
            <a:r>
              <a:rPr sz="1600" b="1" i="0">
                <a:solidFill>
                  <a:srgbClr val="1F3864"/>
                </a:solidFill>
              </a:rPr>
              <a:t>Phase 1</a:t>
            </a:r>
          </a:p>
        </p:txBody>
      </p:sp>
      <p:sp>
        <p:nvSpPr>
          <p:cNvPr id="9" name="TextBox 8"/>
          <p:cNvSpPr txBox="1"/>
          <p:nvPr/>
        </p:nvSpPr>
        <p:spPr>
          <a:xfrm>
            <a:off x="548640" y="3520440"/>
            <a:ext cx="2057400" cy="731520"/>
          </a:xfrm>
          <a:prstGeom prst="rect">
            <a:avLst/>
          </a:prstGeom>
          <a:noFill/>
        </p:spPr>
        <p:txBody>
          <a:bodyPr wrap="square" lIns="45720" tIns="27432" rIns="45720" bIns="27432">
            <a:spAutoFit/>
          </a:bodyPr>
          <a:lstStyle/>
          <a:p>
            <a:pPr marL="0" indent="0" algn="ctr">
              <a:spcAft>
                <a:spcPts val="400"/>
              </a:spcAft>
              <a:buNone/>
            </a:pPr>
            <a:r>
              <a:rPr sz="1900" b="1" i="0"/>
              <a:t>Data Collection</a:t>
            </a:r>
          </a:p>
        </p:txBody>
      </p:sp>
      <p:sp>
        <p:nvSpPr>
          <p:cNvPr id="10" name="Right Arrow 9"/>
          <p:cNvSpPr/>
          <p:nvPr/>
        </p:nvSpPr>
        <p:spPr>
          <a:xfrm>
            <a:off x="2624328" y="3474720"/>
            <a:ext cx="155448" cy="274320"/>
          </a:xfrm>
          <a:prstGeom prst="rightArrow">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788920" y="2926080"/>
            <a:ext cx="2057400" cy="137160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88920" y="3017520"/>
            <a:ext cx="2057400" cy="548640"/>
          </a:xfrm>
          <a:prstGeom prst="rect">
            <a:avLst/>
          </a:prstGeom>
          <a:noFill/>
        </p:spPr>
        <p:txBody>
          <a:bodyPr wrap="square" lIns="45720" tIns="27432" rIns="45720" bIns="27432">
            <a:spAutoFit/>
          </a:bodyPr>
          <a:lstStyle/>
          <a:p>
            <a:pPr marL="0" indent="0" algn="ctr">
              <a:spcAft>
                <a:spcPts val="400"/>
              </a:spcAft>
              <a:buNone/>
            </a:pPr>
            <a:r>
              <a:rPr sz="1600" b="1" i="0">
                <a:solidFill>
                  <a:srgbClr val="1F3864"/>
                </a:solidFill>
              </a:rPr>
              <a:t>Phase 2</a:t>
            </a:r>
          </a:p>
        </p:txBody>
      </p:sp>
      <p:sp>
        <p:nvSpPr>
          <p:cNvPr id="13" name="TextBox 12"/>
          <p:cNvSpPr txBox="1"/>
          <p:nvPr/>
        </p:nvSpPr>
        <p:spPr>
          <a:xfrm>
            <a:off x="2788920" y="3520440"/>
            <a:ext cx="2057400" cy="731520"/>
          </a:xfrm>
          <a:prstGeom prst="rect">
            <a:avLst/>
          </a:prstGeom>
          <a:noFill/>
        </p:spPr>
        <p:txBody>
          <a:bodyPr wrap="square" lIns="45720" tIns="27432" rIns="45720" bIns="27432">
            <a:spAutoFit/>
          </a:bodyPr>
          <a:lstStyle/>
          <a:p>
            <a:pPr marL="0" indent="0" algn="ctr">
              <a:spcAft>
                <a:spcPts val="400"/>
              </a:spcAft>
              <a:buNone/>
            </a:pPr>
            <a:r>
              <a:rPr sz="1900" b="1" i="0"/>
              <a:t>Data Preprocessing</a:t>
            </a:r>
          </a:p>
        </p:txBody>
      </p:sp>
      <p:sp>
        <p:nvSpPr>
          <p:cNvPr id="14" name="Right Arrow 13"/>
          <p:cNvSpPr/>
          <p:nvPr/>
        </p:nvSpPr>
        <p:spPr>
          <a:xfrm>
            <a:off x="4864608" y="3474720"/>
            <a:ext cx="155448" cy="274320"/>
          </a:xfrm>
          <a:prstGeom prst="rightArrow">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029200" y="2926080"/>
            <a:ext cx="2057400" cy="137160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0" y="3017520"/>
            <a:ext cx="2057400" cy="548640"/>
          </a:xfrm>
          <a:prstGeom prst="rect">
            <a:avLst/>
          </a:prstGeom>
          <a:noFill/>
        </p:spPr>
        <p:txBody>
          <a:bodyPr wrap="square" lIns="45720" tIns="27432" rIns="45720" bIns="27432">
            <a:spAutoFit/>
          </a:bodyPr>
          <a:lstStyle/>
          <a:p>
            <a:pPr marL="0" indent="0" algn="ctr">
              <a:spcAft>
                <a:spcPts val="400"/>
              </a:spcAft>
              <a:buNone/>
            </a:pPr>
            <a:r>
              <a:rPr sz="1600" b="1" i="0">
                <a:solidFill>
                  <a:srgbClr val="1F3864"/>
                </a:solidFill>
              </a:rPr>
              <a:t>Phase 3</a:t>
            </a:r>
          </a:p>
        </p:txBody>
      </p:sp>
      <p:sp>
        <p:nvSpPr>
          <p:cNvPr id="17" name="TextBox 16"/>
          <p:cNvSpPr txBox="1"/>
          <p:nvPr/>
        </p:nvSpPr>
        <p:spPr>
          <a:xfrm>
            <a:off x="5029200" y="3520440"/>
            <a:ext cx="2057400" cy="731520"/>
          </a:xfrm>
          <a:prstGeom prst="rect">
            <a:avLst/>
          </a:prstGeom>
          <a:noFill/>
        </p:spPr>
        <p:txBody>
          <a:bodyPr wrap="square" lIns="45720" tIns="27432" rIns="45720" bIns="27432">
            <a:spAutoFit/>
          </a:bodyPr>
          <a:lstStyle/>
          <a:p>
            <a:pPr marL="0" indent="0" algn="ctr">
              <a:spcAft>
                <a:spcPts val="400"/>
              </a:spcAft>
              <a:buNone/>
            </a:pPr>
            <a:r>
              <a:rPr sz="1900" b="1" i="0"/>
              <a:t>Model Training</a:t>
            </a:r>
          </a:p>
        </p:txBody>
      </p:sp>
      <p:sp>
        <p:nvSpPr>
          <p:cNvPr id="18" name="Right Arrow 17"/>
          <p:cNvSpPr/>
          <p:nvPr/>
        </p:nvSpPr>
        <p:spPr>
          <a:xfrm>
            <a:off x="7104888" y="3474720"/>
            <a:ext cx="155448" cy="274320"/>
          </a:xfrm>
          <a:prstGeom prst="rightArrow">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269480" y="2926080"/>
            <a:ext cx="2057400" cy="137160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69480" y="3017520"/>
            <a:ext cx="2057400" cy="548640"/>
          </a:xfrm>
          <a:prstGeom prst="rect">
            <a:avLst/>
          </a:prstGeom>
          <a:noFill/>
        </p:spPr>
        <p:txBody>
          <a:bodyPr wrap="square" lIns="45720" tIns="27432" rIns="45720" bIns="27432">
            <a:spAutoFit/>
          </a:bodyPr>
          <a:lstStyle/>
          <a:p>
            <a:pPr marL="0" indent="0" algn="ctr">
              <a:spcAft>
                <a:spcPts val="400"/>
              </a:spcAft>
              <a:buNone/>
            </a:pPr>
            <a:r>
              <a:rPr sz="1600" b="1" i="0">
                <a:solidFill>
                  <a:srgbClr val="1F3864"/>
                </a:solidFill>
              </a:rPr>
              <a:t>Phase 4</a:t>
            </a:r>
          </a:p>
        </p:txBody>
      </p:sp>
      <p:sp>
        <p:nvSpPr>
          <p:cNvPr id="21" name="TextBox 20"/>
          <p:cNvSpPr txBox="1"/>
          <p:nvPr/>
        </p:nvSpPr>
        <p:spPr>
          <a:xfrm>
            <a:off x="7269480" y="3520440"/>
            <a:ext cx="2057400" cy="731520"/>
          </a:xfrm>
          <a:prstGeom prst="rect">
            <a:avLst/>
          </a:prstGeom>
          <a:noFill/>
        </p:spPr>
        <p:txBody>
          <a:bodyPr wrap="square" lIns="45720" tIns="27432" rIns="45720" bIns="27432">
            <a:spAutoFit/>
          </a:bodyPr>
          <a:lstStyle/>
          <a:p>
            <a:pPr marL="0" indent="0" algn="ctr">
              <a:spcAft>
                <a:spcPts val="400"/>
              </a:spcAft>
              <a:buNone/>
            </a:pPr>
            <a:r>
              <a:rPr sz="1900" b="1" i="0"/>
              <a:t>Model Evaluation</a:t>
            </a:r>
          </a:p>
        </p:txBody>
      </p:sp>
      <p:sp>
        <p:nvSpPr>
          <p:cNvPr id="22" name="Right Arrow 21"/>
          <p:cNvSpPr/>
          <p:nvPr/>
        </p:nvSpPr>
        <p:spPr>
          <a:xfrm>
            <a:off x="9345168" y="3474720"/>
            <a:ext cx="155448" cy="274320"/>
          </a:xfrm>
          <a:prstGeom prst="rightArrow">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509760" y="2926080"/>
            <a:ext cx="2057400" cy="137160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509760" y="3017520"/>
            <a:ext cx="2057400" cy="548640"/>
          </a:xfrm>
          <a:prstGeom prst="rect">
            <a:avLst/>
          </a:prstGeom>
          <a:noFill/>
        </p:spPr>
        <p:txBody>
          <a:bodyPr wrap="square" lIns="45720" tIns="27432" rIns="45720" bIns="27432">
            <a:spAutoFit/>
          </a:bodyPr>
          <a:lstStyle/>
          <a:p>
            <a:pPr marL="0" indent="0" algn="ctr">
              <a:spcAft>
                <a:spcPts val="400"/>
              </a:spcAft>
              <a:buNone/>
            </a:pPr>
            <a:r>
              <a:rPr sz="1600" b="1" i="0">
                <a:solidFill>
                  <a:srgbClr val="1F3864"/>
                </a:solidFill>
              </a:rPr>
              <a:t>Phase 5</a:t>
            </a:r>
          </a:p>
        </p:txBody>
      </p:sp>
      <p:sp>
        <p:nvSpPr>
          <p:cNvPr id="25" name="TextBox 24"/>
          <p:cNvSpPr txBox="1"/>
          <p:nvPr/>
        </p:nvSpPr>
        <p:spPr>
          <a:xfrm>
            <a:off x="9509760" y="3520440"/>
            <a:ext cx="2057400" cy="731520"/>
          </a:xfrm>
          <a:prstGeom prst="rect">
            <a:avLst/>
          </a:prstGeom>
          <a:noFill/>
        </p:spPr>
        <p:txBody>
          <a:bodyPr wrap="square" lIns="45720" tIns="27432" rIns="45720" bIns="27432">
            <a:spAutoFit/>
          </a:bodyPr>
          <a:lstStyle/>
          <a:p>
            <a:pPr marL="0" indent="0" algn="ctr">
              <a:spcAft>
                <a:spcPts val="400"/>
              </a:spcAft>
              <a:buNone/>
            </a:pPr>
            <a:r>
              <a:rPr sz="1900" b="1" i="0"/>
              <a:t>Deployment</a:t>
            </a:r>
          </a:p>
        </p:txBody>
      </p:sp>
      <p:sp>
        <p:nvSpPr>
          <p:cNvPr id="26" name="TextBox 25"/>
          <p:cNvSpPr txBox="1"/>
          <p:nvPr/>
        </p:nvSpPr>
        <p:spPr>
          <a:xfrm>
            <a:off x="548640" y="4663440"/>
            <a:ext cx="11091672" cy="1371600"/>
          </a:xfrm>
          <a:prstGeom prst="rect">
            <a:avLst/>
          </a:prstGeom>
          <a:noFill/>
        </p:spPr>
        <p:txBody>
          <a:bodyPr wrap="square" lIns="45720" tIns="27432" rIns="45720" bIns="27432">
            <a:spAutoFit/>
          </a:bodyPr>
          <a:lstStyle/>
          <a:p>
            <a:pPr marL="0" indent="0">
              <a:spcAft>
                <a:spcPts val="400"/>
              </a:spcAft>
              <a:buNone/>
            </a:pPr>
            <a:r>
              <a:rPr sz="1700" b="0" i="0"/>
              <a:t>Five sequential phases: </a:t>
            </a:r>
            <a:r>
              <a:rPr sz="1700" b="1" i="0"/>
              <a:t>Data Collection → Data Preprocessing → Model Training → Model Evaluation → Deployment</a:t>
            </a:r>
            <a:r>
              <a:rPr sz="1700" b="0" i="0"/>
              <a:t> (details on the next slides).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42</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2800" dirty="0"/>
              <a:t>Workflow: Data Collection &amp; Preprocessing</a:t>
            </a:r>
          </a:p>
        </p:txBody>
      </p:sp>
      <p:sp>
        <p:nvSpPr>
          <p:cNvPr id="6" name="TextBox 5"/>
          <p:cNvSpPr txBox="1"/>
          <p:nvPr/>
        </p:nvSpPr>
        <p:spPr>
          <a:xfrm>
            <a:off x="548640" y="1234440"/>
            <a:ext cx="5394960" cy="457200"/>
          </a:xfrm>
          <a:prstGeom prst="rect">
            <a:avLst/>
          </a:prstGeom>
          <a:noFill/>
        </p:spPr>
        <p:txBody>
          <a:bodyPr wrap="square" lIns="45720" tIns="27432" rIns="45720" bIns="27432">
            <a:spAutoFit/>
          </a:bodyPr>
          <a:lstStyle/>
          <a:p>
            <a:pPr marL="0" indent="0">
              <a:spcAft>
                <a:spcPts val="400"/>
              </a:spcAft>
              <a:buNone/>
            </a:pPr>
            <a:r>
              <a:rPr sz="2100" b="1" i="0">
                <a:solidFill>
                  <a:srgbClr val="1F3864"/>
                </a:solidFill>
              </a:rPr>
              <a:t>1. Data Collection</a:t>
            </a:r>
          </a:p>
        </p:txBody>
      </p:sp>
      <p:sp>
        <p:nvSpPr>
          <p:cNvPr id="7" name="TextBox 6"/>
          <p:cNvSpPr txBox="1"/>
          <p:nvPr/>
        </p:nvSpPr>
        <p:spPr>
          <a:xfrm>
            <a:off x="548640" y="1645920"/>
            <a:ext cx="5394960" cy="4572000"/>
          </a:xfrm>
          <a:prstGeom prst="rect">
            <a:avLst/>
          </a:prstGeom>
          <a:noFill/>
        </p:spPr>
        <p:txBody>
          <a:bodyPr wrap="square" lIns="45720" tIns="27432" rIns="45720" bIns="27432">
            <a:spAutoFit/>
          </a:bodyPr>
          <a:lstStyle/>
          <a:p>
            <a:pPr marL="256032" indent="-219456">
              <a:spcAft>
                <a:spcPts val="500"/>
              </a:spcAft>
              <a:buFont typeface="Arial"/>
              <a:buChar char="•"/>
            </a:pPr>
            <a:r>
              <a:rPr sz="1600" b="0" i="0"/>
              <a:t>Kaggle Telugu handwritten character dataset: </a:t>
            </a:r>
            <a:r>
              <a:rPr sz="1600" b="1" i="0"/>
              <a:t>292,752 images / 121 folders</a:t>
            </a:r>
          </a:p>
          <a:p>
            <a:pPr marL="256032" indent="-219456">
              <a:spcAft>
                <a:spcPts val="500"/>
              </a:spcAft>
              <a:buFont typeface="Arial"/>
              <a:buChar char="•"/>
            </a:pPr>
            <a:r>
              <a:rPr sz="1600" b="0" i="0"/>
              <a:t>Four groups: Achulu, Hallulu, Guninthamulu, Othulu (vowels, consonants, vowel-modified forms, conjunct-related structures)</a:t>
            </a:r>
          </a:p>
          <a:p>
            <a:pPr marL="256032" indent="-219456">
              <a:spcAft>
                <a:spcPts val="500"/>
              </a:spcAft>
              <a:buFont typeface="Arial"/>
              <a:buChar char="•"/>
            </a:pPr>
            <a:r>
              <a:rPr sz="1600" b="0" i="0"/>
              <a:t>Unicode-based class merging + balancing → </a:t>
            </a:r>
            <a:r>
              <a:rPr sz="1600" b="1" i="0"/>
              <a:t>73,463 images / 76 classes</a:t>
            </a:r>
          </a:p>
          <a:p>
            <a:pPr marL="256032" indent="-219456">
              <a:spcAft>
                <a:spcPts val="500"/>
              </a:spcAft>
              <a:buFont typeface="Arial"/>
              <a:buChar char="•"/>
            </a:pPr>
            <a:r>
              <a:rPr sz="1600" b="0" i="0"/>
              <a:t>Stratified split: </a:t>
            </a:r>
            <a:r>
              <a:rPr sz="1600" b="1" i="0"/>
              <a:t>51,423 (70%) / 11,020 (15%) / 11,020 (15%)</a:t>
            </a:r>
          </a:p>
          <a:p>
            <a:pPr marL="256032" indent="-219456">
              <a:spcAft>
                <a:spcPts val="500"/>
              </a:spcAft>
              <a:buFont typeface="Arial"/>
              <a:buChar char="•"/>
            </a:pPr>
            <a:r>
              <a:rPr sz="1600" b="0" i="0"/>
              <a:t>Variation in shape, stroke thickness, writing style, alignment and quality used for training and evaluation</a:t>
            </a:r>
          </a:p>
        </p:txBody>
      </p:sp>
      <p:sp>
        <p:nvSpPr>
          <p:cNvPr id="8" name="TextBox 7"/>
          <p:cNvSpPr txBox="1"/>
          <p:nvPr/>
        </p:nvSpPr>
        <p:spPr>
          <a:xfrm>
            <a:off x="6263640" y="1234440"/>
            <a:ext cx="5394960" cy="457200"/>
          </a:xfrm>
          <a:prstGeom prst="rect">
            <a:avLst/>
          </a:prstGeom>
          <a:noFill/>
        </p:spPr>
        <p:txBody>
          <a:bodyPr wrap="square" lIns="45720" tIns="27432" rIns="45720" bIns="27432">
            <a:spAutoFit/>
          </a:bodyPr>
          <a:lstStyle/>
          <a:p>
            <a:pPr marL="0" indent="0">
              <a:spcAft>
                <a:spcPts val="400"/>
              </a:spcAft>
              <a:buNone/>
            </a:pPr>
            <a:r>
              <a:rPr sz="2100" b="1" i="0">
                <a:solidFill>
                  <a:srgbClr val="1F3864"/>
                </a:solidFill>
              </a:rPr>
              <a:t>2. Data Preprocessing</a:t>
            </a:r>
          </a:p>
        </p:txBody>
      </p:sp>
      <p:sp>
        <p:nvSpPr>
          <p:cNvPr id="9" name="TextBox 8"/>
          <p:cNvSpPr txBox="1"/>
          <p:nvPr/>
        </p:nvSpPr>
        <p:spPr>
          <a:xfrm>
            <a:off x="6263640" y="1645920"/>
            <a:ext cx="5394960" cy="4572000"/>
          </a:xfrm>
          <a:prstGeom prst="rect">
            <a:avLst/>
          </a:prstGeom>
          <a:noFill/>
        </p:spPr>
        <p:txBody>
          <a:bodyPr wrap="square" lIns="45720" tIns="27432" rIns="45720" bIns="27432">
            <a:spAutoFit/>
          </a:bodyPr>
          <a:lstStyle/>
          <a:p>
            <a:pPr marL="256032" indent="-219456">
              <a:spcAft>
                <a:spcPts val="500"/>
              </a:spcAft>
              <a:buFont typeface="Arial"/>
              <a:buChar char="•"/>
            </a:pPr>
            <a:r>
              <a:rPr sz="1600" b="1" i="0"/>
              <a:t>Image:</a:t>
            </a:r>
            <a:r>
              <a:rPr sz="1600" b="0" i="0"/>
              <a:t> grayscale, polarity correction, ink-region cropping, 96 × 96 resize, Non-Local Means denoising, CLAHE, normalization</a:t>
            </a:r>
          </a:p>
          <a:p>
            <a:pPr marL="256032" indent="-219456">
              <a:spcAft>
                <a:spcPts val="500"/>
              </a:spcAft>
              <a:buFont typeface="Arial"/>
              <a:buChar char="•"/>
            </a:pPr>
            <a:r>
              <a:rPr sz="1600" b="1" i="0"/>
              <a:t>Stroke features:</a:t>
            </a:r>
            <a:r>
              <a:rPr sz="1600" b="0" i="0"/>
              <a:t> skeleton, distance-transform stroke width, Sobel edge magnitude → three-channel stroke descriptor</a:t>
            </a:r>
          </a:p>
          <a:p>
            <a:pPr marL="256032" indent="-219456">
              <a:spcAft>
                <a:spcPts val="500"/>
              </a:spcAft>
              <a:buFont typeface="Arial"/>
              <a:buChar char="•"/>
            </a:pPr>
            <a:r>
              <a:rPr sz="1600" b="1" i="0"/>
              <a:t>Augmentation (training only):</a:t>
            </a:r>
            <a:r>
              <a:rPr sz="1600" b="0" i="0"/>
              <a:t> rotation, scaling, translation, shear, morphological changes, blur, resolution, brightness/contrast</a:t>
            </a:r>
          </a:p>
          <a:p>
            <a:pPr marL="256032" indent="-219456">
              <a:spcAft>
                <a:spcPts val="500"/>
              </a:spcAft>
              <a:buFont typeface="Arial"/>
              <a:buChar char="•"/>
            </a:pPr>
            <a:r>
              <a:rPr sz="1600" b="1" i="0"/>
              <a:t>Weighted Random Sampler</a:t>
            </a:r>
            <a:r>
              <a:rPr sz="1600" b="0" i="0"/>
              <a:t> reduces effect of unequal class distribution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43</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000" dirty="0"/>
              <a:t>Workflow: Model Training &amp; Evaluation</a:t>
            </a:r>
          </a:p>
        </p:txBody>
      </p:sp>
      <p:sp>
        <p:nvSpPr>
          <p:cNvPr id="6" name="TextBox 5"/>
          <p:cNvSpPr txBox="1"/>
          <p:nvPr/>
        </p:nvSpPr>
        <p:spPr>
          <a:xfrm>
            <a:off x="548640" y="1234440"/>
            <a:ext cx="5394960" cy="457200"/>
          </a:xfrm>
          <a:prstGeom prst="rect">
            <a:avLst/>
          </a:prstGeom>
          <a:noFill/>
        </p:spPr>
        <p:txBody>
          <a:bodyPr wrap="square" lIns="45720" tIns="27432" rIns="45720" bIns="27432">
            <a:spAutoFit/>
          </a:bodyPr>
          <a:lstStyle/>
          <a:p>
            <a:pPr marL="0" indent="0">
              <a:spcAft>
                <a:spcPts val="400"/>
              </a:spcAft>
              <a:buNone/>
            </a:pPr>
            <a:r>
              <a:rPr sz="2100" b="1" i="0">
                <a:solidFill>
                  <a:srgbClr val="1F3864"/>
                </a:solidFill>
              </a:rPr>
              <a:t>3. Model Training</a:t>
            </a:r>
          </a:p>
        </p:txBody>
      </p:sp>
      <p:sp>
        <p:nvSpPr>
          <p:cNvPr id="7" name="TextBox 6"/>
          <p:cNvSpPr txBox="1"/>
          <p:nvPr/>
        </p:nvSpPr>
        <p:spPr>
          <a:xfrm>
            <a:off x="548640" y="1645920"/>
            <a:ext cx="5394960" cy="4572000"/>
          </a:xfrm>
          <a:prstGeom prst="rect">
            <a:avLst/>
          </a:prstGeom>
          <a:noFill/>
        </p:spPr>
        <p:txBody>
          <a:bodyPr wrap="square" lIns="45720" tIns="27432" rIns="45720" bIns="27432">
            <a:spAutoFit/>
          </a:bodyPr>
          <a:lstStyle/>
          <a:p>
            <a:pPr marL="256032" indent="-219456">
              <a:spcAft>
                <a:spcPts val="500"/>
              </a:spcAft>
              <a:buFont typeface="Arial"/>
              <a:buChar char="•"/>
            </a:pPr>
            <a:r>
              <a:rPr sz="1600" b="1" i="0"/>
              <a:t>Baseline:</a:t>
            </a:r>
            <a:r>
              <a:rPr sz="1600" b="0" i="0"/>
              <a:t> reduced-capacity MobileNetV3-Small, 96-d appearance representation, Dropout 0.35 + FC (76)</a:t>
            </a:r>
          </a:p>
          <a:p>
            <a:pPr marL="256032" indent="-219456">
              <a:spcAft>
                <a:spcPts val="500"/>
              </a:spcAft>
              <a:buFont typeface="Arial"/>
              <a:buChar char="•"/>
            </a:pPr>
            <a:r>
              <a:rPr sz="1600" b="1" i="0"/>
              <a:t>SGF-MobileNetV3:</a:t>
            </a:r>
            <a:r>
              <a:rPr sz="1600" b="0" i="0"/>
              <a:t> 576-d appearance + stroke branch (16/32/64/128 channels, 128-d) → 256-d projections → sigmoid gated fusion → Dropout 0.2 + FC (76)</a:t>
            </a:r>
          </a:p>
          <a:p>
            <a:pPr marL="256032" indent="-219456">
              <a:spcAft>
                <a:spcPts val="500"/>
              </a:spcAft>
              <a:buFont typeface="Arial"/>
              <a:buChar char="•"/>
            </a:pPr>
            <a:r>
              <a:rPr sz="1600" b="0" i="0"/>
              <a:t>AdamW (LR 0.001, weight decay 0.0001), batch 64, label-smoothed cross-entropy, OneCycle LR, max </a:t>
            </a:r>
            <a:r>
              <a:rPr sz="1600" b="1" i="0"/>
              <a:t>30 epochs</a:t>
            </a:r>
            <a:r>
              <a:rPr sz="1600" b="0" i="0"/>
              <a:t>, early-stopping patience </a:t>
            </a:r>
            <a:r>
              <a:rPr sz="1600" b="1" i="0"/>
              <a:t>7</a:t>
            </a:r>
          </a:p>
          <a:p>
            <a:pPr marL="256032" indent="-219456">
              <a:spcAft>
                <a:spcPts val="500"/>
              </a:spcAft>
              <a:buFont typeface="Arial"/>
              <a:buChar char="•"/>
            </a:pPr>
            <a:r>
              <a:rPr sz="1600" b="0" i="0"/>
              <a:t>Mixed precision with CUDA; best parameters kept by validation accuracy (loss breaks ties)</a:t>
            </a:r>
          </a:p>
        </p:txBody>
      </p:sp>
      <p:sp>
        <p:nvSpPr>
          <p:cNvPr id="8" name="TextBox 7"/>
          <p:cNvSpPr txBox="1"/>
          <p:nvPr/>
        </p:nvSpPr>
        <p:spPr>
          <a:xfrm>
            <a:off x="6263640" y="1234440"/>
            <a:ext cx="5394960" cy="457200"/>
          </a:xfrm>
          <a:prstGeom prst="rect">
            <a:avLst/>
          </a:prstGeom>
          <a:noFill/>
        </p:spPr>
        <p:txBody>
          <a:bodyPr wrap="square" lIns="45720" tIns="27432" rIns="45720" bIns="27432">
            <a:spAutoFit/>
          </a:bodyPr>
          <a:lstStyle/>
          <a:p>
            <a:pPr marL="0" indent="0">
              <a:spcAft>
                <a:spcPts val="400"/>
              </a:spcAft>
              <a:buNone/>
            </a:pPr>
            <a:r>
              <a:rPr sz="2100" b="1" i="0">
                <a:solidFill>
                  <a:srgbClr val="1F3864"/>
                </a:solidFill>
              </a:rPr>
              <a:t>4. Model Evaluation</a:t>
            </a:r>
          </a:p>
        </p:txBody>
      </p:sp>
      <p:sp>
        <p:nvSpPr>
          <p:cNvPr id="9" name="TextBox 8"/>
          <p:cNvSpPr txBox="1"/>
          <p:nvPr/>
        </p:nvSpPr>
        <p:spPr>
          <a:xfrm>
            <a:off x="6263640" y="1645920"/>
            <a:ext cx="5394960" cy="4572000"/>
          </a:xfrm>
          <a:prstGeom prst="rect">
            <a:avLst/>
          </a:prstGeom>
          <a:noFill/>
        </p:spPr>
        <p:txBody>
          <a:bodyPr wrap="square" lIns="45720" tIns="27432" rIns="45720" bIns="27432">
            <a:spAutoFit/>
          </a:bodyPr>
          <a:lstStyle/>
          <a:p>
            <a:pPr marL="256032" indent="-219456">
              <a:spcAft>
                <a:spcPts val="500"/>
              </a:spcAft>
              <a:buFont typeface="Arial"/>
              <a:buChar char="•"/>
            </a:pPr>
            <a:r>
              <a:rPr sz="1600" b="0" i="0"/>
              <a:t>Test set of </a:t>
            </a:r>
            <a:r>
              <a:rPr sz="1600" b="1" i="0"/>
              <a:t>11,020</a:t>
            </a:r>
            <a:r>
              <a:rPr sz="1600" b="0" i="0"/>
              <a:t> images; accuracy, macro precision/recall/F1, weighted F1, top-3, reports, confusion matrices</a:t>
            </a:r>
          </a:p>
          <a:p>
            <a:pPr marL="256032" indent="-219456">
              <a:spcAft>
                <a:spcPts val="500"/>
              </a:spcAft>
              <a:buFont typeface="Arial"/>
              <a:buChar char="•"/>
            </a:pPr>
            <a:r>
              <a:rPr sz="1600" b="1" i="0"/>
              <a:t>Baseline:</a:t>
            </a:r>
            <a:r>
              <a:rPr sz="1600" b="0" i="0"/>
              <a:t> 90.74% accuracy, 89.97% precision, 92.31% recall, 90.69% F1, 98.61% top-3</a:t>
            </a:r>
          </a:p>
          <a:p>
            <a:pPr marL="256032" indent="-219456">
              <a:spcAft>
                <a:spcPts val="500"/>
              </a:spcAft>
              <a:buFont typeface="Arial"/>
              <a:buChar char="•"/>
            </a:pPr>
            <a:r>
              <a:rPr sz="1600" b="1" i="0"/>
              <a:t>SGF:</a:t>
            </a:r>
            <a:r>
              <a:rPr sz="1600" b="0" i="0"/>
              <a:t> 95.90% accuracy, 95.33% precision, 95.71% recall, 95.34% F1, 95.89% weighted F1, 99.48% top-3 (</a:t>
            </a:r>
            <a:r>
              <a:rPr sz="1600" b="1" i="0"/>
              <a:t>+5.16 points</a:t>
            </a:r>
            <a:r>
              <a:rPr sz="1600" b="0" i="0"/>
              <a:t>)</a:t>
            </a:r>
          </a:p>
          <a:p>
            <a:pPr marL="256032" indent="-219456">
              <a:spcAft>
                <a:spcPts val="500"/>
              </a:spcAft>
              <a:buFont typeface="Arial"/>
              <a:buChar char="•"/>
            </a:pPr>
            <a:r>
              <a:rPr sz="1600" b="1" i="0"/>
              <a:t>Robustness</a:t>
            </a:r>
            <a:r>
              <a:rPr sz="1600" b="0" i="0"/>
              <a:t> (3,000 test images; margins, resizing, JPEG, blur): SGF </a:t>
            </a:r>
            <a:r>
              <a:rPr sz="1600" b="1" i="0"/>
              <a:t>90.63%</a:t>
            </a:r>
            <a:r>
              <a:rPr sz="1600" b="0" i="0"/>
              <a:t> vs baseline </a:t>
            </a:r>
            <a:r>
              <a:rPr sz="1600" b="1" i="0"/>
              <a:t>85.10%</a:t>
            </a:r>
          </a:p>
          <a:p>
            <a:pPr marL="256032" indent="-219456">
              <a:spcAft>
                <a:spcPts val="500"/>
              </a:spcAft>
              <a:buFont typeface="Arial"/>
              <a:buChar char="•"/>
            </a:pPr>
            <a:r>
              <a:rPr sz="1600" b="1" i="0"/>
              <a:t>Efficiency:</a:t>
            </a:r>
            <a:r>
              <a:rPr sz="1600" b="0" i="0"/>
              <a:t> baseline 0.1942 M params, 0.859 MB, 14.78 ms; SGF 1.4065 M params, 5.7855 MB, 18.22 ms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44</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Workflow: Deployment</a:t>
            </a:r>
          </a:p>
        </p:txBody>
      </p:sp>
      <p:sp>
        <p:nvSpPr>
          <p:cNvPr id="6" name="TextBox 5"/>
          <p:cNvSpPr txBox="1"/>
          <p:nvPr/>
        </p:nvSpPr>
        <p:spPr>
          <a:xfrm>
            <a:off x="548640" y="1280160"/>
            <a:ext cx="11091672" cy="4937760"/>
          </a:xfrm>
          <a:prstGeom prst="rect">
            <a:avLst/>
          </a:prstGeom>
          <a:noFill/>
        </p:spPr>
        <p:txBody>
          <a:bodyPr wrap="square" lIns="45720" tIns="27432" rIns="45720" bIns="27432">
            <a:spAutoFit/>
          </a:bodyPr>
          <a:lstStyle/>
          <a:p>
            <a:pPr marL="256032" indent="-219456">
              <a:spcAft>
                <a:spcPts val="700"/>
              </a:spcAft>
              <a:buFont typeface="Arial"/>
              <a:buChar char="•"/>
            </a:pPr>
            <a:r>
              <a:rPr sz="1600" b="1" i="0"/>
              <a:t>Model serialization:</a:t>
            </a:r>
            <a:r>
              <a:rPr sz="1600" b="0" i="0"/>
              <a:t> PyTorch checkpoint (best_model.pth) + metadata (best_model_meta.json) in saved_models; architecture name, image size, class labels, stroke configuration and Unicode mappings</a:t>
            </a:r>
          </a:p>
          <a:p>
            <a:pPr marL="256032" indent="-219456">
              <a:spcAft>
                <a:spcPts val="700"/>
              </a:spcAft>
              <a:buFont typeface="Arial"/>
              <a:buChar char="•"/>
            </a:pPr>
            <a:r>
              <a:rPr sz="1600" b="1" i="0"/>
              <a:t>Flask application:</a:t>
            </a:r>
            <a:r>
              <a:rPr sz="1600" b="0" i="0"/>
              <a:t> Registration, Login, Home, Prediction, Model Performance, About and Logout pages; Single Character, Word and automatic modes</a:t>
            </a:r>
          </a:p>
          <a:p>
            <a:pPr marL="256032" indent="-219456">
              <a:spcAft>
                <a:spcPts val="700"/>
              </a:spcAft>
              <a:buFont typeface="Arial"/>
              <a:buChar char="•"/>
            </a:pPr>
            <a:r>
              <a:rPr sz="1600" b="1" i="0"/>
              <a:t>Recognition modules:</a:t>
            </a:r>
            <a:r>
              <a:rPr sz="1600" b="0" i="0"/>
              <a:t> Character and word recognition, Unicode conversion, confidence analysis (top-three, uncertainty), stroke visualization</a:t>
            </a:r>
          </a:p>
          <a:p>
            <a:pPr marL="256032" indent="-219456">
              <a:spcAft>
                <a:spcPts val="700"/>
              </a:spcAft>
              <a:buFont typeface="Arial"/>
              <a:buChar char="•"/>
            </a:pPr>
            <a:r>
              <a:rPr sz="1600" b="1" i="0"/>
              <a:t>MySQL integration:</a:t>
            </a:r>
            <a:r>
              <a:rPr sz="1600" b="0" i="0"/>
              <a:t> BBR database, users table, Flask sessions protect pages; passwords currently compared directly – hashing required before production</a:t>
            </a:r>
          </a:p>
          <a:p>
            <a:pPr marL="256032" indent="-219456">
              <a:spcAft>
                <a:spcPts val="700"/>
              </a:spcAft>
              <a:buFont typeface="Arial"/>
              <a:buChar char="•"/>
            </a:pPr>
            <a:r>
              <a:rPr sz="1600" b="1" i="0"/>
              <a:t>Reports and files:</a:t>
            </a:r>
            <a:r>
              <a:rPr sz="1600" b="0" i="0"/>
              <a:t> ReportLab PDF reports; unique temporary filenames; automatic cleanup of uploads, visualizations and cached reports</a:t>
            </a:r>
          </a:p>
          <a:p>
            <a:pPr marL="256032" indent="-219456">
              <a:spcAft>
                <a:spcPts val="700"/>
              </a:spcAft>
              <a:buFont typeface="Arial"/>
              <a:buChar char="•"/>
            </a:pPr>
            <a:r>
              <a:rPr sz="1600" b="1" i="0"/>
              <a:t>Compatibility and errors:</a:t>
            </a:r>
            <a:r>
              <a:rPr sz="1600" b="0" i="0"/>
              <a:t> CUDA when available, otherwise CPU; messages for unsupported formats, missing images, invalid modes, missing checkpoints and failures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45</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User Workflow</a:t>
            </a:r>
          </a:p>
        </p:txBody>
      </p:sp>
      <p:graphicFrame>
        <p:nvGraphicFramePr>
          <p:cNvPr id="6" name="Table 5"/>
          <p:cNvGraphicFramePr>
            <a:graphicFrameLocks noGrp="1"/>
          </p:cNvGraphicFramePr>
          <p:nvPr/>
        </p:nvGraphicFramePr>
        <p:xfrm>
          <a:off x="548640" y="1234440"/>
          <a:ext cx="11091672" cy="487375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7982712">
                  <a:extLst>
                    <a:ext uri="{9D8B030D-6E8A-4147-A177-3AD203B41FA5}">
                      <a16:colId xmlns:a16="http://schemas.microsoft.com/office/drawing/2014/main" val="20002"/>
                    </a:ext>
                  </a:extLst>
                </a:gridCol>
              </a:tblGrid>
              <a:tr h="374904">
                <a:tc>
                  <a:txBody>
                    <a:bodyPr/>
                    <a:lstStyle/>
                    <a:p>
                      <a:pPr algn="ctr"/>
                      <a:r>
                        <a:rPr sz="1300" b="1" i="0">
                          <a:solidFill>
                            <a:srgbClr val="FFFFFF"/>
                          </a:solidFill>
                        </a:rPr>
                        <a: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tc>
                  <a:txBody>
                    <a:bodyPr/>
                    <a:lstStyle/>
                    <a:p>
                      <a:pPr algn="l"/>
                      <a:r>
                        <a:rPr sz="1300" b="1" i="0">
                          <a:solidFill>
                            <a:srgbClr val="FFFFFF"/>
                          </a:solidFill>
                        </a:rPr>
                        <a:t>Step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tc>
                  <a:txBody>
                    <a:bodyPr/>
                    <a:lstStyle/>
                    <a:p>
                      <a:pPr algn="l"/>
                      <a:r>
                        <a:rPr sz="1300" b="1" i="0">
                          <a:solidFill>
                            <a:srgbClr val="FFFFFF"/>
                          </a:solidFill>
                        </a:rPr>
                        <a:t>Description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extLst>
                  <a:ext uri="{0D108BD9-81ED-4DB2-BD59-A6C34878D82A}">
                    <a16:rowId xmlns:a16="http://schemas.microsoft.com/office/drawing/2014/main" val="10000"/>
                  </a:ext>
                </a:extLst>
              </a:tr>
              <a:tr h="374904">
                <a:tc>
                  <a:txBody>
                    <a:bodyPr/>
                    <a:lstStyle/>
                    <a:p>
                      <a:pPr algn="ctr"/>
                      <a:r>
                        <a:rPr sz="1300" b="0" i="0">
                          <a:solidFill>
                            <a:srgbClr val="000000"/>
                          </a:solidFill>
                        </a:rPr>
                        <a:t>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l"/>
                      <a:r>
                        <a:rPr sz="1300" b="1" i="0">
                          <a:solidFill>
                            <a:srgbClr val="000000"/>
                          </a:solidFill>
                        </a:rPr>
                        <a:t>User Registration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l"/>
                      <a:r>
                        <a:rPr sz="1300" b="0" i="0">
                          <a:solidFill>
                            <a:srgbClr val="000000"/>
                          </a:solidFill>
                        </a:rPr>
                        <a:t>Email, password and confirmation validated; duplicate emails checked in MySQL; redirect to login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1"/>
                  </a:ext>
                </a:extLst>
              </a:tr>
              <a:tr h="374904">
                <a:tc>
                  <a:txBody>
                    <a:bodyPr/>
                    <a:lstStyle/>
                    <a:p>
                      <a:pPr algn="ctr"/>
                      <a:r>
                        <a:rPr sz="1300" b="0" i="0">
                          <a:solidFill>
                            <a:srgbClr val="000000"/>
                          </a:solidFill>
                        </a:rPr>
                        <a:t>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l"/>
                      <a:r>
                        <a:rPr sz="1300" b="1" i="0">
                          <a:solidFill>
                            <a:srgbClr val="000000"/>
                          </a:solidFill>
                        </a:rPr>
                        <a:t>User Login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l"/>
                      <a:r>
                        <a:rPr sz="1300" b="0" i="0">
                          <a:solidFill>
                            <a:srgbClr val="000000"/>
                          </a:solidFill>
                        </a:rPr>
                        <a:t>Credentials verified against MySQL; Flask session created; invalid credentials show a message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extLst>
                  <a:ext uri="{0D108BD9-81ED-4DB2-BD59-A6C34878D82A}">
                    <a16:rowId xmlns:a16="http://schemas.microsoft.com/office/drawing/2014/main" val="10002"/>
                  </a:ext>
                </a:extLst>
              </a:tr>
              <a:tr h="374904">
                <a:tc>
                  <a:txBody>
                    <a:bodyPr/>
                    <a:lstStyle/>
                    <a:p>
                      <a:pPr algn="ctr"/>
                      <a:r>
                        <a:rPr sz="1300" b="0" i="0">
                          <a:solidFill>
                            <a:srgbClr val="000000"/>
                          </a:solidFill>
                        </a:rPr>
                        <a:t>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l"/>
                      <a:r>
                        <a:rPr sz="1300" b="1" i="0">
                          <a:solidFill>
                            <a:srgbClr val="000000"/>
                          </a:solidFill>
                        </a:rPr>
                        <a:t>Home and Mode Selection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l"/>
                      <a:r>
                        <a:rPr sz="1300" b="0" i="0">
                          <a:solidFill>
                            <a:srgbClr val="000000"/>
                          </a:solidFill>
                        </a:rPr>
                        <a:t>Single Character, Word Recognition or Automatic (1 image → character, many → word)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3"/>
                  </a:ext>
                </a:extLst>
              </a:tr>
              <a:tr h="374904">
                <a:tc>
                  <a:txBody>
                    <a:bodyPr/>
                    <a:lstStyle/>
                    <a:p>
                      <a:pPr algn="ctr"/>
                      <a:r>
                        <a:rPr sz="1300" b="0" i="0">
                          <a:solidFill>
                            <a:srgbClr val="000000"/>
                          </a:solidFill>
                        </a:rPr>
                        <a:t>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l"/>
                      <a:r>
                        <a:rPr sz="1300" b="1" i="0">
                          <a:solidFill>
                            <a:srgbClr val="000000"/>
                          </a:solidFill>
                        </a:rPr>
                        <a:t>Character Image Upload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l"/>
                      <a:r>
                        <a:rPr sz="1300" b="0" i="0">
                          <a:solidFill>
                            <a:srgbClr val="000000"/>
                          </a:solidFill>
                        </a:rPr>
                        <a:t>JPG/JPEG/PNG/BMP/WEBP/TIF/TIFF; ≤ 32 MB; validated and stored with unique filenames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extLst>
                  <a:ext uri="{0D108BD9-81ED-4DB2-BD59-A6C34878D82A}">
                    <a16:rowId xmlns:a16="http://schemas.microsoft.com/office/drawing/2014/main" val="10004"/>
                  </a:ext>
                </a:extLst>
              </a:tr>
              <a:tr h="374904">
                <a:tc>
                  <a:txBody>
                    <a:bodyPr/>
                    <a:lstStyle/>
                    <a:p>
                      <a:pPr algn="ctr"/>
                      <a:r>
                        <a:rPr sz="1300" b="0" i="0">
                          <a:solidFill>
                            <a:srgbClr val="000000"/>
                          </a:solidFill>
                        </a:rPr>
                        <a:t>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l"/>
                      <a:r>
                        <a:rPr sz="1300" b="1" i="0">
                          <a:solidFill>
                            <a:srgbClr val="000000"/>
                          </a:solidFill>
                        </a:rPr>
                        <a:t>Multiple Character Upload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l"/>
                      <a:r>
                        <a:rPr sz="1300" b="0" i="0">
                          <a:solidFill>
                            <a:srgbClr val="000000"/>
                          </a:solidFill>
                        </a:rPr>
                        <a:t>Up to 40 images in order, optional filename sorting; no automatic word segmentation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5"/>
                  </a:ext>
                </a:extLst>
              </a:tr>
              <a:tr h="374904">
                <a:tc>
                  <a:txBody>
                    <a:bodyPr/>
                    <a:lstStyle/>
                    <a:p>
                      <a:pPr algn="ctr"/>
                      <a:r>
                        <a:rPr sz="1300" b="0" i="0">
                          <a:solidFill>
                            <a:srgbClr val="000000"/>
                          </a:solidFill>
                        </a:rPr>
                        <a:t>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l"/>
                      <a:r>
                        <a:rPr sz="1300" b="1" i="0">
                          <a:solidFill>
                            <a:srgbClr val="000000"/>
                          </a:solidFill>
                        </a:rPr>
                        <a:t>SGF-MobileNetV3 Recognition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l"/>
                      <a:r>
                        <a:rPr sz="1300" b="0" i="0">
                          <a:solidFill>
                            <a:srgbClr val="000000"/>
                          </a:solidFill>
                        </a:rPr>
                        <a:t>Preprocessing → 576-d appearance + stroke branch → gated fusion → 76-class Softmax</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extLst>
                  <a:ext uri="{0D108BD9-81ED-4DB2-BD59-A6C34878D82A}">
                    <a16:rowId xmlns:a16="http://schemas.microsoft.com/office/drawing/2014/main" val="10006"/>
                  </a:ext>
                </a:extLst>
              </a:tr>
              <a:tr h="374904">
                <a:tc>
                  <a:txBody>
                    <a:bodyPr/>
                    <a:lstStyle/>
                    <a:p>
                      <a:pPr algn="ctr"/>
                      <a:r>
                        <a:rPr sz="1300" b="0" i="0">
                          <a:solidFill>
                            <a:srgbClr val="000000"/>
                          </a:solidFill>
                        </a:rPr>
                        <a:t>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l"/>
                      <a:r>
                        <a:rPr sz="1300" b="1" i="0">
                          <a:solidFill>
                            <a:srgbClr val="000000"/>
                          </a:solidFill>
                        </a:rPr>
                        <a:t>Stroke Visualization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l"/>
                      <a:r>
                        <a:rPr sz="1300" b="0" i="0">
                          <a:solidFill>
                            <a:srgbClr val="000000"/>
                          </a:solidFill>
                        </a:rPr>
                        <a:t>Preprocessed image, skeleton, stroke-width and edge-magnitude maps, gated feature information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7"/>
                  </a:ext>
                </a:extLst>
              </a:tr>
              <a:tr h="374904">
                <a:tc>
                  <a:txBody>
                    <a:bodyPr/>
                    <a:lstStyle/>
                    <a:p>
                      <a:pPr algn="ctr"/>
                      <a:r>
                        <a:rPr sz="1300" b="0" i="0">
                          <a:solidFill>
                            <a:srgbClr val="000000"/>
                          </a:solidFill>
                        </a:rPr>
                        <a:t>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l"/>
                      <a:r>
                        <a:rPr sz="1300" b="1" i="0">
                          <a:solidFill>
                            <a:srgbClr val="000000"/>
                          </a:solidFill>
                        </a:rPr>
                        <a:t>Unicode and Word Correction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l"/>
                      <a:r>
                        <a:rPr sz="1300" b="0" i="0">
                          <a:solidFill>
                            <a:srgbClr val="000000"/>
                          </a:solidFill>
                        </a:rPr>
                        <a:t>Class → Telugu Unicode; akshara splitting, dictionary comparison and edit-distance correction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extLst>
                  <a:ext uri="{0D108BD9-81ED-4DB2-BD59-A6C34878D82A}">
                    <a16:rowId xmlns:a16="http://schemas.microsoft.com/office/drawing/2014/main" val="10008"/>
                  </a:ext>
                </a:extLst>
              </a:tr>
              <a:tr h="374904">
                <a:tc>
                  <a:txBody>
                    <a:bodyPr/>
                    <a:lstStyle/>
                    <a:p>
                      <a:pPr algn="ctr"/>
                      <a:r>
                        <a:rPr sz="1300" b="0" i="0">
                          <a:solidFill>
                            <a:srgbClr val="000000"/>
                          </a:solidFill>
                        </a:rPr>
                        <a:t>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l"/>
                      <a:r>
                        <a:rPr sz="1300" b="1" i="0">
                          <a:solidFill>
                            <a:srgbClr val="000000"/>
                          </a:solidFill>
                        </a:rPr>
                        <a:t>Result Display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l"/>
                      <a:r>
                        <a:rPr sz="1300" b="0" i="0">
                          <a:solidFill>
                            <a:srgbClr val="000000"/>
                          </a:solidFill>
                        </a:rPr>
                        <a:t>Character, confidence, class, Unicode, top-3, mean/min confidence, uncertain positions, time, warning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9"/>
                  </a:ext>
                </a:extLst>
              </a:tr>
              <a:tr h="374904">
                <a:tc>
                  <a:txBody>
                    <a:bodyPr/>
                    <a:lstStyle/>
                    <a:p>
                      <a:pPr algn="ctr"/>
                      <a:r>
                        <a:rPr sz="1300" b="0" i="0">
                          <a:solidFill>
                            <a:srgbClr val="000000"/>
                          </a:solidFill>
                        </a:rPr>
                        <a:t>10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l"/>
                      <a:r>
                        <a:rPr sz="1300" b="1" i="0">
                          <a:solidFill>
                            <a:srgbClr val="000000"/>
                          </a:solidFill>
                        </a:rPr>
                        <a:t>Home and Model Performance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l"/>
                      <a:r>
                        <a:rPr sz="1300" b="0" i="0">
                          <a:solidFill>
                            <a:srgbClr val="000000"/>
                          </a:solidFill>
                        </a:rPr>
                        <a:t>Accuracy, precision, recall, F1, top-3, group accuracy, parameters, latency, robustness; About page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extLst>
                  <a:ext uri="{0D108BD9-81ED-4DB2-BD59-A6C34878D82A}">
                    <a16:rowId xmlns:a16="http://schemas.microsoft.com/office/drawing/2014/main" val="10010"/>
                  </a:ext>
                </a:extLst>
              </a:tr>
              <a:tr h="374904">
                <a:tc>
                  <a:txBody>
                    <a:bodyPr/>
                    <a:lstStyle/>
                    <a:p>
                      <a:pPr algn="ctr"/>
                      <a:r>
                        <a:rPr sz="1300" b="0" i="0">
                          <a:solidFill>
                            <a:srgbClr val="000000"/>
                          </a:solidFill>
                        </a:rPr>
                        <a:t>11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l"/>
                      <a:r>
                        <a:rPr sz="1300" b="1" i="0">
                          <a:solidFill>
                            <a:srgbClr val="000000"/>
                          </a:solidFill>
                        </a:rPr>
                        <a:t>PDF Recognition Report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l"/>
                      <a:r>
                        <a:rPr sz="1300" b="0" i="0">
                          <a:solidFill>
                            <a:srgbClr val="000000"/>
                          </a:solidFill>
                        </a:rPr>
                        <a:t>ReportLab report: summary, Unicode, confidence, images, character-wise results, corrections, time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11"/>
                  </a:ext>
                </a:extLst>
              </a:tr>
              <a:tr h="374904">
                <a:tc>
                  <a:txBody>
                    <a:bodyPr/>
                    <a:lstStyle/>
                    <a:p>
                      <a:pPr algn="ctr"/>
                      <a:r>
                        <a:rPr sz="1300" b="0" i="0">
                          <a:solidFill>
                            <a:srgbClr val="000000"/>
                          </a:solidFill>
                        </a:rPr>
                        <a:t>12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l"/>
                      <a:r>
                        <a:rPr sz="1300" b="1" i="0">
                          <a:solidFill>
                            <a:srgbClr val="000000"/>
                          </a:solidFill>
                        </a:rPr>
                        <a:t>User Logout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l"/>
                      <a:r>
                        <a:rPr sz="1300" b="0" i="0">
                          <a:solidFill>
                            <a:srgbClr val="000000"/>
                          </a:solidFill>
                        </a:rPr>
                        <a:t>Session cleared; redirect to login; authentication required again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46</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Output Screens (1/5)</a:t>
            </a:r>
          </a:p>
        </p:txBody>
      </p:sp>
      <p:pic>
        <p:nvPicPr>
          <p:cNvPr id="6" name="Picture 5" descr="image13.png"/>
          <p:cNvPicPr>
            <a:picLocks noChangeAspect="1"/>
          </p:cNvPicPr>
          <p:nvPr/>
        </p:nvPicPr>
        <p:blipFill>
          <a:blip r:embed="rId4"/>
          <a:stretch>
            <a:fillRect/>
          </a:stretch>
        </p:blipFill>
        <p:spPr>
          <a:xfrm>
            <a:off x="548640" y="1488281"/>
            <a:ext cx="5440680" cy="2509837"/>
          </a:xfrm>
          <a:prstGeom prst="rect">
            <a:avLst/>
          </a:prstGeom>
          <a:ln w="9525">
            <a:solidFill>
              <a:srgbClr val="BFBFBF"/>
            </a:solidFill>
          </a:ln>
        </p:spPr>
      </p:pic>
      <p:sp>
        <p:nvSpPr>
          <p:cNvPr id="7" name="TextBox 6"/>
          <p:cNvSpPr txBox="1"/>
          <p:nvPr/>
        </p:nvSpPr>
        <p:spPr>
          <a:xfrm>
            <a:off x="548640" y="4034694"/>
            <a:ext cx="544068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12: Home page</a:t>
            </a:r>
          </a:p>
        </p:txBody>
      </p:sp>
      <p:pic>
        <p:nvPicPr>
          <p:cNvPr id="8" name="Picture 7" descr="image14.png"/>
          <p:cNvPicPr>
            <a:picLocks noChangeAspect="1"/>
          </p:cNvPicPr>
          <p:nvPr/>
        </p:nvPicPr>
        <p:blipFill>
          <a:blip r:embed="rId5"/>
          <a:stretch>
            <a:fillRect/>
          </a:stretch>
        </p:blipFill>
        <p:spPr>
          <a:xfrm>
            <a:off x="6217920" y="1486257"/>
            <a:ext cx="5440680" cy="2513885"/>
          </a:xfrm>
          <a:prstGeom prst="rect">
            <a:avLst/>
          </a:prstGeom>
          <a:ln w="9525">
            <a:solidFill>
              <a:srgbClr val="BFBFBF"/>
            </a:solidFill>
          </a:ln>
        </p:spPr>
      </p:pic>
      <p:sp>
        <p:nvSpPr>
          <p:cNvPr id="9" name="TextBox 8"/>
          <p:cNvSpPr txBox="1"/>
          <p:nvPr/>
        </p:nvSpPr>
        <p:spPr>
          <a:xfrm>
            <a:off x="6217920" y="4036718"/>
            <a:ext cx="544068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13: About page</a:t>
            </a:r>
          </a:p>
        </p:txBody>
      </p:sp>
      <p:sp>
        <p:nvSpPr>
          <p:cNvPr id="10" name="TextBox 9"/>
          <p:cNvSpPr txBox="1"/>
          <p:nvPr/>
        </p:nvSpPr>
        <p:spPr>
          <a:xfrm>
            <a:off x="548640" y="4709160"/>
            <a:ext cx="5440680" cy="1554480"/>
          </a:xfrm>
          <a:prstGeom prst="rect">
            <a:avLst/>
          </a:prstGeom>
          <a:noFill/>
        </p:spPr>
        <p:txBody>
          <a:bodyPr wrap="square" lIns="45720" tIns="27432" rIns="45720" bIns="27432">
            <a:spAutoFit/>
          </a:bodyPr>
          <a:lstStyle/>
          <a:p>
            <a:pPr marL="0" indent="0">
              <a:spcAft>
                <a:spcPts val="400"/>
              </a:spcAft>
              <a:buNone/>
            </a:pPr>
            <a:r>
              <a:rPr sz="1500" b="1" i="0"/>
              <a:t>Home Page:</a:t>
            </a:r>
            <a:r>
              <a:rPr sz="1500" b="0" i="0"/>
              <a:t> introduces the system using SGF-MobileNetV3 and its stroke-aware approach; shows project statistics, model accuracy and the conversion of handwritten Telugu to Unicode text.</a:t>
            </a:r>
          </a:p>
        </p:txBody>
      </p:sp>
      <p:sp>
        <p:nvSpPr>
          <p:cNvPr id="11" name="TextBox 10"/>
          <p:cNvSpPr txBox="1"/>
          <p:nvPr/>
        </p:nvSpPr>
        <p:spPr>
          <a:xfrm>
            <a:off x="6217920" y="4709160"/>
            <a:ext cx="5440680" cy="1554480"/>
          </a:xfrm>
          <a:prstGeom prst="rect">
            <a:avLst/>
          </a:prstGeom>
          <a:noFill/>
        </p:spPr>
        <p:txBody>
          <a:bodyPr wrap="square" lIns="45720" tIns="27432" rIns="45720" bIns="27432">
            <a:spAutoFit/>
          </a:bodyPr>
          <a:lstStyle/>
          <a:p>
            <a:pPr marL="0" indent="0">
              <a:spcAft>
                <a:spcPts val="400"/>
              </a:spcAft>
              <a:buNone/>
            </a:pPr>
            <a:r>
              <a:rPr sz="1500" b="1" i="0"/>
              <a:t>About Page:</a:t>
            </a:r>
            <a:r>
              <a:rPr sz="1500" b="0" i="0"/>
              <a:t> overview of the Telugu Handwritten OCR System – dataset preparation, preprocessing, model architectures, Unicode conversion and dictionary correction; highlights the baseline and proposed models.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47</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Output Screens (2/5)</a:t>
            </a:r>
          </a:p>
        </p:txBody>
      </p:sp>
      <p:pic>
        <p:nvPicPr>
          <p:cNvPr id="6" name="Picture 5" descr="image15.png"/>
          <p:cNvPicPr>
            <a:picLocks noChangeAspect="1"/>
          </p:cNvPicPr>
          <p:nvPr/>
        </p:nvPicPr>
        <p:blipFill>
          <a:blip r:embed="rId4"/>
          <a:stretch>
            <a:fillRect/>
          </a:stretch>
        </p:blipFill>
        <p:spPr>
          <a:xfrm>
            <a:off x="548640" y="1468806"/>
            <a:ext cx="5440679" cy="2548787"/>
          </a:xfrm>
          <a:prstGeom prst="rect">
            <a:avLst/>
          </a:prstGeom>
          <a:ln w="9525">
            <a:solidFill>
              <a:srgbClr val="BFBFBF"/>
            </a:solidFill>
          </a:ln>
        </p:spPr>
      </p:pic>
      <p:sp>
        <p:nvSpPr>
          <p:cNvPr id="7" name="TextBox 6"/>
          <p:cNvSpPr txBox="1"/>
          <p:nvPr/>
        </p:nvSpPr>
        <p:spPr>
          <a:xfrm>
            <a:off x="548640" y="4054169"/>
            <a:ext cx="544068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14: Registration page</a:t>
            </a:r>
          </a:p>
        </p:txBody>
      </p:sp>
      <p:pic>
        <p:nvPicPr>
          <p:cNvPr id="8" name="Picture 7" descr="image16.png"/>
          <p:cNvPicPr>
            <a:picLocks noChangeAspect="1"/>
          </p:cNvPicPr>
          <p:nvPr/>
        </p:nvPicPr>
        <p:blipFill>
          <a:blip r:embed="rId5"/>
          <a:stretch>
            <a:fillRect/>
          </a:stretch>
        </p:blipFill>
        <p:spPr>
          <a:xfrm>
            <a:off x="6217920" y="1582226"/>
            <a:ext cx="5440680" cy="2321947"/>
          </a:xfrm>
          <a:prstGeom prst="rect">
            <a:avLst/>
          </a:prstGeom>
          <a:ln w="9525">
            <a:solidFill>
              <a:srgbClr val="BFBFBF"/>
            </a:solidFill>
          </a:ln>
        </p:spPr>
      </p:pic>
      <p:sp>
        <p:nvSpPr>
          <p:cNvPr id="9" name="TextBox 8"/>
          <p:cNvSpPr txBox="1"/>
          <p:nvPr/>
        </p:nvSpPr>
        <p:spPr>
          <a:xfrm>
            <a:off x="6217920" y="3940749"/>
            <a:ext cx="544068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15: Login page</a:t>
            </a:r>
          </a:p>
        </p:txBody>
      </p:sp>
      <p:sp>
        <p:nvSpPr>
          <p:cNvPr id="10" name="TextBox 9"/>
          <p:cNvSpPr txBox="1"/>
          <p:nvPr/>
        </p:nvSpPr>
        <p:spPr>
          <a:xfrm>
            <a:off x="548640" y="4709160"/>
            <a:ext cx="5440680" cy="1554480"/>
          </a:xfrm>
          <a:prstGeom prst="rect">
            <a:avLst/>
          </a:prstGeom>
          <a:noFill/>
        </p:spPr>
        <p:txBody>
          <a:bodyPr wrap="square" lIns="45720" tIns="27432" rIns="45720" bIns="27432">
            <a:spAutoFit/>
          </a:bodyPr>
          <a:lstStyle/>
          <a:p>
            <a:pPr marL="0" indent="0">
              <a:spcAft>
                <a:spcPts val="400"/>
              </a:spcAft>
              <a:buNone/>
            </a:pPr>
            <a:r>
              <a:rPr sz="1500" b="1" i="0"/>
              <a:t>Register Page:</a:t>
            </a:r>
            <a:r>
              <a:rPr sz="1500" b="0" i="0"/>
              <a:t> new users create an account with email, password and confirmation; details are validated and stored in the MySQL database for future authentication.</a:t>
            </a:r>
          </a:p>
        </p:txBody>
      </p:sp>
      <p:sp>
        <p:nvSpPr>
          <p:cNvPr id="11" name="TextBox 10"/>
          <p:cNvSpPr txBox="1"/>
          <p:nvPr/>
        </p:nvSpPr>
        <p:spPr>
          <a:xfrm>
            <a:off x="6217920" y="4709160"/>
            <a:ext cx="5440680" cy="1554480"/>
          </a:xfrm>
          <a:prstGeom prst="rect">
            <a:avLst/>
          </a:prstGeom>
          <a:noFill/>
        </p:spPr>
        <p:txBody>
          <a:bodyPr wrap="square" lIns="45720" tIns="27432" rIns="45720" bIns="27432">
            <a:spAutoFit/>
          </a:bodyPr>
          <a:lstStyle/>
          <a:p>
            <a:pPr marL="0" indent="0">
              <a:spcAft>
                <a:spcPts val="400"/>
              </a:spcAft>
              <a:buNone/>
            </a:pPr>
            <a:r>
              <a:rPr sz="1500" b="1" i="0"/>
              <a:t>Login Page:</a:t>
            </a:r>
            <a:r>
              <a:rPr sz="1500" b="0" i="0"/>
              <a:t> registered users securely access the Telugu Handwritten Character Recognition System with email and password.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48</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Output Screens (3/5)</a:t>
            </a:r>
          </a:p>
        </p:txBody>
      </p:sp>
      <p:pic>
        <p:nvPicPr>
          <p:cNvPr id="6" name="Picture 5" descr="image17.png"/>
          <p:cNvPicPr>
            <a:picLocks noChangeAspect="1"/>
          </p:cNvPicPr>
          <p:nvPr/>
        </p:nvPicPr>
        <p:blipFill>
          <a:blip r:embed="rId4"/>
          <a:stretch>
            <a:fillRect/>
          </a:stretch>
        </p:blipFill>
        <p:spPr>
          <a:xfrm>
            <a:off x="548640" y="1488586"/>
            <a:ext cx="5440679" cy="2509227"/>
          </a:xfrm>
          <a:prstGeom prst="rect">
            <a:avLst/>
          </a:prstGeom>
          <a:ln w="9525">
            <a:solidFill>
              <a:srgbClr val="BFBFBF"/>
            </a:solidFill>
          </a:ln>
        </p:spPr>
      </p:pic>
      <p:sp>
        <p:nvSpPr>
          <p:cNvPr id="7" name="TextBox 6"/>
          <p:cNvSpPr txBox="1"/>
          <p:nvPr/>
        </p:nvSpPr>
        <p:spPr>
          <a:xfrm>
            <a:off x="548640" y="4034389"/>
            <a:ext cx="544068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16: Dashboard page</a:t>
            </a:r>
          </a:p>
        </p:txBody>
      </p:sp>
      <p:pic>
        <p:nvPicPr>
          <p:cNvPr id="8" name="Picture 7" descr="image18.png"/>
          <p:cNvPicPr>
            <a:picLocks noChangeAspect="1"/>
          </p:cNvPicPr>
          <p:nvPr/>
        </p:nvPicPr>
        <p:blipFill>
          <a:blip r:embed="rId5"/>
          <a:stretch>
            <a:fillRect/>
          </a:stretch>
        </p:blipFill>
        <p:spPr>
          <a:xfrm>
            <a:off x="6217920" y="1476136"/>
            <a:ext cx="5440680" cy="2534126"/>
          </a:xfrm>
          <a:prstGeom prst="rect">
            <a:avLst/>
          </a:prstGeom>
          <a:ln w="9525">
            <a:solidFill>
              <a:srgbClr val="BFBFBF"/>
            </a:solidFill>
          </a:ln>
        </p:spPr>
      </p:pic>
      <p:sp>
        <p:nvSpPr>
          <p:cNvPr id="9" name="TextBox 8"/>
          <p:cNvSpPr txBox="1"/>
          <p:nvPr/>
        </p:nvSpPr>
        <p:spPr>
          <a:xfrm>
            <a:off x="6217920" y="4046839"/>
            <a:ext cx="544068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17: Model performance page</a:t>
            </a:r>
          </a:p>
        </p:txBody>
      </p:sp>
      <p:sp>
        <p:nvSpPr>
          <p:cNvPr id="10" name="TextBox 9"/>
          <p:cNvSpPr txBox="1"/>
          <p:nvPr/>
        </p:nvSpPr>
        <p:spPr>
          <a:xfrm>
            <a:off x="548640" y="4709160"/>
            <a:ext cx="5440680" cy="1554480"/>
          </a:xfrm>
          <a:prstGeom prst="rect">
            <a:avLst/>
          </a:prstGeom>
          <a:noFill/>
        </p:spPr>
        <p:txBody>
          <a:bodyPr wrap="square" lIns="45720" tIns="27432" rIns="45720" bIns="27432">
            <a:spAutoFit/>
          </a:bodyPr>
          <a:lstStyle/>
          <a:p>
            <a:pPr marL="0" indent="0">
              <a:spcAft>
                <a:spcPts val="400"/>
              </a:spcAft>
              <a:buNone/>
            </a:pPr>
            <a:r>
              <a:rPr sz="1500" b="1" i="0"/>
              <a:t>Dashboard Page:</a:t>
            </a:r>
            <a:r>
              <a:rPr sz="1500" b="0" i="0"/>
              <a:t> welcome message, dataset statistics, character classes, model accuracy and navigation for recognition, model performance and project information.</a:t>
            </a:r>
          </a:p>
        </p:txBody>
      </p:sp>
      <p:sp>
        <p:nvSpPr>
          <p:cNvPr id="11" name="TextBox 10"/>
          <p:cNvSpPr txBox="1"/>
          <p:nvPr/>
        </p:nvSpPr>
        <p:spPr>
          <a:xfrm>
            <a:off x="6217920" y="4709160"/>
            <a:ext cx="5440680" cy="1554480"/>
          </a:xfrm>
          <a:prstGeom prst="rect">
            <a:avLst/>
          </a:prstGeom>
          <a:noFill/>
        </p:spPr>
        <p:txBody>
          <a:bodyPr wrap="square" lIns="45720" tIns="27432" rIns="45720" bIns="27432">
            <a:spAutoFit/>
          </a:bodyPr>
          <a:lstStyle/>
          <a:p>
            <a:pPr marL="0" indent="0">
              <a:spcAft>
                <a:spcPts val="400"/>
              </a:spcAft>
              <a:buNone/>
            </a:pPr>
            <a:r>
              <a:rPr sz="1500" b="1" i="0"/>
              <a:t>Model Page:</a:t>
            </a:r>
            <a:r>
              <a:rPr sz="1500" b="0" i="0"/>
              <a:t> SGF-MobileNetV3 results – 95.90% accuracy, 99.48% top-3 accuracy, 95.34% macro F1 – and comparison with the MobileNetV3-Small baseline (accuracy, precision, recall, F1, model size, inference time).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49</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Output Screens (4/5)</a:t>
            </a:r>
          </a:p>
        </p:txBody>
      </p:sp>
      <p:pic>
        <p:nvPicPr>
          <p:cNvPr id="6" name="Picture 5" descr="image19.png"/>
          <p:cNvPicPr>
            <a:picLocks noChangeAspect="1"/>
          </p:cNvPicPr>
          <p:nvPr/>
        </p:nvPicPr>
        <p:blipFill>
          <a:blip r:embed="rId4"/>
          <a:stretch>
            <a:fillRect/>
          </a:stretch>
        </p:blipFill>
        <p:spPr>
          <a:xfrm>
            <a:off x="548640" y="1379808"/>
            <a:ext cx="6949440" cy="2909662"/>
          </a:xfrm>
          <a:prstGeom prst="rect">
            <a:avLst/>
          </a:prstGeom>
          <a:ln w="9525">
            <a:solidFill>
              <a:srgbClr val="BFBFBF"/>
            </a:solidFill>
          </a:ln>
        </p:spPr>
      </p:pic>
      <p:sp>
        <p:nvSpPr>
          <p:cNvPr id="7" name="TextBox 6"/>
          <p:cNvSpPr txBox="1"/>
          <p:nvPr/>
        </p:nvSpPr>
        <p:spPr>
          <a:xfrm>
            <a:off x="548640" y="4326047"/>
            <a:ext cx="694944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18: Prediction page – image upload</a:t>
            </a:r>
          </a:p>
        </p:txBody>
      </p:sp>
      <p:sp>
        <p:nvSpPr>
          <p:cNvPr id="8" name="TextBox 7"/>
          <p:cNvSpPr txBox="1"/>
          <p:nvPr/>
        </p:nvSpPr>
        <p:spPr>
          <a:xfrm>
            <a:off x="7772400" y="1371600"/>
            <a:ext cx="3886200" cy="4389120"/>
          </a:xfrm>
          <a:prstGeom prst="rect">
            <a:avLst/>
          </a:prstGeom>
          <a:noFill/>
        </p:spPr>
        <p:txBody>
          <a:bodyPr wrap="square" lIns="45720" tIns="27432" rIns="45720" bIns="27432">
            <a:spAutoFit/>
          </a:bodyPr>
          <a:lstStyle/>
          <a:p>
            <a:pPr marL="0" indent="0">
              <a:spcAft>
                <a:spcPts val="400"/>
              </a:spcAft>
              <a:buNone/>
            </a:pPr>
            <a:r>
              <a:rPr sz="1600" b="1" i="0"/>
              <a:t>Prediction Page:</a:t>
            </a:r>
            <a:r>
              <a:rPr sz="1600" b="0" i="0"/>
              <a:t> users upload handwritten Telugu character images for recognition with SGF-MobileNetV3. After processing, the system displays the recognized Telugu character, confidence percentage, character category and inference time, along with prediction details, structural stroke visualizations and a downloadable PDF report.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50</a:t>
            </a:fld>
            <a:endParaRPr lang="en-IN"/>
          </a:p>
        </p:txBody>
      </p:sp>
      <p:pic>
        <p:nvPicPr>
          <p:cNvPr id="4" name="Picture 3" descr="image.png"/>
          <p:cNvPicPr>
            <a:picLocks noChangeAspect="1"/>
          </p:cNvPicPr>
          <p:nvPr/>
        </p:nvPicPr>
        <p:blipFill>
          <a:blip r:embed="rId2"/>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Output Screens (5/5)</a:t>
            </a:r>
          </a:p>
        </p:txBody>
      </p:sp>
      <p:pic>
        <p:nvPicPr>
          <p:cNvPr id="6" name="Picture 5" descr="image20.png"/>
          <p:cNvPicPr>
            <a:picLocks noChangeAspect="1"/>
          </p:cNvPicPr>
          <p:nvPr/>
        </p:nvPicPr>
        <p:blipFill>
          <a:blip r:embed="rId3"/>
          <a:stretch>
            <a:fillRect/>
          </a:stretch>
        </p:blipFill>
        <p:spPr>
          <a:xfrm>
            <a:off x="548639" y="1616118"/>
            <a:ext cx="5440680" cy="2528482"/>
          </a:xfrm>
          <a:prstGeom prst="rect">
            <a:avLst/>
          </a:prstGeom>
          <a:ln w="9525">
            <a:solidFill>
              <a:srgbClr val="BFBFBF"/>
            </a:solidFill>
          </a:ln>
        </p:spPr>
      </p:pic>
      <p:sp>
        <p:nvSpPr>
          <p:cNvPr id="7" name="TextBox 6"/>
          <p:cNvSpPr txBox="1"/>
          <p:nvPr/>
        </p:nvSpPr>
        <p:spPr>
          <a:xfrm>
            <a:off x="548640" y="4181177"/>
            <a:ext cx="544068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19: Prediction result (1)</a:t>
            </a:r>
          </a:p>
        </p:txBody>
      </p:sp>
      <p:pic>
        <p:nvPicPr>
          <p:cNvPr id="8" name="Picture 7" descr="image21.png"/>
          <p:cNvPicPr>
            <a:picLocks noChangeAspect="1"/>
          </p:cNvPicPr>
          <p:nvPr/>
        </p:nvPicPr>
        <p:blipFill>
          <a:blip r:embed="rId4"/>
          <a:stretch>
            <a:fillRect/>
          </a:stretch>
        </p:blipFill>
        <p:spPr>
          <a:xfrm>
            <a:off x="6217919" y="1619516"/>
            <a:ext cx="5440680" cy="2521686"/>
          </a:xfrm>
          <a:prstGeom prst="rect">
            <a:avLst/>
          </a:prstGeom>
          <a:ln w="9525">
            <a:solidFill>
              <a:srgbClr val="BFBFBF"/>
            </a:solidFill>
          </a:ln>
        </p:spPr>
      </p:pic>
      <p:sp>
        <p:nvSpPr>
          <p:cNvPr id="9" name="TextBox 8"/>
          <p:cNvSpPr txBox="1"/>
          <p:nvPr/>
        </p:nvSpPr>
        <p:spPr>
          <a:xfrm>
            <a:off x="6217920" y="4177779"/>
            <a:ext cx="544068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20: Prediction result (2)</a:t>
            </a:r>
          </a:p>
        </p:txBody>
      </p:sp>
      <p:sp>
        <p:nvSpPr>
          <p:cNvPr id="10" name="TextBox 9"/>
          <p:cNvSpPr txBox="1"/>
          <p:nvPr/>
        </p:nvSpPr>
        <p:spPr>
          <a:xfrm>
            <a:off x="548640" y="5029200"/>
            <a:ext cx="11091672" cy="1097280"/>
          </a:xfrm>
          <a:prstGeom prst="rect">
            <a:avLst/>
          </a:prstGeom>
          <a:noFill/>
        </p:spPr>
        <p:txBody>
          <a:bodyPr wrap="square" lIns="45720" tIns="27432" rIns="45720" bIns="27432">
            <a:spAutoFit/>
          </a:bodyPr>
          <a:lstStyle/>
          <a:p>
            <a:pPr marL="0" indent="0">
              <a:spcAft>
                <a:spcPts val="400"/>
              </a:spcAft>
              <a:buNone/>
            </a:pPr>
            <a:r>
              <a:rPr sz="1600" b="0" i="0"/>
              <a:t>Prediction results with the recognized Telugu character, confidence score, prediction details, structural stroke visualizations and the option to download the PDF recognition report.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51</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System Study: Feasibility</a:t>
            </a:r>
          </a:p>
        </p:txBody>
      </p:sp>
      <p:sp>
        <p:nvSpPr>
          <p:cNvPr id="6" name="TextBox 5"/>
          <p:cNvSpPr txBox="1"/>
          <p:nvPr/>
        </p:nvSpPr>
        <p:spPr>
          <a:xfrm>
            <a:off x="548640" y="1280160"/>
            <a:ext cx="6766560" cy="4937760"/>
          </a:xfrm>
          <a:prstGeom prst="rect">
            <a:avLst/>
          </a:prstGeom>
          <a:noFill/>
        </p:spPr>
        <p:txBody>
          <a:bodyPr wrap="square" lIns="45720" tIns="27432" rIns="45720" bIns="27432">
            <a:spAutoFit/>
          </a:bodyPr>
          <a:lstStyle/>
          <a:p>
            <a:pPr marL="256032" indent="-219456">
              <a:spcAft>
                <a:spcPts val="600"/>
              </a:spcAft>
              <a:buFont typeface="Arial"/>
              <a:buChar char="•"/>
            </a:pPr>
            <a:r>
              <a:rPr sz="1600" b="1" i="0"/>
              <a:t>Technical:</a:t>
            </a:r>
            <a:r>
              <a:rPr sz="1600" b="0" i="0"/>
              <a:t> Python, PyTorch, Torchvision, OpenCV, Scikit-learn, Scikit-image, NumPy, Flask, ReportLab and MySQL; 96 × 96 images, 76 classes; CUDA GPU acceleration with CPU fallback</a:t>
            </a:r>
          </a:p>
          <a:p>
            <a:pPr marL="256032" indent="-219456">
              <a:spcAft>
                <a:spcPts val="600"/>
              </a:spcAft>
              <a:buFont typeface="Arial"/>
              <a:buChar char="•"/>
            </a:pPr>
            <a:r>
              <a:rPr sz="1600" b="1" i="0"/>
              <a:t>Operational:</a:t>
            </a:r>
            <a:r>
              <a:rPr sz="1600" b="0" i="0"/>
              <a:t> Flask application for registered users – upload images, choose Single Character or Word Recognition, obtain Unicode predictions, confidence, alternatives, stroke visualizations and PDF reports; MySQL for login; dictionary correction for ordered sequences</a:t>
            </a:r>
          </a:p>
          <a:p>
            <a:pPr marL="256032" indent="-219456">
              <a:spcAft>
                <a:spcPts val="600"/>
              </a:spcAft>
              <a:buFont typeface="Arial"/>
              <a:buChar char="•"/>
            </a:pPr>
            <a:r>
              <a:rPr sz="1600" b="1" i="0"/>
              <a:t>Economic:</a:t>
            </a:r>
            <a:r>
              <a:rPr sz="1600" b="0" i="0"/>
              <a:t> open-source frameworks, available dataset and existing infrastructure; extra GPU speeds training but is not mandatory for CPU inference</a:t>
            </a:r>
          </a:p>
          <a:p>
            <a:pPr marL="256032" indent="-219456">
              <a:spcAft>
                <a:spcPts val="600"/>
              </a:spcAft>
              <a:buFont typeface="Arial"/>
              <a:buChar char="•"/>
            </a:pPr>
            <a:r>
              <a:rPr sz="1600" b="0" i="0"/>
              <a:t>Modular architecture supports model updates and reusable preprocessing</a:t>
            </a:r>
          </a:p>
        </p:txBody>
      </p:sp>
      <p:sp>
        <p:nvSpPr>
          <p:cNvPr id="7" name="Rounded Rectangle 6"/>
          <p:cNvSpPr/>
          <p:nvPr/>
        </p:nvSpPr>
        <p:spPr>
          <a:xfrm>
            <a:off x="7589520" y="1371600"/>
            <a:ext cx="4069080" cy="310896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99248" y="1444752"/>
            <a:ext cx="3849624" cy="2962656"/>
          </a:xfrm>
          <a:prstGeom prst="rect">
            <a:avLst/>
          </a:prstGeom>
          <a:noFill/>
        </p:spPr>
        <p:txBody>
          <a:bodyPr wrap="square" lIns="45720" tIns="27432" rIns="45720" bIns="27432">
            <a:spAutoFit/>
          </a:bodyPr>
          <a:lstStyle/>
          <a:p>
            <a:pPr marL="0" indent="0">
              <a:spcAft>
                <a:spcPts val="400"/>
              </a:spcAft>
              <a:buNone/>
            </a:pPr>
            <a:r>
              <a:rPr sz="1900" b="1" i="0">
                <a:solidFill>
                  <a:srgbClr val="1F3864"/>
                </a:solidFill>
              </a:rPr>
              <a:t>Conclusion of study</a:t>
            </a:r>
          </a:p>
          <a:p>
            <a:pPr marL="0" indent="0">
              <a:spcAft>
                <a:spcPts val="400"/>
              </a:spcAft>
              <a:buNone/>
            </a:pPr>
            <a:r>
              <a:rPr sz="1600" b="0" i="0"/>
              <a:t>Technically feasible as a research prototype. Production deployment needs stronger authentication security, comprehensive application testing and validation on independent handwritten character and word datasets.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52</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Types of Testing (1/2)</a:t>
            </a:r>
          </a:p>
        </p:txBody>
      </p:sp>
      <p:graphicFrame>
        <p:nvGraphicFramePr>
          <p:cNvPr id="6" name="Table 5"/>
          <p:cNvGraphicFramePr>
            <a:graphicFrameLocks noGrp="1"/>
          </p:cNvGraphicFramePr>
          <p:nvPr/>
        </p:nvGraphicFramePr>
        <p:xfrm>
          <a:off x="548640" y="1325880"/>
          <a:ext cx="11091672" cy="4389120"/>
        </p:xfrm>
        <a:graphic>
          <a:graphicData uri="http://schemas.openxmlformats.org/drawingml/2006/table">
            <a:tbl>
              <a:tblPr>
                <a:tableStyleId>{2D5ABB26-0587-4C30-8999-92F81FD0307C}</a:tableStyleId>
              </a:tblPr>
              <a:tblGrid>
                <a:gridCol w="192024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1097280">
                <a:tc>
                  <a:txBody>
                    <a:bodyPr/>
                    <a:lstStyle/>
                    <a:p>
                      <a:r>
                        <a:rPr sz="1500" b="1" i="0">
                          <a:solidFill>
                            <a:srgbClr val="FFFFFF"/>
                          </a:solidFill>
                        </a:rPr>
                        <a:t>Type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tc>
                  <a:txBody>
                    <a:bodyPr/>
                    <a:lstStyle/>
                    <a:p>
                      <a:r>
                        <a:rPr sz="1500" b="1" i="0">
                          <a:solidFill>
                            <a:srgbClr val="FFFFFF"/>
                          </a:solidFill>
                        </a:rPr>
                        <a:t>Scope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tc>
                  <a:txBody>
                    <a:bodyPr/>
                    <a:lstStyle/>
                    <a:p>
                      <a:r>
                        <a:rPr sz="1500" b="1" i="0">
                          <a:solidFill>
                            <a:srgbClr val="FFFFFF"/>
                          </a:solidFill>
                        </a:rPr>
                        <a:t>Note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extLst>
                  <a:ext uri="{0D108BD9-81ED-4DB2-BD59-A6C34878D82A}">
                    <a16:rowId xmlns:a16="http://schemas.microsoft.com/office/drawing/2014/main" val="10000"/>
                  </a:ext>
                </a:extLst>
              </a:tr>
              <a:tr h="1097280">
                <a:tc>
                  <a:txBody>
                    <a:bodyPr/>
                    <a:lstStyle/>
                    <a:p>
                      <a:r>
                        <a:rPr sz="1500" b="1" i="0">
                          <a:solidFill>
                            <a:srgbClr val="000000"/>
                          </a:solidFill>
                        </a:rPr>
                        <a:t>Unit testing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r>
                        <a:rPr sz="1500" b="0" i="0">
                          <a:solidFill>
                            <a:srgbClr val="000000"/>
                          </a:solidFill>
                        </a:rPr>
                        <a:t>Preprocessing, stroke extraction, baseline and SGF-MobileNetV3 (576-d, 128-d, 256-d), sigmoid gate in [0, 1], Softmax, Unicode mapping, top-3, 50% threshold, dictionary correction, validation, database, PDF</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r>
                        <a:rPr sz="1500" b="0" i="0">
                          <a:solidFill>
                            <a:srgbClr val="000000"/>
                          </a:solidFill>
                        </a:rPr>
                        <a:t>Scope defined; automated unit-test results not provided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1"/>
                  </a:ext>
                </a:extLst>
              </a:tr>
              <a:tr h="1097280">
                <a:tc>
                  <a:txBody>
                    <a:bodyPr/>
                    <a:lstStyle/>
                    <a:p>
                      <a:r>
                        <a:rPr sz="1500" b="1" i="0">
                          <a:solidFill>
                            <a:srgbClr val="000000"/>
                          </a:solidFill>
                        </a:rPr>
                        <a:t>Integration testing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r>
                        <a:rPr sz="1500" b="0" i="0">
                          <a:solidFill>
                            <a:srgbClr val="000000"/>
                          </a:solidFill>
                        </a:rPr>
                        <a:t>Preprocessing → inference; appearance–stroke fusion; Unicode conversion; word correction; Flask, MySQL, ReportLab; checkpoint loading, metadata, sessions, file deletion, error handling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r>
                        <a:rPr sz="1500" b="0" i="0">
                          <a:solidFill>
                            <a:srgbClr val="000000"/>
                          </a:solidFill>
                        </a:rPr>
                        <a:t>Formal end-to-end execution still necessary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extLst>
                  <a:ext uri="{0D108BD9-81ED-4DB2-BD59-A6C34878D82A}">
                    <a16:rowId xmlns:a16="http://schemas.microsoft.com/office/drawing/2014/main" val="10002"/>
                  </a:ext>
                </a:extLst>
              </a:tr>
              <a:tr h="1097280">
                <a:tc>
                  <a:txBody>
                    <a:bodyPr/>
                    <a:lstStyle/>
                    <a:p>
                      <a:r>
                        <a:rPr sz="1500" b="1" i="0">
                          <a:solidFill>
                            <a:srgbClr val="000000"/>
                          </a:solidFill>
                        </a:rPr>
                        <a:t>Functional testing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r>
                        <a:rPr sz="1500" b="0" i="0">
                          <a:solidFill>
                            <a:srgbClr val="000000"/>
                          </a:solidFill>
                        </a:rPr>
                        <a:t>Registration, login, three recognition modes, supported formats, 40-image and 32 MB limits, input rejection, Model Performance page, PDF reports, logout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r>
                        <a:rPr sz="1500" b="0" i="0">
                          <a:solidFill>
                            <a:srgbClr val="000000"/>
                          </a:solidFill>
                        </a:rPr>
                        <a:t>Formal functional testing required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53</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Types of Testing (2/2)</a:t>
            </a:r>
          </a:p>
        </p:txBody>
      </p:sp>
      <p:graphicFrame>
        <p:nvGraphicFramePr>
          <p:cNvPr id="6" name="Table 5"/>
          <p:cNvGraphicFramePr>
            <a:graphicFrameLocks noGrp="1"/>
          </p:cNvGraphicFramePr>
          <p:nvPr/>
        </p:nvGraphicFramePr>
        <p:xfrm>
          <a:off x="548640" y="1325880"/>
          <a:ext cx="11091672" cy="4663440"/>
        </p:xfrm>
        <a:graphic>
          <a:graphicData uri="http://schemas.openxmlformats.org/drawingml/2006/table">
            <a:tbl>
              <a:tblPr>
                <a:tableStyleId>{2D5ABB26-0587-4C30-8999-92F81FD0307C}</a:tableStyleId>
              </a:tblPr>
              <a:tblGrid>
                <a:gridCol w="192024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1554480">
                <a:tc>
                  <a:txBody>
                    <a:bodyPr/>
                    <a:lstStyle/>
                    <a:p>
                      <a:r>
                        <a:rPr sz="1500" b="1" i="0">
                          <a:solidFill>
                            <a:srgbClr val="FFFFFF"/>
                          </a:solidFill>
                        </a:rPr>
                        <a:t>Type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tc>
                  <a:txBody>
                    <a:bodyPr/>
                    <a:lstStyle/>
                    <a:p>
                      <a:r>
                        <a:rPr sz="1500" b="1" i="0">
                          <a:solidFill>
                            <a:srgbClr val="FFFFFF"/>
                          </a:solidFill>
                        </a:rPr>
                        <a:t>Scope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tc>
                  <a:txBody>
                    <a:bodyPr/>
                    <a:lstStyle/>
                    <a:p>
                      <a:r>
                        <a:rPr sz="1500" b="1" i="0">
                          <a:solidFill>
                            <a:srgbClr val="FFFFFF"/>
                          </a:solidFill>
                        </a:rPr>
                        <a:t>Note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extLst>
                  <a:ext uri="{0D108BD9-81ED-4DB2-BD59-A6C34878D82A}">
                    <a16:rowId xmlns:a16="http://schemas.microsoft.com/office/drawing/2014/main" val="10000"/>
                  </a:ext>
                </a:extLst>
              </a:tr>
              <a:tr h="1554480">
                <a:tc>
                  <a:txBody>
                    <a:bodyPr/>
                    <a:lstStyle/>
                    <a:p>
                      <a:r>
                        <a:rPr sz="1500" b="1" i="0">
                          <a:solidFill>
                            <a:srgbClr val="000000"/>
                          </a:solidFill>
                        </a:rPr>
                        <a:t>White box testing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r>
                        <a:rPr sz="1500" b="0" i="0">
                          <a:solidFill>
                            <a:srgbClr val="000000"/>
                          </a:solidFill>
                        </a:rPr>
                        <a:t>Code review of preprocessing, skeleton / distance-transform / Sobel functions, both architectures, training (AdamW, label smoothing, OneCycle, sampling, early stopping), inference, dictionary correction, Flask backend, database and sessions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r>
                        <a:rPr sz="1500" b="0" i="0">
                          <a:solidFill>
                            <a:srgbClr val="000000"/>
                          </a:solidFill>
                        </a:rPr>
                        <a:t>Security risks: </a:t>
                      </a:r>
                      <a:r>
                        <a:rPr sz="1500" b="1" i="0">
                          <a:solidFill>
                            <a:srgbClr val="000000"/>
                          </a:solidFill>
                        </a:rPr>
                        <a:t>plaintext password storage, hardcoded Flask secret key, debug mode enabled</a:t>
                      </a:r>
                      <a:r>
                        <a:rPr sz="1500" b="0" i="0">
                          <a:solidFill>
                            <a:srgbClr val="000000"/>
                          </a:solidFill>
                        </a:rPr>
                        <a:t> – fix before public deployment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1"/>
                  </a:ext>
                </a:extLst>
              </a:tr>
              <a:tr h="1554480">
                <a:tc>
                  <a:txBody>
                    <a:bodyPr/>
                    <a:lstStyle/>
                    <a:p>
                      <a:r>
                        <a:rPr sz="1500" b="1" i="0">
                          <a:solidFill>
                            <a:srgbClr val="000000"/>
                          </a:solidFill>
                        </a:rPr>
                        <a:t>Black box testing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r>
                        <a:rPr sz="1500" b="0" i="0">
                          <a:solidFill>
                            <a:srgbClr val="000000"/>
                          </a:solidFill>
                        </a:rPr>
                        <a:t>User view: valid/invalid registration and login; single-character and word recognition; negative tests (unsupported, corrupted, empty, oversized, &gt; 40 images); detected vs uncertain status; performance page; PDF content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r>
                        <a:rPr sz="1500" b="0" i="0">
                          <a:solidFill>
                            <a:srgbClr val="000000"/>
                          </a:solidFill>
                        </a:rPr>
                        <a:t>Also assess processing time, browser compatibility, navigation, missing-model behaviour, Telugu rendering; execution records not included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54</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Test Objectives</a:t>
            </a:r>
          </a:p>
        </p:txBody>
      </p:sp>
      <p:sp>
        <p:nvSpPr>
          <p:cNvPr id="6" name="TextBox 5"/>
          <p:cNvSpPr txBox="1"/>
          <p:nvPr/>
        </p:nvSpPr>
        <p:spPr>
          <a:xfrm>
            <a:off x="548640" y="1280160"/>
            <a:ext cx="6583680" cy="4937760"/>
          </a:xfrm>
          <a:prstGeom prst="rect">
            <a:avLst/>
          </a:prstGeom>
          <a:noFill/>
        </p:spPr>
        <p:txBody>
          <a:bodyPr wrap="square" lIns="45720" tIns="27432" rIns="45720" bIns="27432">
            <a:spAutoFit/>
          </a:bodyPr>
          <a:lstStyle/>
          <a:p>
            <a:pPr marL="256032" indent="-219456">
              <a:spcAft>
                <a:spcPts val="500"/>
              </a:spcAft>
              <a:buFont typeface="Arial"/>
              <a:buChar char="•"/>
            </a:pPr>
            <a:r>
              <a:rPr sz="1600" b="0" i="0"/>
              <a:t>Evaluate </a:t>
            </a:r>
            <a:r>
              <a:rPr sz="1600" b="1" i="0"/>
              <a:t>accuracy, reliability, functionality, usability and integration performance</a:t>
            </a:r>
            <a:r>
              <a:rPr sz="1600" b="0" i="0"/>
              <a:t> of the system</a:t>
            </a:r>
          </a:p>
          <a:p>
            <a:pPr marL="256032" indent="-219456">
              <a:spcAft>
                <a:spcPts val="500"/>
              </a:spcAft>
              <a:buFont typeface="Arial"/>
              <a:buChar char="•"/>
            </a:pPr>
            <a:r>
              <a:rPr sz="1600" b="0" i="0"/>
              <a:t>Verify recognition of Achulu, Hallulu, Guninthamulu and Othulu with the baseline and SGF-MobileNetV3</a:t>
            </a:r>
          </a:p>
          <a:p>
            <a:pPr marL="256032" indent="-219456">
              <a:spcAft>
                <a:spcPts val="500"/>
              </a:spcAft>
              <a:buFont typeface="Arial"/>
              <a:buChar char="•"/>
            </a:pPr>
            <a:r>
              <a:rPr sz="1600" b="0" i="0"/>
              <a:t>Validate preprocessing, stroke extraction, appearance learning, gated fusion and Unicode classification</a:t>
            </a:r>
          </a:p>
          <a:p>
            <a:pPr marL="256032" indent="-219456">
              <a:spcAft>
                <a:spcPts val="500"/>
              </a:spcAft>
              <a:buFont typeface="Arial"/>
              <a:buChar char="•"/>
            </a:pPr>
            <a:r>
              <a:rPr sz="1600" b="0" i="0"/>
              <a:t>Robustness under resizing, margins, compression and blur: </a:t>
            </a:r>
            <a:r>
              <a:rPr sz="1600" b="1" i="0"/>
              <a:t>90.63%</a:t>
            </a:r>
            <a:r>
              <a:rPr sz="1600" b="0" i="0"/>
              <a:t> (SGF) vs </a:t>
            </a:r>
            <a:r>
              <a:rPr sz="1600" b="1" i="0"/>
              <a:t>85.10%</a:t>
            </a:r>
            <a:r>
              <a:rPr sz="1600" b="0" i="0"/>
              <a:t> (baseline)</a:t>
            </a:r>
          </a:p>
          <a:p>
            <a:pPr marL="256032" indent="-219456">
              <a:spcAft>
                <a:spcPts val="500"/>
              </a:spcAft>
              <a:buFont typeface="Arial"/>
              <a:buChar char="•"/>
            </a:pPr>
            <a:r>
              <a:rPr sz="1600" b="0" i="0"/>
              <a:t>Parameters, model size and CPU latency – trade-off between accuracy and efficiency</a:t>
            </a:r>
          </a:p>
          <a:p>
            <a:pPr marL="256032" indent="-219456">
              <a:spcAft>
                <a:spcPts val="500"/>
              </a:spcAft>
              <a:buFont typeface="Arial"/>
              <a:buChar char="•"/>
            </a:pPr>
            <a:r>
              <a:rPr sz="1600" b="0" i="0"/>
              <a:t>Application: registration, login, upload, mode selection, confidence, alternatives, correction, MySQL, sessions, visualization, PDF, file management</a:t>
            </a:r>
          </a:p>
          <a:p>
            <a:pPr marL="256032" indent="-219456">
              <a:spcAft>
                <a:spcPts val="500"/>
              </a:spcAft>
              <a:buFont typeface="Arial"/>
              <a:buChar char="•"/>
            </a:pPr>
            <a:r>
              <a:rPr sz="1600" b="0" i="0"/>
              <a:t>Security: credential storage, session configuration, file handling, deployment settings</a:t>
            </a:r>
          </a:p>
        </p:txBody>
      </p:sp>
      <p:sp>
        <p:nvSpPr>
          <p:cNvPr id="7" name="Rounded Rectangle 6"/>
          <p:cNvSpPr/>
          <p:nvPr/>
        </p:nvSpPr>
        <p:spPr>
          <a:xfrm>
            <a:off x="7406640" y="1371600"/>
            <a:ext cx="4251960" cy="201168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16367" y="1444752"/>
            <a:ext cx="4032504" cy="1865376"/>
          </a:xfrm>
          <a:prstGeom prst="rect">
            <a:avLst/>
          </a:prstGeom>
          <a:noFill/>
        </p:spPr>
        <p:txBody>
          <a:bodyPr wrap="square" lIns="45720" tIns="27432" rIns="45720" bIns="27432">
            <a:spAutoFit/>
          </a:bodyPr>
          <a:lstStyle/>
          <a:p>
            <a:pPr marL="0" indent="0">
              <a:spcAft>
                <a:spcPts val="400"/>
              </a:spcAft>
              <a:buNone/>
            </a:pPr>
            <a:r>
              <a:rPr sz="1900" b="1" i="0">
                <a:solidFill>
                  <a:srgbClr val="1F3864"/>
                </a:solidFill>
              </a:rPr>
              <a:t>SGF-MobileNetV3</a:t>
            </a:r>
          </a:p>
          <a:p>
            <a:pPr marL="256032" indent="-219456">
              <a:spcAft>
                <a:spcPts val="400"/>
              </a:spcAft>
              <a:buFont typeface="Arial"/>
              <a:buChar char="•"/>
            </a:pPr>
            <a:r>
              <a:rPr sz="1700" b="1" i="0"/>
              <a:t>95.90%</a:t>
            </a:r>
            <a:r>
              <a:rPr sz="1700" b="0" i="0"/>
              <a:t> test accuracy, </a:t>
            </a:r>
            <a:r>
              <a:rPr sz="1700" b="1" i="0"/>
              <a:t>95.34%</a:t>
            </a:r>
            <a:r>
              <a:rPr sz="1700" b="0" i="0"/>
              <a:t> macro F1</a:t>
            </a:r>
          </a:p>
          <a:p>
            <a:pPr marL="256032" indent="-219456">
              <a:spcAft>
                <a:spcPts val="400"/>
              </a:spcAft>
              <a:buFont typeface="Arial"/>
              <a:buChar char="•"/>
            </a:pPr>
            <a:r>
              <a:rPr sz="1700" b="0" i="0"/>
              <a:t>Baseline: 90.74% accuracy, 90.69% macro F1</a:t>
            </a:r>
          </a:p>
        </p:txBody>
      </p:sp>
      <p:sp>
        <p:nvSpPr>
          <p:cNvPr id="9" name="Rounded Rectangle 8"/>
          <p:cNvSpPr/>
          <p:nvPr/>
        </p:nvSpPr>
        <p:spPr>
          <a:xfrm>
            <a:off x="7406640" y="3611880"/>
            <a:ext cx="4251960" cy="2468880"/>
          </a:xfrm>
          <a:prstGeom prst="roundRect">
            <a:avLst>
              <a:gd name="adj" fmla="val 8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16367" y="3685032"/>
            <a:ext cx="4032504" cy="2322576"/>
          </a:xfrm>
          <a:prstGeom prst="rect">
            <a:avLst/>
          </a:prstGeom>
          <a:noFill/>
        </p:spPr>
        <p:txBody>
          <a:bodyPr wrap="square" lIns="45720" tIns="27432" rIns="45720" bIns="27432">
            <a:spAutoFit/>
          </a:bodyPr>
          <a:lstStyle/>
          <a:p>
            <a:pPr marL="0" indent="0">
              <a:spcAft>
                <a:spcPts val="400"/>
              </a:spcAft>
              <a:buNone/>
            </a:pPr>
            <a:r>
              <a:rPr sz="1600" b="0" i="0"/>
              <a:t>Further validation needed with complete handwritten words, document images and independently collected handwriting samples.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55</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Results: Classification</a:t>
            </a:r>
          </a:p>
        </p:txBody>
      </p:sp>
      <p:sp>
        <p:nvSpPr>
          <p:cNvPr id="6" name="TextBox 5"/>
          <p:cNvSpPr txBox="1"/>
          <p:nvPr/>
        </p:nvSpPr>
        <p:spPr>
          <a:xfrm>
            <a:off x="548640" y="1280160"/>
            <a:ext cx="5486400" cy="457200"/>
          </a:xfrm>
          <a:prstGeom prst="rect">
            <a:avLst/>
          </a:prstGeom>
          <a:noFill/>
        </p:spPr>
        <p:txBody>
          <a:bodyPr wrap="square" lIns="45720" tIns="27432" rIns="45720" bIns="27432">
            <a:spAutoFit/>
          </a:bodyPr>
          <a:lstStyle/>
          <a:p>
            <a:pPr marL="0" indent="0">
              <a:spcAft>
                <a:spcPts val="400"/>
              </a:spcAft>
              <a:buNone/>
            </a:pPr>
            <a:r>
              <a:rPr sz="2000" b="1" i="0">
                <a:solidFill>
                  <a:srgbClr val="1F3864"/>
                </a:solidFill>
              </a:rPr>
              <a:t>Table 6.2  Model performance comparison</a:t>
            </a:r>
          </a:p>
        </p:txBody>
      </p:sp>
      <p:graphicFrame>
        <p:nvGraphicFramePr>
          <p:cNvPr id="7" name="Table 6"/>
          <p:cNvGraphicFramePr>
            <a:graphicFrameLocks noGrp="1"/>
          </p:cNvGraphicFramePr>
          <p:nvPr/>
        </p:nvGraphicFramePr>
        <p:xfrm>
          <a:off x="548640" y="1783080"/>
          <a:ext cx="5669280" cy="3304032"/>
        </p:xfrm>
        <a:graphic>
          <a:graphicData uri="http://schemas.openxmlformats.org/drawingml/2006/table">
            <a:tbl>
              <a:tblPr>
                <a:tableStyleId>{2D5ABB26-0587-4C30-8999-92F81FD0307C}</a:tableStyleId>
              </a:tblPr>
              <a:tblGrid>
                <a:gridCol w="21945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57200">
                <a:tc>
                  <a:txBody>
                    <a:bodyPr/>
                    <a:lstStyle/>
                    <a:p>
                      <a:pPr algn="l"/>
                      <a:r>
                        <a:rPr sz="1600" b="1" i="0">
                          <a:solidFill>
                            <a:srgbClr val="FFFFFF"/>
                          </a:solidFill>
                        </a:rPr>
                        <a:t>Evaluation Metric</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tc>
                  <a:txBody>
                    <a:bodyPr/>
                    <a:lstStyle/>
                    <a:p>
                      <a:pPr algn="ctr"/>
                      <a:r>
                        <a:rPr sz="1600" b="1" i="0">
                          <a:solidFill>
                            <a:srgbClr val="FFFFFF"/>
                          </a:solidFill>
                        </a:rPr>
                        <a:t>MobileNetV3-Small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tc>
                  <a:txBody>
                    <a:bodyPr/>
                    <a:lstStyle/>
                    <a:p>
                      <a:pPr algn="ctr"/>
                      <a:r>
                        <a:rPr sz="1600" b="1" i="0">
                          <a:solidFill>
                            <a:srgbClr val="FFFFFF"/>
                          </a:solidFill>
                        </a:rPr>
                        <a:t>SGF-MobileNetV3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extLst>
                  <a:ext uri="{0D108BD9-81ED-4DB2-BD59-A6C34878D82A}">
                    <a16:rowId xmlns:a16="http://schemas.microsoft.com/office/drawing/2014/main" val="10000"/>
                  </a:ext>
                </a:extLst>
              </a:tr>
              <a:tr h="457200">
                <a:tc>
                  <a:txBody>
                    <a:bodyPr/>
                    <a:lstStyle/>
                    <a:p>
                      <a:pPr algn="l"/>
                      <a:r>
                        <a:rPr sz="1600" b="1" i="0">
                          <a:solidFill>
                            <a:srgbClr val="000000"/>
                          </a:solidFill>
                        </a:rPr>
                        <a:t>Accuracy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r>
                        <a:rPr sz="1600" b="0" i="0">
                          <a:solidFill>
                            <a:srgbClr val="000000"/>
                          </a:solidFill>
                        </a:rPr>
                        <a:t>90.74%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r>
                        <a:rPr sz="1600" b="1" i="0">
                          <a:solidFill>
                            <a:srgbClr val="000000"/>
                          </a:solidFill>
                        </a:rPr>
                        <a:t>95.90%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1"/>
                  </a:ext>
                </a:extLst>
              </a:tr>
              <a:tr h="457200">
                <a:tc>
                  <a:txBody>
                    <a:bodyPr/>
                    <a:lstStyle/>
                    <a:p>
                      <a:pPr algn="l"/>
                      <a:r>
                        <a:rPr sz="1600" b="1" i="0">
                          <a:solidFill>
                            <a:srgbClr val="000000"/>
                          </a:solidFill>
                        </a:rPr>
                        <a:t>Macro Precision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ctr"/>
                      <a:r>
                        <a:rPr sz="1600" b="0" i="0">
                          <a:solidFill>
                            <a:srgbClr val="000000"/>
                          </a:solidFill>
                        </a:rPr>
                        <a:t>89.97%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ctr"/>
                      <a:r>
                        <a:rPr sz="1600" b="1" i="0">
                          <a:solidFill>
                            <a:srgbClr val="000000"/>
                          </a:solidFill>
                        </a:rPr>
                        <a:t>95.33%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extLst>
                  <a:ext uri="{0D108BD9-81ED-4DB2-BD59-A6C34878D82A}">
                    <a16:rowId xmlns:a16="http://schemas.microsoft.com/office/drawing/2014/main" val="10002"/>
                  </a:ext>
                </a:extLst>
              </a:tr>
              <a:tr h="457200">
                <a:tc>
                  <a:txBody>
                    <a:bodyPr/>
                    <a:lstStyle/>
                    <a:p>
                      <a:pPr algn="l"/>
                      <a:r>
                        <a:rPr sz="1600" b="1" i="0">
                          <a:solidFill>
                            <a:srgbClr val="000000"/>
                          </a:solidFill>
                        </a:rPr>
                        <a:t>Macro Recall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r>
                        <a:rPr sz="1600" b="0" i="0">
                          <a:solidFill>
                            <a:srgbClr val="000000"/>
                          </a:solidFill>
                        </a:rPr>
                        <a:t>92.31%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r>
                        <a:rPr sz="1600" b="1" i="0">
                          <a:solidFill>
                            <a:srgbClr val="000000"/>
                          </a:solidFill>
                        </a:rPr>
                        <a:t>95.71%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3"/>
                  </a:ext>
                </a:extLst>
              </a:tr>
              <a:tr h="457200">
                <a:tc>
                  <a:txBody>
                    <a:bodyPr/>
                    <a:lstStyle/>
                    <a:p>
                      <a:pPr algn="l"/>
                      <a:r>
                        <a:rPr sz="1600" b="1" i="0">
                          <a:solidFill>
                            <a:srgbClr val="000000"/>
                          </a:solidFill>
                        </a:rPr>
                        <a:t>Macro F1-score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ctr"/>
                      <a:r>
                        <a:rPr sz="1600" b="0" i="0">
                          <a:solidFill>
                            <a:srgbClr val="000000"/>
                          </a:solidFill>
                        </a:rPr>
                        <a:t>90.69%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ctr"/>
                      <a:r>
                        <a:rPr sz="1600" b="1" i="0">
                          <a:solidFill>
                            <a:srgbClr val="000000"/>
                          </a:solidFill>
                        </a:rPr>
                        <a:t>95.34%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extLst>
                  <a:ext uri="{0D108BD9-81ED-4DB2-BD59-A6C34878D82A}">
                    <a16:rowId xmlns:a16="http://schemas.microsoft.com/office/drawing/2014/main" val="10004"/>
                  </a:ext>
                </a:extLst>
              </a:tr>
              <a:tr h="457200">
                <a:tc>
                  <a:txBody>
                    <a:bodyPr/>
                    <a:lstStyle/>
                    <a:p>
                      <a:pPr algn="l"/>
                      <a:r>
                        <a:rPr sz="1600" b="1" i="0">
                          <a:solidFill>
                            <a:srgbClr val="000000"/>
                          </a:solidFill>
                        </a:rPr>
                        <a:t>Weighted F1-score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r>
                        <a:rPr sz="1600" b="0" i="0">
                          <a:solidFill>
                            <a:srgbClr val="000000"/>
                          </a:solidFill>
                        </a:rPr>
                        <a:t>90.89%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r>
                        <a:rPr sz="1600" b="1" i="0">
                          <a:solidFill>
                            <a:srgbClr val="000000"/>
                          </a:solidFill>
                        </a:rPr>
                        <a:t>95.89%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5"/>
                  </a:ext>
                </a:extLst>
              </a:tr>
              <a:tr h="457200">
                <a:tc>
                  <a:txBody>
                    <a:bodyPr/>
                    <a:lstStyle/>
                    <a:p>
                      <a:pPr algn="l"/>
                      <a:r>
                        <a:rPr sz="1600" b="1" i="0">
                          <a:solidFill>
                            <a:srgbClr val="000000"/>
                          </a:solidFill>
                        </a:rPr>
                        <a:t>Top-3 Accuracy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ctr"/>
                      <a:r>
                        <a:rPr sz="1600" b="0" i="0">
                          <a:solidFill>
                            <a:srgbClr val="000000"/>
                          </a:solidFill>
                        </a:rPr>
                        <a:t>98.61%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ctr"/>
                      <a:r>
                        <a:rPr sz="1600" b="1" i="0">
                          <a:solidFill>
                            <a:srgbClr val="000000"/>
                          </a:solidFill>
                        </a:rPr>
                        <a:t>99.48%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548640" y="5166360"/>
            <a:ext cx="5669280" cy="1097280"/>
          </a:xfrm>
          <a:prstGeom prst="rect">
            <a:avLst/>
          </a:prstGeom>
          <a:noFill/>
        </p:spPr>
        <p:txBody>
          <a:bodyPr wrap="square" lIns="45720" tIns="27432" rIns="45720" bIns="27432">
            <a:spAutoFit/>
          </a:bodyPr>
          <a:lstStyle/>
          <a:p>
            <a:pPr marL="0" indent="0">
              <a:spcAft>
                <a:spcPts val="400"/>
              </a:spcAft>
              <a:buNone/>
            </a:pPr>
            <a:r>
              <a:rPr sz="1600" b="0" i="0"/>
              <a:t>Both models evaluated on the same test set. SGF-MobileNetV3 improves accuracy by </a:t>
            </a:r>
            <a:r>
              <a:rPr sz="1600" b="1" i="0"/>
              <a:t>5.16 percentage points</a:t>
            </a:r>
            <a:r>
              <a:rPr sz="1600" b="0" i="0"/>
              <a:t> over the reduced-capacity baseline.</a:t>
            </a:r>
          </a:p>
        </p:txBody>
      </p:sp>
      <p:pic>
        <p:nvPicPr>
          <p:cNvPr id="9" name="Picture 8" descr="image25.png"/>
          <p:cNvPicPr>
            <a:picLocks noChangeAspect="1"/>
          </p:cNvPicPr>
          <p:nvPr/>
        </p:nvPicPr>
        <p:blipFill>
          <a:blip r:embed="rId4"/>
          <a:stretch>
            <a:fillRect/>
          </a:stretch>
        </p:blipFill>
        <p:spPr>
          <a:xfrm>
            <a:off x="6492240" y="1878190"/>
            <a:ext cx="5166360" cy="2278658"/>
          </a:xfrm>
          <a:prstGeom prst="rect">
            <a:avLst/>
          </a:prstGeom>
          <a:ln w="9525">
            <a:solidFill>
              <a:srgbClr val="BFBFBF"/>
            </a:solidFill>
          </a:ln>
        </p:spPr>
      </p:pic>
      <p:sp>
        <p:nvSpPr>
          <p:cNvPr id="10" name="TextBox 9"/>
          <p:cNvSpPr txBox="1"/>
          <p:nvPr/>
        </p:nvSpPr>
        <p:spPr>
          <a:xfrm>
            <a:off x="6492240" y="4193425"/>
            <a:ext cx="516636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21: Baseline vs proposed (test set, macro-averaged)</a:t>
            </a:r>
          </a:p>
        </p:txBody>
      </p:sp>
      <p:sp>
        <p:nvSpPr>
          <p:cNvPr id="11" name="TextBox 10"/>
          <p:cNvSpPr txBox="1"/>
          <p:nvPr/>
        </p:nvSpPr>
        <p:spPr>
          <a:xfrm>
            <a:off x="6492240" y="5120640"/>
            <a:ext cx="5166360" cy="1097280"/>
          </a:xfrm>
          <a:prstGeom prst="rect">
            <a:avLst/>
          </a:prstGeom>
          <a:noFill/>
        </p:spPr>
        <p:txBody>
          <a:bodyPr wrap="square" lIns="45720" tIns="27432" rIns="45720" bIns="27432">
            <a:spAutoFit/>
          </a:bodyPr>
          <a:lstStyle/>
          <a:p>
            <a:pPr marL="0" indent="0">
              <a:spcAft>
                <a:spcPts val="400"/>
              </a:spcAft>
              <a:buNone/>
            </a:pPr>
            <a:r>
              <a:rPr sz="1500" b="0" i="0"/>
              <a:t>Class-wise reports and normalized confusion matrices identify frequently confused characters and compare Achulu, Hallulu, Guninthamulu and Othulu.</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56</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600" dirty="0"/>
              <a:t>Results: Robustness &amp; Efficiency</a:t>
            </a:r>
          </a:p>
        </p:txBody>
      </p:sp>
      <p:sp>
        <p:nvSpPr>
          <p:cNvPr id="6" name="TextBox 5"/>
          <p:cNvSpPr txBox="1"/>
          <p:nvPr/>
        </p:nvSpPr>
        <p:spPr>
          <a:xfrm>
            <a:off x="548640" y="1280160"/>
            <a:ext cx="5394960" cy="457200"/>
          </a:xfrm>
          <a:prstGeom prst="rect">
            <a:avLst/>
          </a:prstGeom>
          <a:noFill/>
        </p:spPr>
        <p:txBody>
          <a:bodyPr wrap="square" lIns="45720" tIns="27432" rIns="45720" bIns="27432">
            <a:spAutoFit/>
          </a:bodyPr>
          <a:lstStyle/>
          <a:p>
            <a:pPr marL="0" indent="0">
              <a:spcAft>
                <a:spcPts val="400"/>
              </a:spcAft>
              <a:buNone/>
            </a:pPr>
            <a:r>
              <a:rPr sz="2000" b="1" i="0">
                <a:solidFill>
                  <a:srgbClr val="1F3864"/>
                </a:solidFill>
              </a:rPr>
              <a:t>Table 6.3  Robustness evaluation</a:t>
            </a:r>
          </a:p>
        </p:txBody>
      </p:sp>
      <p:graphicFrame>
        <p:nvGraphicFramePr>
          <p:cNvPr id="7" name="Table 6"/>
          <p:cNvGraphicFramePr>
            <a:graphicFrameLocks noGrp="1"/>
          </p:cNvGraphicFramePr>
          <p:nvPr/>
        </p:nvGraphicFramePr>
        <p:xfrm>
          <a:off x="548640" y="1783080"/>
          <a:ext cx="5486400" cy="1508760"/>
        </p:xfrm>
        <a:graphic>
          <a:graphicData uri="http://schemas.openxmlformats.org/drawingml/2006/table">
            <a:tbl>
              <a:tblPr>
                <a:tableStyleId>{2D5ABB26-0587-4C30-8999-92F81FD0307C}</a:tableStyleId>
              </a:tblPr>
              <a:tblGrid>
                <a:gridCol w="21031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02920">
                <a:tc>
                  <a:txBody>
                    <a:bodyPr/>
                    <a:lstStyle/>
                    <a:p>
                      <a:pPr algn="l"/>
                      <a:r>
                        <a:rPr sz="1600" b="1" i="0">
                          <a:solidFill>
                            <a:srgbClr val="FFFFFF"/>
                          </a:solidFill>
                        </a:rPr>
                        <a:t>Model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tc>
                  <a:txBody>
                    <a:bodyPr/>
                    <a:lstStyle/>
                    <a:p>
                      <a:pPr algn="ctr"/>
                      <a:r>
                        <a:rPr sz="1600" b="1" i="0">
                          <a:solidFill>
                            <a:srgbClr val="FFFFFF"/>
                          </a:solidFill>
                        </a:rPr>
                        <a:t>Clean Images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tc>
                  <a:txBody>
                    <a:bodyPr/>
                    <a:lstStyle/>
                    <a:p>
                      <a:pPr algn="ctr"/>
                      <a:r>
                        <a:rPr sz="1600" b="1" i="0">
                          <a:solidFill>
                            <a:srgbClr val="FFFFFF"/>
                          </a:solidFill>
                        </a:rPr>
                        <a:t>Simulated Upload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extLst>
                  <a:ext uri="{0D108BD9-81ED-4DB2-BD59-A6C34878D82A}">
                    <a16:rowId xmlns:a16="http://schemas.microsoft.com/office/drawing/2014/main" val="10000"/>
                  </a:ext>
                </a:extLst>
              </a:tr>
              <a:tr h="502920">
                <a:tc>
                  <a:txBody>
                    <a:bodyPr/>
                    <a:lstStyle/>
                    <a:p>
                      <a:pPr algn="l"/>
                      <a:r>
                        <a:rPr sz="1600" b="1" i="0">
                          <a:solidFill>
                            <a:srgbClr val="000000"/>
                          </a:solidFill>
                        </a:rPr>
                        <a:t>MobileNetV3-Small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r>
                        <a:rPr sz="1600" b="0" i="0">
                          <a:solidFill>
                            <a:srgbClr val="000000"/>
                          </a:solidFill>
                        </a:rPr>
                        <a:t>90.67%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r>
                        <a:rPr sz="1600" b="0" i="0">
                          <a:solidFill>
                            <a:srgbClr val="000000"/>
                          </a:solidFill>
                        </a:rPr>
                        <a:t>85.10%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1"/>
                  </a:ext>
                </a:extLst>
              </a:tr>
              <a:tr h="502920">
                <a:tc>
                  <a:txBody>
                    <a:bodyPr/>
                    <a:lstStyle/>
                    <a:p>
                      <a:pPr algn="l"/>
                      <a:r>
                        <a:rPr sz="1600" b="1" i="0">
                          <a:solidFill>
                            <a:srgbClr val="000000"/>
                          </a:solidFill>
                        </a:rPr>
                        <a:t>SGF-MobileNetV3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ctr"/>
                      <a:r>
                        <a:rPr sz="1600" b="1" i="0">
                          <a:solidFill>
                            <a:srgbClr val="000000"/>
                          </a:solidFill>
                        </a:rPr>
                        <a:t>96.07%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ctr"/>
                      <a:r>
                        <a:rPr sz="1600" b="1" i="0">
                          <a:solidFill>
                            <a:srgbClr val="000000"/>
                          </a:solidFill>
                        </a:rPr>
                        <a:t>90.63%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extLst>
                  <a:ext uri="{0D108BD9-81ED-4DB2-BD59-A6C34878D82A}">
                    <a16:rowId xmlns:a16="http://schemas.microsoft.com/office/drawing/2014/main" val="10002"/>
                  </a:ext>
                </a:extLst>
              </a:tr>
            </a:tbl>
          </a:graphicData>
        </a:graphic>
      </p:graphicFrame>
      <p:sp>
        <p:nvSpPr>
          <p:cNvPr id="8" name="TextBox 7"/>
          <p:cNvSpPr txBox="1"/>
          <p:nvPr/>
        </p:nvSpPr>
        <p:spPr>
          <a:xfrm>
            <a:off x="548640" y="3520440"/>
            <a:ext cx="5486400" cy="2194560"/>
          </a:xfrm>
          <a:prstGeom prst="rect">
            <a:avLst/>
          </a:prstGeom>
          <a:noFill/>
        </p:spPr>
        <p:txBody>
          <a:bodyPr wrap="square" lIns="45720" tIns="27432" rIns="45720" bIns="27432">
            <a:spAutoFit/>
          </a:bodyPr>
          <a:lstStyle/>
          <a:p>
            <a:pPr marL="0" indent="0">
              <a:spcAft>
                <a:spcPts val="400"/>
              </a:spcAft>
              <a:buNone/>
            </a:pPr>
            <a:r>
              <a:rPr sz="1600" b="0" i="0"/>
              <a:t>3,000 selected test images modified with additional margins, random resizing, JPEG compression and Gaussian blur. The proposed model keeps higher accuracy than the baseline under these variations.</a:t>
            </a:r>
          </a:p>
        </p:txBody>
      </p:sp>
      <p:sp>
        <p:nvSpPr>
          <p:cNvPr id="9" name="TextBox 8"/>
          <p:cNvSpPr txBox="1"/>
          <p:nvPr/>
        </p:nvSpPr>
        <p:spPr>
          <a:xfrm>
            <a:off x="6263640" y="1280160"/>
            <a:ext cx="5394960" cy="457200"/>
          </a:xfrm>
          <a:prstGeom prst="rect">
            <a:avLst/>
          </a:prstGeom>
          <a:noFill/>
        </p:spPr>
        <p:txBody>
          <a:bodyPr wrap="square" lIns="45720" tIns="27432" rIns="45720" bIns="27432">
            <a:spAutoFit/>
          </a:bodyPr>
          <a:lstStyle/>
          <a:p>
            <a:pPr marL="0" indent="0">
              <a:spcAft>
                <a:spcPts val="400"/>
              </a:spcAft>
              <a:buNone/>
            </a:pPr>
            <a:r>
              <a:rPr sz="2000" b="1" i="0">
                <a:solidFill>
                  <a:srgbClr val="1F3864"/>
                </a:solidFill>
              </a:rPr>
              <a:t>Table 6.4  Model efficiency</a:t>
            </a:r>
          </a:p>
        </p:txBody>
      </p:sp>
      <p:graphicFrame>
        <p:nvGraphicFramePr>
          <p:cNvPr id="10" name="Table 9"/>
          <p:cNvGraphicFramePr>
            <a:graphicFrameLocks noGrp="1"/>
          </p:cNvGraphicFramePr>
          <p:nvPr/>
        </p:nvGraphicFramePr>
        <p:xfrm>
          <a:off x="6263640" y="1783080"/>
          <a:ext cx="5394960" cy="2127504"/>
        </p:xfrm>
        <a:graphic>
          <a:graphicData uri="http://schemas.openxmlformats.org/drawingml/2006/table">
            <a:tbl>
              <a:tblPr>
                <a:tableStyleId>{2D5ABB26-0587-4C30-8999-92F81FD0307C}</a:tableStyleId>
              </a:tblPr>
              <a:tblGrid>
                <a:gridCol w="21031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502920">
                <a:tc>
                  <a:txBody>
                    <a:bodyPr/>
                    <a:lstStyle/>
                    <a:p>
                      <a:pPr algn="l"/>
                      <a:r>
                        <a:rPr sz="1600" b="1" i="0">
                          <a:solidFill>
                            <a:srgbClr val="FFFFFF"/>
                          </a:solidFill>
                        </a:rPr>
                        <a:t>Parameter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tc>
                  <a:txBody>
                    <a:bodyPr/>
                    <a:lstStyle/>
                    <a:p>
                      <a:pPr algn="ctr"/>
                      <a:r>
                        <a:rPr sz="1600" b="1" i="0">
                          <a:solidFill>
                            <a:srgbClr val="FFFFFF"/>
                          </a:solidFill>
                        </a:rPr>
                        <a:t>MobileNetV3-Small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tc>
                  <a:txBody>
                    <a:bodyPr/>
                    <a:lstStyle/>
                    <a:p>
                      <a:pPr algn="ctr"/>
                      <a:r>
                        <a:rPr sz="1600" b="1" i="0">
                          <a:solidFill>
                            <a:srgbClr val="FFFFFF"/>
                          </a:solidFill>
                        </a:rPr>
                        <a:t>SGF-MobileNetV3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1F3864"/>
                    </a:solidFill>
                  </a:tcPr>
                </a:tc>
                <a:extLst>
                  <a:ext uri="{0D108BD9-81ED-4DB2-BD59-A6C34878D82A}">
                    <a16:rowId xmlns:a16="http://schemas.microsoft.com/office/drawing/2014/main" val="10000"/>
                  </a:ext>
                </a:extLst>
              </a:tr>
              <a:tr h="502920">
                <a:tc>
                  <a:txBody>
                    <a:bodyPr/>
                    <a:lstStyle/>
                    <a:p>
                      <a:pPr algn="l"/>
                      <a:r>
                        <a:rPr sz="1600" b="1" i="0">
                          <a:solidFill>
                            <a:srgbClr val="000000"/>
                          </a:solidFill>
                        </a:rPr>
                        <a:t>Parameters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r>
                        <a:rPr sz="1600" b="0" i="0">
                          <a:solidFill>
                            <a:srgbClr val="000000"/>
                          </a:solidFill>
                        </a:rPr>
                        <a:t>0.1942 million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r>
                        <a:rPr sz="1600" b="0" i="0">
                          <a:solidFill>
                            <a:srgbClr val="000000"/>
                          </a:solidFill>
                        </a:rPr>
                        <a:t>1.4065 million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1"/>
                  </a:ext>
                </a:extLst>
              </a:tr>
              <a:tr h="502920">
                <a:tc>
                  <a:txBody>
                    <a:bodyPr/>
                    <a:lstStyle/>
                    <a:p>
                      <a:pPr algn="l"/>
                      <a:r>
                        <a:rPr sz="1600" b="1" i="0">
                          <a:solidFill>
                            <a:srgbClr val="000000"/>
                          </a:solidFill>
                        </a:rPr>
                        <a:t>Model Size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ctr"/>
                      <a:r>
                        <a:rPr sz="1600" b="0" i="0">
                          <a:solidFill>
                            <a:srgbClr val="000000"/>
                          </a:solidFill>
                        </a:rPr>
                        <a:t>0.859 MB</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tc>
                  <a:txBody>
                    <a:bodyPr/>
                    <a:lstStyle/>
                    <a:p>
                      <a:pPr algn="ctr"/>
                      <a:r>
                        <a:rPr sz="1600" b="0" i="0">
                          <a:solidFill>
                            <a:srgbClr val="000000"/>
                          </a:solidFill>
                        </a:rPr>
                        <a:t>5.7855 MB</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5F7FA"/>
                    </a:solidFill>
                  </a:tcPr>
                </a:tc>
                <a:extLst>
                  <a:ext uri="{0D108BD9-81ED-4DB2-BD59-A6C34878D82A}">
                    <a16:rowId xmlns:a16="http://schemas.microsoft.com/office/drawing/2014/main" val="10002"/>
                  </a:ext>
                </a:extLst>
              </a:tr>
              <a:tr h="502920">
                <a:tc>
                  <a:txBody>
                    <a:bodyPr/>
                    <a:lstStyle/>
                    <a:p>
                      <a:pPr algn="l"/>
                      <a:r>
                        <a:rPr sz="1600" b="1" i="0">
                          <a:solidFill>
                            <a:srgbClr val="000000"/>
                          </a:solidFill>
                        </a:rPr>
                        <a:t>CPU End-to-End Latency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r>
                        <a:rPr sz="1600" b="0" i="0">
                          <a:solidFill>
                            <a:srgbClr val="000000"/>
                          </a:solidFill>
                        </a:rPr>
                        <a:t>14.78 ms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r>
                        <a:rPr sz="1600" b="0" i="0">
                          <a:solidFill>
                            <a:srgbClr val="000000"/>
                          </a:solidFill>
                        </a:rPr>
                        <a:t>18.22 ms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6263640" y="3931920"/>
            <a:ext cx="5394960" cy="1828800"/>
          </a:xfrm>
          <a:prstGeom prst="rect">
            <a:avLst/>
          </a:prstGeom>
          <a:noFill/>
        </p:spPr>
        <p:txBody>
          <a:bodyPr wrap="square" lIns="45720" tIns="27432" rIns="45720" bIns="27432">
            <a:spAutoFit/>
          </a:bodyPr>
          <a:lstStyle/>
          <a:p>
            <a:pPr marL="0" indent="0">
              <a:spcAft>
                <a:spcPts val="400"/>
              </a:spcAft>
              <a:buNone/>
            </a:pPr>
            <a:r>
              <a:rPr sz="1600" b="0" i="0"/>
              <a:t>Improved accuracy comes at the cost of a larger parameter count and slightly higher inference latency.</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57</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Results: Training Curves</a:t>
            </a:r>
          </a:p>
        </p:txBody>
      </p:sp>
      <p:pic>
        <p:nvPicPr>
          <p:cNvPr id="6" name="Picture 5" descr="image22.png"/>
          <p:cNvPicPr>
            <a:picLocks noChangeAspect="1"/>
          </p:cNvPicPr>
          <p:nvPr/>
        </p:nvPicPr>
        <p:blipFill>
          <a:blip r:embed="rId4"/>
          <a:stretch>
            <a:fillRect/>
          </a:stretch>
        </p:blipFill>
        <p:spPr>
          <a:xfrm>
            <a:off x="548640" y="1394044"/>
            <a:ext cx="11091672" cy="2698310"/>
          </a:xfrm>
          <a:prstGeom prst="rect">
            <a:avLst/>
          </a:prstGeom>
          <a:ln w="9525">
            <a:solidFill>
              <a:srgbClr val="BFBFBF"/>
            </a:solidFill>
          </a:ln>
        </p:spPr>
      </p:pic>
      <p:sp>
        <p:nvSpPr>
          <p:cNvPr id="7" name="TextBox 6"/>
          <p:cNvSpPr txBox="1"/>
          <p:nvPr/>
        </p:nvSpPr>
        <p:spPr>
          <a:xfrm>
            <a:off x="548640" y="4128931"/>
            <a:ext cx="11091672"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22: Loss, accuracy and OneCycle learning-rate curves – baseline vs SGF-MobileNetV3</a:t>
            </a:r>
          </a:p>
        </p:txBody>
      </p:sp>
      <p:sp>
        <p:nvSpPr>
          <p:cNvPr id="8" name="TextBox 7"/>
          <p:cNvSpPr txBox="1"/>
          <p:nvPr/>
        </p:nvSpPr>
        <p:spPr>
          <a:xfrm>
            <a:off x="548640" y="4754880"/>
            <a:ext cx="11091672" cy="1463040"/>
          </a:xfrm>
          <a:prstGeom prst="rect">
            <a:avLst/>
          </a:prstGeom>
          <a:noFill/>
        </p:spPr>
        <p:txBody>
          <a:bodyPr wrap="square" lIns="45720" tIns="27432" rIns="45720" bIns="27432">
            <a:spAutoFit/>
          </a:bodyPr>
          <a:lstStyle/>
          <a:p>
            <a:pPr marL="256032" indent="-219456">
              <a:spcAft>
                <a:spcPts val="500"/>
              </a:spcAft>
              <a:buFont typeface="Arial"/>
              <a:buChar char="•"/>
            </a:pPr>
            <a:r>
              <a:rPr sz="1700" b="0" i="0"/>
              <a:t>Training and validation loss fall consistently over </a:t>
            </a:r>
            <a:r>
              <a:rPr sz="1700" b="1" i="0"/>
              <a:t>30 epochs</a:t>
            </a:r>
            <a:r>
              <a:rPr sz="1700" b="0" i="0"/>
              <a:t>; SGF-MobileNetV3 reaches lower loss and higher validation accuracy than the baseline</a:t>
            </a:r>
          </a:p>
          <a:p>
            <a:pPr marL="256032" indent="-219456">
              <a:spcAft>
                <a:spcPts val="500"/>
              </a:spcAft>
              <a:buFont typeface="Arial"/>
              <a:buChar char="•"/>
            </a:pPr>
            <a:r>
              <a:rPr sz="1700" b="0" i="0"/>
              <a:t>The OneCycle scheduler adjusts the learning rate gradually to support convergence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58</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Results: Confusion Matrices</a:t>
            </a:r>
          </a:p>
        </p:txBody>
      </p:sp>
      <p:pic>
        <p:nvPicPr>
          <p:cNvPr id="6" name="Picture 5" descr="image23.png"/>
          <p:cNvPicPr>
            <a:picLocks noChangeAspect="1"/>
          </p:cNvPicPr>
          <p:nvPr/>
        </p:nvPicPr>
        <p:blipFill>
          <a:blip r:embed="rId4"/>
          <a:stretch>
            <a:fillRect/>
          </a:stretch>
        </p:blipFill>
        <p:spPr>
          <a:xfrm>
            <a:off x="548640" y="1631412"/>
            <a:ext cx="7315199" cy="3320855"/>
          </a:xfrm>
          <a:prstGeom prst="rect">
            <a:avLst/>
          </a:prstGeom>
          <a:ln w="9525">
            <a:solidFill>
              <a:srgbClr val="BFBFBF"/>
            </a:solidFill>
          </a:ln>
        </p:spPr>
      </p:pic>
      <p:sp>
        <p:nvSpPr>
          <p:cNvPr id="7" name="TextBox 6"/>
          <p:cNvSpPr txBox="1"/>
          <p:nvPr/>
        </p:nvSpPr>
        <p:spPr>
          <a:xfrm>
            <a:off x="548640" y="4988843"/>
            <a:ext cx="731520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23: Normalized confusion matrices – baseline (left) and SGF-MobileNetV3 (right)</a:t>
            </a:r>
          </a:p>
        </p:txBody>
      </p:sp>
      <p:sp>
        <p:nvSpPr>
          <p:cNvPr id="8" name="TextBox 7"/>
          <p:cNvSpPr txBox="1"/>
          <p:nvPr/>
        </p:nvSpPr>
        <p:spPr>
          <a:xfrm>
            <a:off x="8138160" y="1463040"/>
            <a:ext cx="3520440" cy="4114800"/>
          </a:xfrm>
          <a:prstGeom prst="rect">
            <a:avLst/>
          </a:prstGeom>
          <a:noFill/>
        </p:spPr>
        <p:txBody>
          <a:bodyPr wrap="square" lIns="45720" tIns="27432" rIns="45720" bIns="27432">
            <a:spAutoFit/>
          </a:bodyPr>
          <a:lstStyle/>
          <a:p>
            <a:pPr marL="256032" indent="-219456">
              <a:spcAft>
                <a:spcPts val="800"/>
              </a:spcAft>
              <a:buFont typeface="Arial"/>
              <a:buChar char="•"/>
            </a:pPr>
            <a:r>
              <a:rPr sz="1700" b="0" i="0"/>
              <a:t>Strong diagonal distribution for both models: most Telugu classes classified correctly</a:t>
            </a:r>
          </a:p>
          <a:p>
            <a:pPr marL="256032" indent="-219456">
              <a:spcAft>
                <a:spcPts val="800"/>
              </a:spcAft>
              <a:buFont typeface="Arial"/>
              <a:buChar char="•"/>
            </a:pPr>
            <a:r>
              <a:rPr sz="1700" b="0" i="0"/>
              <a:t>SGF-MobileNetV3 shows </a:t>
            </a:r>
            <a:r>
              <a:rPr sz="1700" b="1" i="0"/>
              <a:t>fewer off-diagonal errors</a:t>
            </a:r>
            <a:r>
              <a:rPr sz="1700" b="0" i="0"/>
              <a:t>, i.e. better recognition of visually similar characters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59</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Results: Most Confused Pairs</a:t>
            </a:r>
          </a:p>
        </p:txBody>
      </p:sp>
      <p:pic>
        <p:nvPicPr>
          <p:cNvPr id="6" name="Picture 5" descr="image24.png"/>
          <p:cNvPicPr>
            <a:picLocks noChangeAspect="1"/>
          </p:cNvPicPr>
          <p:nvPr/>
        </p:nvPicPr>
        <p:blipFill>
          <a:blip r:embed="rId4"/>
          <a:stretch>
            <a:fillRect/>
          </a:stretch>
        </p:blipFill>
        <p:spPr>
          <a:xfrm>
            <a:off x="548640" y="1945639"/>
            <a:ext cx="7315200" cy="2235200"/>
          </a:xfrm>
          <a:prstGeom prst="rect">
            <a:avLst/>
          </a:prstGeom>
          <a:ln w="9525">
            <a:solidFill>
              <a:srgbClr val="BFBFBF"/>
            </a:solidFill>
          </a:ln>
        </p:spPr>
      </p:pic>
      <p:sp>
        <p:nvSpPr>
          <p:cNvPr id="7" name="TextBox 6"/>
          <p:cNvSpPr txBox="1"/>
          <p:nvPr/>
        </p:nvSpPr>
        <p:spPr>
          <a:xfrm>
            <a:off x="548640" y="4217416"/>
            <a:ext cx="731520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24: Most frequent confusions – baseline and SGF-MobileNetV3</a:t>
            </a:r>
          </a:p>
        </p:txBody>
      </p:sp>
      <p:sp>
        <p:nvSpPr>
          <p:cNvPr id="8" name="TextBox 7"/>
          <p:cNvSpPr txBox="1"/>
          <p:nvPr/>
        </p:nvSpPr>
        <p:spPr>
          <a:xfrm>
            <a:off x="8138160" y="1463040"/>
            <a:ext cx="3520440" cy="4114800"/>
          </a:xfrm>
          <a:prstGeom prst="rect">
            <a:avLst/>
          </a:prstGeom>
          <a:noFill/>
        </p:spPr>
        <p:txBody>
          <a:bodyPr wrap="square" lIns="45720" tIns="27432" rIns="45720" bIns="27432">
            <a:spAutoFit/>
          </a:bodyPr>
          <a:lstStyle/>
          <a:p>
            <a:pPr marL="256032" indent="-219456">
              <a:spcAft>
                <a:spcPts val="800"/>
              </a:spcAft>
              <a:buFont typeface="Arial"/>
              <a:buChar char="•"/>
            </a:pPr>
            <a:r>
              <a:rPr sz="1700" b="0" i="0"/>
              <a:t>Most-frequent-confusion analysis shows </a:t>
            </a:r>
            <a:r>
              <a:rPr sz="1700" b="1" i="0"/>
              <a:t>fewer misclassification errors</a:t>
            </a:r>
            <a:r>
              <a:rPr sz="1700" b="0" i="0"/>
              <a:t> for the proposed model than for the baseline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60</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3600" dirty="0"/>
              <a:t>Results: Performance Comparison</a:t>
            </a:r>
          </a:p>
        </p:txBody>
      </p:sp>
      <p:pic>
        <p:nvPicPr>
          <p:cNvPr id="6" name="Picture 5" descr="image25.png"/>
          <p:cNvPicPr>
            <a:picLocks noChangeAspect="1"/>
          </p:cNvPicPr>
          <p:nvPr/>
        </p:nvPicPr>
        <p:blipFill>
          <a:blip r:embed="rId4"/>
          <a:stretch>
            <a:fillRect/>
          </a:stretch>
        </p:blipFill>
        <p:spPr>
          <a:xfrm>
            <a:off x="548640" y="1671846"/>
            <a:ext cx="6309360" cy="2782786"/>
          </a:xfrm>
          <a:prstGeom prst="rect">
            <a:avLst/>
          </a:prstGeom>
          <a:ln w="9525">
            <a:solidFill>
              <a:srgbClr val="BFBFBF"/>
            </a:solidFill>
          </a:ln>
        </p:spPr>
      </p:pic>
      <p:sp>
        <p:nvSpPr>
          <p:cNvPr id="7" name="TextBox 6"/>
          <p:cNvSpPr txBox="1"/>
          <p:nvPr/>
        </p:nvSpPr>
        <p:spPr>
          <a:xfrm>
            <a:off x="548640" y="4491209"/>
            <a:ext cx="6309360" cy="320040"/>
          </a:xfrm>
          <a:prstGeom prst="rect">
            <a:avLst/>
          </a:prstGeom>
          <a:noFill/>
        </p:spPr>
        <p:txBody>
          <a:bodyPr wrap="square" lIns="45720" tIns="27432" rIns="45720" bIns="27432">
            <a:spAutoFit/>
          </a:bodyPr>
          <a:lstStyle/>
          <a:p>
            <a:pPr marL="0" indent="0" algn="ctr">
              <a:spcAft>
                <a:spcPts val="400"/>
              </a:spcAft>
              <a:buNone/>
            </a:pPr>
            <a:r>
              <a:rPr sz="1200" b="0" i="1">
                <a:solidFill>
                  <a:srgbClr val="595959"/>
                </a:solidFill>
              </a:rPr>
              <a:t>Figure 25: Baseline vs proposed (test set, macro-averaged)</a:t>
            </a:r>
          </a:p>
        </p:txBody>
      </p:sp>
      <p:sp>
        <p:nvSpPr>
          <p:cNvPr id="8" name="Rounded Rectangle 7"/>
          <p:cNvSpPr/>
          <p:nvPr/>
        </p:nvSpPr>
        <p:spPr>
          <a:xfrm>
            <a:off x="7132320" y="1371600"/>
            <a:ext cx="4526280" cy="214884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42048" y="1444752"/>
            <a:ext cx="4306824" cy="2002536"/>
          </a:xfrm>
          <a:prstGeom prst="rect">
            <a:avLst/>
          </a:prstGeom>
          <a:noFill/>
        </p:spPr>
        <p:txBody>
          <a:bodyPr wrap="square" lIns="45720" tIns="27432" rIns="45720" bIns="27432">
            <a:spAutoFit/>
          </a:bodyPr>
          <a:lstStyle/>
          <a:p>
            <a:pPr marL="0" indent="0">
              <a:spcAft>
                <a:spcPts val="400"/>
              </a:spcAft>
              <a:buNone/>
            </a:pPr>
            <a:r>
              <a:rPr sz="1800" b="1" i="0">
                <a:solidFill>
                  <a:srgbClr val="1F3864"/>
                </a:solidFill>
              </a:rPr>
              <a:t>SGF-MobileNetV3</a:t>
            </a:r>
          </a:p>
          <a:p>
            <a:pPr marL="256032" indent="-219456">
              <a:spcAft>
                <a:spcPts val="400"/>
              </a:spcAft>
              <a:buFont typeface="Arial"/>
              <a:buChar char="•"/>
            </a:pPr>
            <a:r>
              <a:rPr sz="1600" b="0" i="0"/>
              <a:t>95.90% accuracy, 95.33% macro precision</a:t>
            </a:r>
          </a:p>
          <a:p>
            <a:pPr marL="256032" indent="-219456">
              <a:spcAft>
                <a:spcPts val="400"/>
              </a:spcAft>
              <a:buFont typeface="Arial"/>
              <a:buChar char="•"/>
            </a:pPr>
            <a:r>
              <a:rPr sz="1600" b="0" i="0"/>
              <a:t>95.71% macro recall, 95.34% macro F1</a:t>
            </a:r>
          </a:p>
        </p:txBody>
      </p:sp>
      <p:sp>
        <p:nvSpPr>
          <p:cNvPr id="10" name="Rounded Rectangle 9"/>
          <p:cNvSpPr/>
          <p:nvPr/>
        </p:nvSpPr>
        <p:spPr>
          <a:xfrm>
            <a:off x="7132320" y="3657600"/>
            <a:ext cx="4526280" cy="21488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42048" y="3730752"/>
            <a:ext cx="4306824" cy="2002536"/>
          </a:xfrm>
          <a:prstGeom prst="rect">
            <a:avLst/>
          </a:prstGeom>
          <a:noFill/>
        </p:spPr>
        <p:txBody>
          <a:bodyPr wrap="square" lIns="45720" tIns="27432" rIns="45720" bIns="27432">
            <a:spAutoFit/>
          </a:bodyPr>
          <a:lstStyle/>
          <a:p>
            <a:pPr marL="0" indent="0">
              <a:spcAft>
                <a:spcPts val="400"/>
              </a:spcAft>
              <a:buNone/>
            </a:pPr>
            <a:r>
              <a:rPr sz="1800" b="1" i="0">
                <a:solidFill>
                  <a:srgbClr val="1F3864"/>
                </a:solidFill>
              </a:rPr>
              <a:t>MobileNetV3-Small baseline</a:t>
            </a:r>
          </a:p>
          <a:p>
            <a:pPr marL="256032" indent="-219456">
              <a:spcAft>
                <a:spcPts val="400"/>
              </a:spcAft>
              <a:buFont typeface="Arial"/>
              <a:buChar char="•"/>
            </a:pPr>
            <a:r>
              <a:rPr sz="1600" b="0" i="0"/>
              <a:t>90.74% accuracy, 89.97% macro precision</a:t>
            </a:r>
          </a:p>
          <a:p>
            <a:pPr marL="256032" indent="-219456">
              <a:spcAft>
                <a:spcPts val="400"/>
              </a:spcAft>
              <a:buFont typeface="Arial"/>
              <a:buChar char="•"/>
            </a:pPr>
            <a:r>
              <a:rPr sz="1600" b="0" i="0"/>
              <a:t>92.31% macro recall, 90.69% macro F1</a:t>
            </a:r>
          </a:p>
        </p:txBody>
      </p:sp>
      <p:sp>
        <p:nvSpPr>
          <p:cNvPr id="12" name="TextBox 11"/>
          <p:cNvSpPr txBox="1"/>
          <p:nvPr/>
        </p:nvSpPr>
        <p:spPr>
          <a:xfrm>
            <a:off x="548640" y="5394960"/>
            <a:ext cx="11091672" cy="822960"/>
          </a:xfrm>
          <a:prstGeom prst="rect">
            <a:avLst/>
          </a:prstGeom>
          <a:noFill/>
        </p:spPr>
        <p:txBody>
          <a:bodyPr wrap="square" lIns="45720" tIns="27432" rIns="45720" bIns="27432">
            <a:spAutoFit/>
          </a:bodyPr>
          <a:lstStyle/>
          <a:p>
            <a:pPr marL="0" indent="0">
              <a:spcAft>
                <a:spcPts val="400"/>
              </a:spcAft>
              <a:buNone/>
            </a:pPr>
            <a:r>
              <a:rPr sz="1700" b="1" i="0">
                <a:solidFill>
                  <a:srgbClr val="1F3864"/>
                </a:solidFill>
              </a:rPr>
              <a:t>Integrating appearance features with structural stroke information through adaptive gated feature fusion improves Telugu handwritten character recognition.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61</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Conclusion</a:t>
            </a:r>
          </a:p>
        </p:txBody>
      </p:sp>
      <p:sp>
        <p:nvSpPr>
          <p:cNvPr id="6" name="TextBox 5"/>
          <p:cNvSpPr txBox="1"/>
          <p:nvPr/>
        </p:nvSpPr>
        <p:spPr>
          <a:xfrm>
            <a:off x="398738" y="1684894"/>
            <a:ext cx="11643360" cy="2409890"/>
          </a:xfrm>
          <a:prstGeom prst="rect">
            <a:avLst/>
          </a:prstGeom>
          <a:noFill/>
        </p:spPr>
        <p:txBody>
          <a:bodyPr wrap="square" lIns="45720" tIns="27432" rIns="45720" bIns="27432">
            <a:spAutoFit/>
          </a:bodyPr>
          <a:lstStyle/>
          <a:p>
            <a:pPr marL="256032" indent="-219456" algn="just">
              <a:spcAft>
                <a:spcPts val="600"/>
              </a:spcAft>
              <a:buFont typeface="Arial"/>
              <a:buChar char="•"/>
            </a:pPr>
            <a:r>
              <a:rPr sz="1600" b="0" i="0" dirty="0"/>
              <a:t>Developed a Telugu handwritten recognition system with </a:t>
            </a:r>
            <a:r>
              <a:rPr sz="1600" b="1" i="0" dirty="0"/>
              <a:t>SGF-MobileNetV3</a:t>
            </a:r>
            <a:r>
              <a:rPr sz="1600" b="0" i="0" dirty="0"/>
              <a:t>: deep learning, preprocessing, stroke features, adaptive gated fusion and Unicode conversion</a:t>
            </a:r>
          </a:p>
          <a:p>
            <a:pPr marL="256032" indent="-219456" algn="just">
              <a:spcAft>
                <a:spcPts val="600"/>
              </a:spcAft>
              <a:buFont typeface="Arial"/>
              <a:buChar char="•"/>
            </a:pPr>
            <a:r>
              <a:rPr sz="1600" b="0" i="0" dirty="0"/>
              <a:t>Dataset: </a:t>
            </a:r>
            <a:r>
              <a:rPr sz="1600" b="1" i="0" dirty="0"/>
              <a:t>292,752</a:t>
            </a:r>
            <a:r>
              <a:rPr sz="1600" b="0" i="0" dirty="0"/>
              <a:t> images / 121 folders → </a:t>
            </a:r>
            <a:r>
              <a:rPr sz="1600" b="1" i="0" dirty="0"/>
              <a:t>73,463</a:t>
            </a:r>
            <a:r>
              <a:rPr sz="1600" b="0" i="0" dirty="0"/>
              <a:t> images / </a:t>
            </a:r>
            <a:r>
              <a:rPr sz="1600" b="1" i="0" dirty="0"/>
              <a:t>76</a:t>
            </a:r>
            <a:r>
              <a:rPr sz="1600" b="0" i="0" dirty="0"/>
              <a:t> classes</a:t>
            </a:r>
          </a:p>
          <a:p>
            <a:pPr marL="256032" indent="-219456" algn="just">
              <a:spcAft>
                <a:spcPts val="600"/>
              </a:spcAft>
              <a:buFont typeface="Arial"/>
              <a:buChar char="•"/>
            </a:pPr>
            <a:r>
              <a:rPr sz="1600" b="0" i="0" dirty="0"/>
              <a:t>Baseline MobileNetV3-Small: </a:t>
            </a:r>
            <a:r>
              <a:rPr sz="1600" b="1" i="0" dirty="0"/>
              <a:t>90.74%</a:t>
            </a:r>
            <a:r>
              <a:rPr sz="1600" b="0" i="0" dirty="0"/>
              <a:t> accuracy; SGF-MobileNetV3: </a:t>
            </a:r>
            <a:r>
              <a:rPr sz="1600" b="1" i="0" dirty="0"/>
              <a:t>95.90%</a:t>
            </a:r>
            <a:r>
              <a:rPr sz="1600" b="0" i="0" dirty="0"/>
              <a:t> accuracy, </a:t>
            </a:r>
            <a:r>
              <a:rPr sz="1600" b="1" i="0" dirty="0"/>
              <a:t>95.34%</a:t>
            </a:r>
            <a:r>
              <a:rPr sz="1600" b="0" i="0" dirty="0"/>
              <a:t> macro F1, </a:t>
            </a:r>
            <a:r>
              <a:rPr sz="1600" b="1" i="0" dirty="0"/>
              <a:t>99.48%</a:t>
            </a:r>
            <a:r>
              <a:rPr sz="1600" b="0" i="0" dirty="0"/>
              <a:t> top-3</a:t>
            </a:r>
          </a:p>
          <a:p>
            <a:pPr marL="256032" indent="-219456" algn="just">
              <a:spcAft>
                <a:spcPts val="600"/>
              </a:spcAft>
              <a:buFont typeface="Arial"/>
              <a:buChar char="•"/>
            </a:pPr>
            <a:r>
              <a:rPr sz="1600" b="1" i="0" dirty="0"/>
              <a:t>90.63%</a:t>
            </a:r>
            <a:r>
              <a:rPr sz="1600" b="0" i="0" dirty="0"/>
              <a:t> accuracy under simulated upload variations – improved robustness over the baseline</a:t>
            </a:r>
          </a:p>
          <a:p>
            <a:pPr marL="256032" indent="-219456" algn="just">
              <a:spcAft>
                <a:spcPts val="600"/>
              </a:spcAft>
              <a:buFont typeface="Arial"/>
              <a:buChar char="•"/>
            </a:pPr>
            <a:r>
              <a:rPr sz="1600" b="1" i="0" dirty="0"/>
              <a:t>Flask application:</a:t>
            </a:r>
            <a:r>
              <a:rPr sz="1600" b="0" i="0" dirty="0"/>
              <a:t> registration, login, single-character and sequence-based word recognition, Unicode conversion, dictionary correction, confidence analysis, stroke visualization, model comparison, PDF reports (MySQL, </a:t>
            </a:r>
            <a:r>
              <a:rPr sz="1600" b="0" i="0" dirty="0" err="1"/>
              <a:t>PyTorch</a:t>
            </a:r>
            <a:r>
              <a:rPr sz="1600" b="0" i="0" dirty="0"/>
              <a:t>)</a:t>
            </a:r>
          </a:p>
          <a:p>
            <a:pPr marL="256032" indent="-219456" algn="just">
              <a:spcAft>
                <a:spcPts val="600"/>
              </a:spcAft>
              <a:buFont typeface="Arial"/>
              <a:buChar char="•"/>
            </a:pPr>
            <a:r>
              <a:rPr sz="1600" b="0" i="0" dirty="0"/>
              <a:t>Further validation is needed for complete words, connected sequences and diverse real-world handwriting</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62</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400" dirty="0"/>
              <a:t>Future Scope</a:t>
            </a:r>
          </a:p>
        </p:txBody>
      </p:sp>
      <p:sp>
        <p:nvSpPr>
          <p:cNvPr id="6" name="TextBox 5"/>
          <p:cNvSpPr txBox="1"/>
          <p:nvPr/>
        </p:nvSpPr>
        <p:spPr>
          <a:xfrm>
            <a:off x="548640" y="1280160"/>
            <a:ext cx="5440680" cy="2876685"/>
          </a:xfrm>
          <a:prstGeom prst="rect">
            <a:avLst/>
          </a:prstGeom>
          <a:noFill/>
        </p:spPr>
        <p:txBody>
          <a:bodyPr wrap="square" lIns="45720" tIns="27432" rIns="45720" bIns="27432">
            <a:spAutoFit/>
          </a:bodyPr>
          <a:lstStyle/>
          <a:p>
            <a:pPr marL="256032" indent="-219456" algn="just">
              <a:spcAft>
                <a:spcPts val="700"/>
              </a:spcAft>
              <a:buFont typeface="Arial"/>
              <a:buChar char="•"/>
            </a:pPr>
            <a:r>
              <a:rPr sz="1600" b="1" i="0" dirty="0"/>
              <a:t>Larger, diverse datasets</a:t>
            </a:r>
            <a:r>
              <a:rPr sz="1600" b="0" i="0" dirty="0"/>
              <a:t> – different writers, age groups, instruments, documents and styles</a:t>
            </a:r>
          </a:p>
          <a:p>
            <a:pPr marL="256032" indent="-219456" algn="just">
              <a:spcAft>
                <a:spcPts val="700"/>
              </a:spcAft>
              <a:buFont typeface="Arial"/>
              <a:buChar char="•"/>
            </a:pPr>
            <a:r>
              <a:rPr sz="1600" b="1" i="0" dirty="0"/>
              <a:t>Model enhancements</a:t>
            </a:r>
            <a:r>
              <a:rPr sz="1600" b="0" i="0" dirty="0"/>
              <a:t> – attention, Vision Transformers, improved structural features and fusion</a:t>
            </a:r>
          </a:p>
          <a:p>
            <a:pPr marL="256032" indent="-219456" algn="just">
              <a:spcAft>
                <a:spcPts val="700"/>
              </a:spcAft>
              <a:buFont typeface="Arial"/>
              <a:buChar char="•"/>
            </a:pPr>
            <a:r>
              <a:rPr sz="1600" b="1" i="0" dirty="0"/>
              <a:t>Word and sentence recognition</a:t>
            </a:r>
            <a:r>
              <a:rPr sz="1600" b="0" i="0" dirty="0"/>
              <a:t> – automatic segmentation, sequence modelling; CNN-LSTM, </a:t>
            </a:r>
            <a:r>
              <a:rPr sz="1600" b="0" i="0" dirty="0" err="1"/>
              <a:t>BiLSTM</a:t>
            </a:r>
            <a:r>
              <a:rPr sz="1600" b="0" i="0" dirty="0"/>
              <a:t>, Transformer OCR</a:t>
            </a:r>
          </a:p>
          <a:p>
            <a:pPr marL="256032" indent="-219456" algn="just">
              <a:spcAft>
                <a:spcPts val="700"/>
              </a:spcAft>
              <a:buFont typeface="Arial"/>
              <a:buChar char="•"/>
            </a:pPr>
            <a:r>
              <a:rPr sz="1600" b="1" i="0" dirty="0"/>
              <a:t>Better correction</a:t>
            </a:r>
            <a:r>
              <a:rPr sz="1600" b="0" i="0" dirty="0"/>
              <a:t> – larger Telugu lexicons, contextual language models</a:t>
            </a:r>
          </a:p>
          <a:p>
            <a:pPr marL="256032" indent="-219456" algn="just">
              <a:spcAft>
                <a:spcPts val="700"/>
              </a:spcAft>
              <a:buFont typeface="Arial"/>
              <a:buChar char="•"/>
            </a:pPr>
            <a:r>
              <a:rPr sz="1600" b="1" i="0" dirty="0"/>
              <a:t>Preprocessing</a:t>
            </a:r>
            <a:r>
              <a:rPr sz="1600" b="0" i="0" dirty="0"/>
              <a:t> for skewed images, uneven illumination, overlapping characters, degraded documents</a:t>
            </a:r>
          </a:p>
        </p:txBody>
      </p:sp>
      <p:sp>
        <p:nvSpPr>
          <p:cNvPr id="7" name="TextBox 6"/>
          <p:cNvSpPr txBox="1"/>
          <p:nvPr/>
        </p:nvSpPr>
        <p:spPr>
          <a:xfrm>
            <a:off x="6217920" y="1280160"/>
            <a:ext cx="5440680" cy="2876685"/>
          </a:xfrm>
          <a:prstGeom prst="rect">
            <a:avLst/>
          </a:prstGeom>
          <a:noFill/>
        </p:spPr>
        <p:txBody>
          <a:bodyPr wrap="square" lIns="45720" tIns="27432" rIns="45720" bIns="27432">
            <a:spAutoFit/>
          </a:bodyPr>
          <a:lstStyle/>
          <a:p>
            <a:pPr marL="256032" indent="-219456" algn="just">
              <a:spcAft>
                <a:spcPts val="700"/>
              </a:spcAft>
              <a:buFont typeface="Arial"/>
              <a:buChar char="•"/>
            </a:pPr>
            <a:r>
              <a:rPr sz="1600" b="1" i="0" dirty="0"/>
              <a:t>Wider documents</a:t>
            </a:r>
            <a:r>
              <a:rPr sz="1600" b="0" i="0" dirty="0"/>
              <a:t> – scanned documents, historical manuscripts, forms, page-level extraction</a:t>
            </a:r>
          </a:p>
          <a:p>
            <a:pPr marL="256032" indent="-219456" algn="just">
              <a:spcAft>
                <a:spcPts val="700"/>
              </a:spcAft>
              <a:buFont typeface="Arial"/>
              <a:buChar char="•"/>
            </a:pPr>
            <a:r>
              <a:rPr sz="1600" b="1" i="0" dirty="0"/>
              <a:t>Application</a:t>
            </a:r>
            <a:r>
              <a:rPr sz="1600" b="0" i="0" dirty="0"/>
              <a:t> – secure password hashing, authentication, prediction history, database optimization, cloud deployment</a:t>
            </a:r>
          </a:p>
          <a:p>
            <a:pPr marL="256032" indent="-219456" algn="just">
              <a:spcAft>
                <a:spcPts val="700"/>
              </a:spcAft>
              <a:buFont typeface="Arial"/>
              <a:buChar char="•"/>
            </a:pPr>
            <a:r>
              <a:rPr sz="1600" b="1" i="0" dirty="0"/>
              <a:t>Access</a:t>
            </a:r>
            <a:r>
              <a:rPr sz="1600" b="0" i="0" dirty="0"/>
              <a:t> – mobile app, camera capture, batch processing, multilingual OCR</a:t>
            </a:r>
          </a:p>
          <a:p>
            <a:pPr marL="256032" indent="-219456" algn="just">
              <a:spcAft>
                <a:spcPts val="700"/>
              </a:spcAft>
              <a:buFont typeface="Arial"/>
              <a:buChar char="•"/>
            </a:pPr>
            <a:r>
              <a:rPr sz="1600" b="1" i="0" dirty="0"/>
              <a:t>Optimization</a:t>
            </a:r>
            <a:r>
              <a:rPr sz="1600" b="0" i="0" dirty="0"/>
              <a:t> – quantization, pruning, knowledge distillation for constrained devices</a:t>
            </a:r>
          </a:p>
          <a:p>
            <a:pPr marL="256032" indent="-219456" algn="just">
              <a:spcAft>
                <a:spcPts val="700"/>
              </a:spcAft>
              <a:buFont typeface="Arial"/>
              <a:buChar char="•"/>
            </a:pPr>
            <a:r>
              <a:rPr sz="1600" b="1" i="0" dirty="0"/>
              <a:t>Validation</a:t>
            </a:r>
            <a:r>
              <a:rPr sz="1600" b="0" i="0" dirty="0"/>
              <a:t> – independent real-world data, word-level accuracy, confidence calibration, user testing</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63</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References (1/2)</a:t>
            </a:r>
          </a:p>
        </p:txBody>
      </p:sp>
      <p:sp>
        <p:nvSpPr>
          <p:cNvPr id="6" name="TextBox 5"/>
          <p:cNvSpPr txBox="1"/>
          <p:nvPr/>
        </p:nvSpPr>
        <p:spPr>
          <a:xfrm>
            <a:off x="548640" y="1280160"/>
            <a:ext cx="11091672" cy="4287328"/>
          </a:xfrm>
          <a:prstGeom prst="rect">
            <a:avLst/>
          </a:prstGeom>
          <a:noFill/>
        </p:spPr>
        <p:txBody>
          <a:bodyPr wrap="square" lIns="45720" tIns="27432" rIns="45720" bIns="27432">
            <a:spAutoFit/>
          </a:bodyPr>
          <a:lstStyle/>
          <a:p>
            <a:pPr marL="0" indent="0" algn="just">
              <a:spcAft>
                <a:spcPts val="700"/>
              </a:spcAft>
              <a:buNone/>
            </a:pPr>
            <a:r>
              <a:rPr sz="1500" b="0" i="0" dirty="0"/>
              <a:t>[1] R. Sharma and B. Kaushik, “Offline Recognition of Handwritten Indic Scripts: A State-of-the-Art Survey and Future Perspectives,” Computer Science Review, vol. 38, 2020. https://doi.org/10.1016/j.cosrev.2020.100302</a:t>
            </a:r>
          </a:p>
          <a:p>
            <a:pPr marL="0" indent="0" algn="just">
              <a:spcAft>
                <a:spcPts val="700"/>
              </a:spcAft>
              <a:buNone/>
            </a:pPr>
            <a:r>
              <a:rPr sz="1500" b="0" i="0" dirty="0"/>
              <a:t>[2] S. T. </a:t>
            </a:r>
            <a:r>
              <a:rPr sz="1500" b="0" i="0" dirty="0" err="1"/>
              <a:t>Soman</a:t>
            </a:r>
            <a:r>
              <a:rPr sz="1500" b="0" i="0" dirty="0"/>
              <a:t>, A. </a:t>
            </a:r>
            <a:r>
              <a:rPr sz="1500" b="0" i="0" dirty="0" err="1"/>
              <a:t>Nandigam</a:t>
            </a:r>
            <a:r>
              <a:rPr sz="1500" b="0" i="0" dirty="0"/>
              <a:t>, and V. S. Chakravarthy, “An Efficient </a:t>
            </a:r>
            <a:r>
              <a:rPr sz="1500" b="0" i="0" dirty="0" err="1"/>
              <a:t>Multiclassifier</a:t>
            </a:r>
            <a:r>
              <a:rPr sz="1500" b="0" i="0" dirty="0"/>
              <a:t> System Based on Convolutional Neural Network for Offline Handwritten Telugu Character Recognition,” National Conference on Communications (NCC), 2013. https://doi.org/10.1109/NCC.2013.6488008</a:t>
            </a:r>
          </a:p>
          <a:p>
            <a:pPr marL="0" indent="0" algn="just">
              <a:spcAft>
                <a:spcPts val="700"/>
              </a:spcAft>
              <a:buNone/>
            </a:pPr>
            <a:r>
              <a:rPr sz="1500" b="0" i="0" dirty="0"/>
              <a:t>[3] V. K. </a:t>
            </a:r>
            <a:r>
              <a:rPr sz="1500" b="0" i="0" dirty="0" err="1"/>
              <a:t>Sonthi</a:t>
            </a:r>
            <a:r>
              <a:rPr sz="1500" b="0" i="0" dirty="0"/>
              <a:t>, S. Nagarajan, and N. </a:t>
            </a:r>
            <a:r>
              <a:rPr sz="1500" b="0" i="0" dirty="0" err="1"/>
              <a:t>Krishnaraj</a:t>
            </a:r>
            <a:r>
              <a:rPr sz="1500" b="0" i="0" dirty="0"/>
              <a:t>, “An Intelligent Telugu Handwritten Character Recognition Using Multi-Objective Mayfly Optimization with Deep Learning-Based </a:t>
            </a:r>
            <a:r>
              <a:rPr sz="1500" b="0" i="0" dirty="0" err="1"/>
              <a:t>DenseNet</a:t>
            </a:r>
            <a:r>
              <a:rPr sz="1500" b="0" i="0" dirty="0"/>
              <a:t> Model,” ACM Transactions on Asian and Low-Resource Language Information Processing, vol. 22, no. 3, 2023. https://doi.org/10.1145/3520439</a:t>
            </a:r>
          </a:p>
          <a:p>
            <a:pPr marL="0" indent="0" algn="just">
              <a:spcAft>
                <a:spcPts val="700"/>
              </a:spcAft>
              <a:buNone/>
            </a:pPr>
            <a:r>
              <a:rPr sz="1500" b="0" i="0" dirty="0"/>
              <a:t>[4] “Handwritten Telugu Character Recognition Using Machine Learning,” International Conference on Distributed Computing and Optimization Techniques (ICDCOT), IEEE, 2024. https://doi.org/10.1109/ICDCOT61034.2024.10515646</a:t>
            </a:r>
          </a:p>
          <a:p>
            <a:pPr marL="0" indent="0" algn="just">
              <a:spcAft>
                <a:spcPts val="700"/>
              </a:spcAft>
              <a:buNone/>
            </a:pPr>
            <a:r>
              <a:rPr sz="1500" b="0" i="0" dirty="0"/>
              <a:t>[5] “Comparative Analysis of Deep Learning Models for Telugu Handwritten Text Recognition,” IEEE International Conference on Intelligent Systems, Smart and Green Technologies (ICISSGT), 2026. https://doi.org/10.1109/ICISSGT67741.2026.11483721</a:t>
            </a:r>
          </a:p>
          <a:p>
            <a:pPr marL="0" indent="0" algn="just">
              <a:spcAft>
                <a:spcPts val="700"/>
              </a:spcAft>
              <a:buNone/>
            </a:pPr>
            <a:r>
              <a:rPr sz="1500" b="0" i="0" dirty="0"/>
              <a:t>[6] M. Sandler et al., “MobileNetV2: Inverted Residuals and Linear Bottlenecks,” Proceedings of the IEEE Conference on Computer Vision and Pattern Recognition (CVPR), 2018. https://doi.org/10.1109/CVPR.2018.00474</a:t>
            </a:r>
          </a:p>
          <a:p>
            <a:pPr marL="0" indent="0" algn="just">
              <a:spcAft>
                <a:spcPts val="700"/>
              </a:spcAft>
              <a:buNone/>
            </a:pPr>
            <a:r>
              <a:rPr sz="1500" b="0" i="0" dirty="0"/>
              <a:t>[7] A. Howard et al., “Searching for MobileNetV3,” Proceedings of the IEEE/CVF International Conference on Computer Vision (ICCV), pp. 1314–1324, 2019. https://doi.org/10.1109/ICCV.2019.00140</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z="1200" dirty="0">
                <a:solidFill>
                  <a:schemeClr val="tx1">
                    <a:tint val="75000"/>
                  </a:schemeClr>
                </a:solidFill>
                <a:latin typeface="+mn-lt"/>
              </a:rPr>
              <a:t>Department of Information Technology</a:t>
            </a:r>
            <a:endParaRPr lang="en-IN" dirty="0"/>
          </a:p>
        </p:txBody>
      </p:sp>
      <p:sp>
        <p:nvSpPr>
          <p:cNvPr id="3" name="Slide Number Placeholder 2"/>
          <p:cNvSpPr>
            <a:spLocks noGrp="1"/>
          </p:cNvSpPr>
          <p:nvPr>
            <p:ph type="sldNum" sz="quarter" idx="12"/>
          </p:nvPr>
        </p:nvSpPr>
        <p:spPr/>
        <p:txBody>
          <a:bodyPr/>
          <a:lstStyle/>
          <a:p>
            <a:fld id="{4FAB208B-8553-4B8F-9A3D-7198B9689A71}" type="slidenum">
              <a:rPr lang="en-IN" smtClean="0"/>
              <a:t>64</a:t>
            </a:fld>
            <a:endParaRPr lang="en-IN"/>
          </a:p>
        </p:txBody>
      </p:sp>
      <p:pic>
        <p:nvPicPr>
          <p:cNvPr id="4" name="Picture 3" descr="image.png"/>
          <p:cNvPicPr>
            <a:picLocks noChangeAspect="1"/>
          </p:cNvPicPr>
          <p:nvPr/>
        </p:nvPicPr>
        <p:blipFill>
          <a:blip r:embed="rId3"/>
          <a:stretch>
            <a:fillRect/>
          </a:stretch>
        </p:blipFill>
        <p:spPr>
          <a:xfrm>
            <a:off x="98633" y="106630"/>
            <a:ext cx="1164437" cy="1158340"/>
          </a:xfrm>
          <a:prstGeom prst="rect">
            <a:avLst/>
          </a:prstGeom>
        </p:spPr>
      </p:pic>
      <p:sp>
        <p:nvSpPr>
          <p:cNvPr id="5" name="TextBox 4"/>
          <p:cNvSpPr txBox="1"/>
          <p:nvPr/>
        </p:nvSpPr>
        <p:spPr>
          <a:xfrm>
            <a:off x="1603169" y="296883"/>
            <a:ext cx="9985000" cy="769441"/>
          </a:xfrm>
          <a:prstGeom prst="rect">
            <a:avLst/>
          </a:prstGeom>
          <a:noFill/>
        </p:spPr>
        <p:txBody>
          <a:bodyPr wrap="square" rtlCol="0" anchor="ctr"/>
          <a:lstStyle/>
          <a:p>
            <a:pPr algn="ctr"/>
            <a:r>
              <a:rPr lang="en-IN" sz="4000" dirty="0"/>
              <a:t>References (2/2)</a:t>
            </a:r>
          </a:p>
        </p:txBody>
      </p:sp>
      <p:sp>
        <p:nvSpPr>
          <p:cNvPr id="6" name="TextBox 5"/>
          <p:cNvSpPr txBox="1"/>
          <p:nvPr/>
        </p:nvSpPr>
        <p:spPr>
          <a:xfrm>
            <a:off x="548640" y="1280160"/>
            <a:ext cx="11091672" cy="4056495"/>
          </a:xfrm>
          <a:prstGeom prst="rect">
            <a:avLst/>
          </a:prstGeom>
          <a:noFill/>
        </p:spPr>
        <p:txBody>
          <a:bodyPr wrap="square" lIns="45720" tIns="27432" rIns="45720" bIns="27432">
            <a:spAutoFit/>
          </a:bodyPr>
          <a:lstStyle/>
          <a:p>
            <a:pPr marL="0" indent="0" algn="just">
              <a:spcAft>
                <a:spcPts val="700"/>
              </a:spcAft>
              <a:buNone/>
            </a:pPr>
            <a:r>
              <a:rPr sz="1500" b="0" i="0" dirty="0"/>
              <a:t>[8] T. Y. Zhang and C. Y. Suen, “A Fast Parallel Algorithm for Thinning Digital Patterns,” Communications of the ACM, vol. 27, no. 3, pp. 236–239, 1984. https://doi.org/10.1145/357994.358023</a:t>
            </a:r>
          </a:p>
          <a:p>
            <a:pPr marL="0" indent="0" algn="just">
              <a:spcAft>
                <a:spcPts val="700"/>
              </a:spcAft>
              <a:buNone/>
            </a:pPr>
            <a:r>
              <a:rPr sz="1500" b="0" i="0" dirty="0"/>
              <a:t>[9] N. Otsu, “A Threshold Selection Method from Gray-Level Histograms,” IEEE Transactions on Systems, Man, and Cybernetics, vol. 9, no. 1, pp. 62–66, 1979. https://doi.org/10.1109/TSMC.1979.4310076</a:t>
            </a:r>
          </a:p>
          <a:p>
            <a:pPr marL="0" indent="0" algn="just">
              <a:spcAft>
                <a:spcPts val="700"/>
              </a:spcAft>
              <a:buNone/>
            </a:pPr>
            <a:r>
              <a:rPr sz="1500" b="0" i="0" dirty="0"/>
              <a:t>[10] K. </a:t>
            </a:r>
            <a:r>
              <a:rPr sz="1500" b="0" i="0" dirty="0" err="1"/>
              <a:t>Zuiderveld</a:t>
            </a:r>
            <a:r>
              <a:rPr sz="1500" b="0" i="0" dirty="0"/>
              <a:t>, “Contrast Limited Adaptive Histogram Equalization,” Graphics Gems IV, pp. 474–485, 1994. https://doi.org/10.1016/B978-0-12-336156-1.50061-6</a:t>
            </a:r>
          </a:p>
          <a:p>
            <a:pPr marL="0" indent="0" algn="just">
              <a:spcAft>
                <a:spcPts val="700"/>
              </a:spcAft>
              <a:buNone/>
            </a:pPr>
            <a:r>
              <a:rPr sz="1500" b="0" i="0" dirty="0"/>
              <a:t>[11] J. Arevalo, T. Solorio, M. Montes-y-Gómez, and F. A. González, “Gated Multimodal Units for Information Fusion,” International Conference on Learning Representations (ICLR), 2017. https://arxiv.org/abs/1702.01992</a:t>
            </a:r>
          </a:p>
          <a:p>
            <a:pPr marL="0" indent="0" algn="just">
              <a:spcAft>
                <a:spcPts val="700"/>
              </a:spcAft>
              <a:buNone/>
            </a:pPr>
            <a:r>
              <a:rPr sz="1500" b="0" i="0" dirty="0"/>
              <a:t>[12] S. M. Ahmed and A. Wahid, “Handwritten OCR for Indic Scripts: A Comprehensive Overview of Machine Learning and Deep Learning Techniques,” International Journal on Recent and Innovation Trends in Computing and Communication, vol. 11, no. 9, pp. 2245–2258, 2023. https://doi.org/10.17762/ijritcc.v11i9.9230</a:t>
            </a:r>
          </a:p>
          <a:p>
            <a:pPr marL="0" indent="0" algn="just">
              <a:spcAft>
                <a:spcPts val="700"/>
              </a:spcAft>
              <a:buNone/>
            </a:pPr>
            <a:r>
              <a:rPr sz="1500" b="0" i="0" dirty="0"/>
              <a:t>[13] “A Study on Handwritten Text Recognition and Post-OCR Error Correction Techniques,” 9th International Conference on Trends in Electronics and Informatics (ICOEI), IEEE, 2026. https://doi.org/10.1109/ICOEI68323.2026.11541382</a:t>
            </a:r>
          </a:p>
          <a:p>
            <a:pPr marL="0" indent="0" algn="just">
              <a:spcAft>
                <a:spcPts val="700"/>
              </a:spcAft>
              <a:buNone/>
            </a:pPr>
            <a:r>
              <a:rPr sz="1500" b="0" i="0" dirty="0"/>
              <a:t>[14] X. Xiao, L. </a:t>
            </a:r>
            <a:r>
              <a:rPr sz="1500" b="0" i="0" dirty="0" err="1"/>
              <a:t>Jin</a:t>
            </a:r>
            <a:r>
              <a:rPr sz="1500" b="0" i="0" dirty="0"/>
              <a:t>, Y. Yang, W. Yang, J. Sun, and T. Chang, “Building Fast and Compact Convolutional Neural Networks for Offline Handwritten Chinese Character Recognition,” 2017. https://arxiv.org/abs/1702.07975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33947</Words>
  <Application>Microsoft Office PowerPoint</Application>
  <PresentationFormat>Widescreen</PresentationFormat>
  <Paragraphs>1524</Paragraphs>
  <Slides>64</Slides>
  <Notes>62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64</vt:i4>
      </vt:variant>
    </vt:vector>
  </HeadingPairs>
  <TitlesOfParts>
    <vt:vector size="69" baseType="lpstr">
      <vt:lpstr>Arial</vt:lpstr>
      <vt:lpstr>Calibri</vt:lpstr>
      <vt:lpstr>Calibri Light</vt:lpstr>
      <vt:lpstr>Cambria</vt:lpstr>
      <vt:lpstr>Office Theme</vt:lpstr>
      <vt:lpstr>Project Title: Enhanced Lightweight Telugu Handwritten OCR Using MobileNetV3 with Improved Image Processing and Context Aware Post Processing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c:title>
  <dc:creator>admin</dc:creator>
  <cp:lastModifiedBy>Balaji Raju B.</cp:lastModifiedBy>
  <cp:revision>13</cp:revision>
  <dcterms:created xsi:type="dcterms:W3CDTF">2026-09-16T06:15:38Z</dcterms:created>
  <dcterms:modified xsi:type="dcterms:W3CDTF">2026-10-21T09:54:50Z</dcterms:modified>
</cp:coreProperties>
</file>